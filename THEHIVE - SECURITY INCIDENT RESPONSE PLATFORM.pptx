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8.png" ContentType="image/png"/>
  <Override PartName="/ppt/media/image9.png" ContentType="image/png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comments/comment4.xml" ContentType="application/vnd.openxmlformats-officedocument.presentationml.comments+xml"/>
  <Override PartName="/ppt/commentAuthors.xml" ContentType="application/vnd.openxmlformats-officedocument.presentationml.commentAuthor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0080625" cy="7559675"/>
  <p:notesSz cx="7559675" cy="10691812"/>
</p:presentation>
</file>

<file path=ppt/commentAuthors.xml><?xml version="1.0" encoding="utf-8"?>
<p:cmAuthorLst xmlns:p="http://schemas.openxmlformats.org/presentationml/2006/main">
  <p:cmAuthor id="0" name="" initials="" lastIdx="1" clrIdx="0"/>
</p:cmAuthorLst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commentAuthors" Target="commentAuthors.xml"/>
</Relationships>
</file>

<file path=ppt/comments/comment4.xml><?xml version="1.0" encoding="utf-8"?>
<p:cmLst xmlns:p="http://schemas.openxmlformats.org/presentationml/2006/main">
  <p:cm authorId="0" dt="2022-07-29T08:57:14.000000000" idx="1">
    <p:pos x="0" y="0"/>
    <p:text>https://blog.thehive-project.org/2020/02/05/under-the-mighty-hood-of-thehive-4/</p:text>
  </p:cm>
</p:cmLst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2000" cy="5850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3571560" y="176868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6639120" y="176868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504000" y="405864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body"/>
          </p:nvPr>
        </p:nvSpPr>
        <p:spPr>
          <a:xfrm>
            <a:off x="3571560" y="405864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body"/>
          </p:nvPr>
        </p:nvSpPr>
        <p:spPr>
          <a:xfrm>
            <a:off x="6639120" y="405864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subTitle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2000" cy="5850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body"/>
          </p:nvPr>
        </p:nvSpPr>
        <p:spPr>
          <a:xfrm>
            <a:off x="3571560" y="176868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 type="body"/>
          </p:nvPr>
        </p:nvSpPr>
        <p:spPr>
          <a:xfrm>
            <a:off x="6639120" y="176868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 type="body"/>
          </p:nvPr>
        </p:nvSpPr>
        <p:spPr>
          <a:xfrm>
            <a:off x="504000" y="405864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9" name="PlaceHolder 6"/>
          <p:cNvSpPr>
            <a:spLocks noGrp="1"/>
          </p:cNvSpPr>
          <p:nvPr>
            <p:ph type="body"/>
          </p:nvPr>
        </p:nvSpPr>
        <p:spPr>
          <a:xfrm>
            <a:off x="3571560" y="405864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0" name="PlaceHolder 7"/>
          <p:cNvSpPr>
            <a:spLocks noGrp="1"/>
          </p:cNvSpPr>
          <p:nvPr>
            <p:ph type="body"/>
          </p:nvPr>
        </p:nvSpPr>
        <p:spPr>
          <a:xfrm>
            <a:off x="6639120" y="4058640"/>
            <a:ext cx="292104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CustomShape 1"/>
          <p:cNvSpPr/>
          <p:nvPr/>
        </p:nvSpPr>
        <p:spPr>
          <a:xfrm>
            <a:off x="0" y="3150000"/>
            <a:ext cx="9719280" cy="12592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2"/>
          <p:cNvSpPr>
            <a:spLocks noGrp="1"/>
          </p:cNvSpPr>
          <p:nvPr>
            <p:ph type="title"/>
          </p:nvPr>
        </p:nvSpPr>
        <p:spPr>
          <a:xfrm>
            <a:off x="360000" y="360000"/>
            <a:ext cx="9359280" cy="899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360000" y="1980000"/>
            <a:ext cx="9179280" cy="4679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Click to edit the outline text format</a:t>
            </a:r>
            <a:endParaRPr b="0" lang="en-US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Second Outline Level</a:t>
            </a:r>
            <a:endParaRPr b="0" lang="en-US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Third Outline Level</a:t>
            </a:r>
            <a:endParaRPr b="0" lang="en-US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Fourth Outline Level</a:t>
            </a:r>
            <a:endParaRPr b="0" lang="en-US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Fifth Outline Level</a:t>
            </a:r>
            <a:endParaRPr b="0" lang="en-US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Sixth Outline Level</a:t>
            </a:r>
            <a:endParaRPr b="0" lang="en-US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Seventh Outline Level</a:t>
            </a:r>
            <a:endParaRPr b="0" lang="en-US" sz="18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CustomShape 1"/>
          <p:cNvSpPr/>
          <p:nvPr/>
        </p:nvSpPr>
        <p:spPr>
          <a:xfrm>
            <a:off x="0" y="180000"/>
            <a:ext cx="9719280" cy="125928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0" name="CustomShape 2"/>
          <p:cNvSpPr/>
          <p:nvPr/>
        </p:nvSpPr>
        <p:spPr>
          <a:xfrm>
            <a:off x="7560000" y="6840000"/>
            <a:ext cx="2519280" cy="53928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" name="CustomShape 3"/>
          <p:cNvSpPr/>
          <p:nvPr/>
        </p:nvSpPr>
        <p:spPr>
          <a:xfrm>
            <a:off x="900000" y="6840000"/>
            <a:ext cx="6479280" cy="53928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" name="CustomShape 4"/>
          <p:cNvSpPr/>
          <p:nvPr/>
        </p:nvSpPr>
        <p:spPr>
          <a:xfrm>
            <a:off x="180000" y="6840000"/>
            <a:ext cx="539280" cy="53928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" name="PlaceHolder 5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<Relationship Id="rId3" Type="http://schemas.openxmlformats.org/officeDocument/2006/relationships/comments" Target="../comments/commen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CustomShape 1"/>
          <p:cNvSpPr/>
          <p:nvPr/>
        </p:nvSpPr>
        <p:spPr>
          <a:xfrm>
            <a:off x="360000" y="3330000"/>
            <a:ext cx="9359280" cy="899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Noto Sans Black"/>
                <a:ea typeface="DejaVu Sans"/>
              </a:rPr>
              <a:t>THEHIVE - SECURITY INCIDENT RESPONSE PLATFORM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82" name="" descr=""/>
          <p:cNvPicPr/>
          <p:nvPr/>
        </p:nvPicPr>
        <p:blipFill>
          <a:blip r:embed="rId1"/>
          <a:stretch/>
        </p:blipFill>
        <p:spPr>
          <a:xfrm>
            <a:off x="3108960" y="4951440"/>
            <a:ext cx="4370760" cy="14486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CustomShape 1"/>
          <p:cNvSpPr/>
          <p:nvPr/>
        </p:nvSpPr>
        <p:spPr>
          <a:xfrm>
            <a:off x="360000" y="360000"/>
            <a:ext cx="9359280" cy="899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Noto Sans Black"/>
                <a:ea typeface="DejaVu Sans"/>
              </a:rPr>
              <a:t>Vấn đề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84" name="CustomShape 2"/>
          <p:cNvSpPr/>
          <p:nvPr/>
        </p:nvSpPr>
        <p:spPr>
          <a:xfrm>
            <a:off x="548640" y="1812240"/>
            <a:ext cx="9179280" cy="4679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>
              <a:lnSpc>
                <a:spcPct val="100000"/>
              </a:lnSpc>
              <a:spcAft>
                <a:spcPts val="1142"/>
              </a:spcAft>
            </a:pPr>
            <a:r>
              <a:rPr b="1" lang="en-US" sz="2600" spc="-1" strike="noStrike">
                <a:solidFill>
                  <a:srgbClr val="1c1c1c"/>
                </a:solidFill>
                <a:latin typeface="Noto Sans SemiBold"/>
                <a:ea typeface="DejaVu Sans"/>
              </a:rPr>
              <a:t>- Quản lí sự cố :</a:t>
            </a:r>
            <a:endParaRPr b="0" lang="en-US" sz="2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42"/>
              </a:spcAft>
            </a:pPr>
            <a:r>
              <a:rPr b="1" lang="en-US" sz="2600" spc="-1" strike="noStrike">
                <a:solidFill>
                  <a:srgbClr val="1c1c1c"/>
                </a:solidFill>
                <a:latin typeface="Noto Sans SemiBold"/>
                <a:ea typeface="DejaVu Sans"/>
              </a:rPr>
              <a:t>	</a:t>
            </a:r>
            <a:r>
              <a:rPr b="1" lang="en-US" sz="2600" spc="-1" strike="noStrike">
                <a:solidFill>
                  <a:srgbClr val="1c1c1c"/>
                </a:solidFill>
                <a:latin typeface="Noto Sans SemiBold"/>
                <a:ea typeface="DejaVu Sans"/>
              </a:rPr>
              <a:t>+ Phân loại và lập các case incident cụ thể.</a:t>
            </a:r>
            <a:endParaRPr b="0" lang="en-US" sz="2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42"/>
              </a:spcAft>
            </a:pPr>
            <a:r>
              <a:rPr b="1" lang="en-US" sz="2600" spc="-1" strike="noStrike">
                <a:solidFill>
                  <a:srgbClr val="1c1c1c"/>
                </a:solidFill>
                <a:latin typeface="Noto Sans SemiBold"/>
                <a:ea typeface="DejaVu Sans"/>
              </a:rPr>
              <a:t>    </a:t>
            </a:r>
            <a:r>
              <a:rPr b="1" lang="en-US" sz="2600" spc="-1" strike="noStrike">
                <a:solidFill>
                  <a:srgbClr val="1c1c1c"/>
                </a:solidFill>
                <a:latin typeface="Noto Sans SemiBold"/>
                <a:ea typeface="DejaVu Sans"/>
              </a:rPr>
              <a:t>+ Phân chia công việc ,chỉ định nhân viên cụ thể để xử lí sự cố . </a:t>
            </a:r>
            <a:endParaRPr b="0" lang="en-US" sz="2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42"/>
              </a:spcAft>
            </a:pPr>
            <a:r>
              <a:rPr b="1" lang="en-US" sz="2600" spc="-1" strike="noStrike">
                <a:solidFill>
                  <a:srgbClr val="1c1c1c"/>
                </a:solidFill>
                <a:latin typeface="Noto Sans SemiBold"/>
                <a:ea typeface="DejaVu Sans"/>
              </a:rPr>
              <a:t>    </a:t>
            </a:r>
            <a:r>
              <a:rPr b="1" lang="en-US" sz="2600" spc="-1" strike="noStrike">
                <a:solidFill>
                  <a:srgbClr val="1c1c1c"/>
                </a:solidFill>
                <a:latin typeface="Noto Sans SemiBold"/>
                <a:ea typeface="DejaVu Sans"/>
              </a:rPr>
              <a:t>+ Giám sát sự cố , thông báo cập nhật quá trình xử lí sự cố.</a:t>
            </a:r>
            <a:endParaRPr b="0" lang="en-US" sz="2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42"/>
              </a:spcAft>
            </a:pPr>
            <a:r>
              <a:rPr b="1" lang="en-US" sz="2600" spc="-1" strike="noStrike">
                <a:solidFill>
                  <a:srgbClr val="1c1c1c"/>
                </a:solidFill>
                <a:latin typeface="Noto Sans SemiBold"/>
                <a:ea typeface="DejaVu Sans"/>
              </a:rPr>
              <a:t>    </a:t>
            </a:r>
            <a:r>
              <a:rPr b="1" lang="en-US" sz="2600" spc="-1" strike="noStrike">
                <a:solidFill>
                  <a:srgbClr val="1c1c1c"/>
                </a:solidFill>
                <a:latin typeface="Noto Sans SemiBold"/>
                <a:ea typeface="DejaVu Sans"/>
              </a:rPr>
              <a:t>+ Tổng hợp số liệu cụ thể, biểu đồ thống kê.</a:t>
            </a:r>
            <a:endParaRPr b="0" lang="en-US" sz="2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42"/>
              </a:spcAft>
            </a:pPr>
            <a:r>
              <a:rPr b="1" lang="en-US" sz="2600" spc="-1" strike="noStrike">
                <a:solidFill>
                  <a:srgbClr val="1c1c1c"/>
                </a:solidFill>
                <a:latin typeface="Noto Sans SemiBold"/>
                <a:ea typeface="DejaVu Sans"/>
              </a:rPr>
              <a:t>    </a:t>
            </a:r>
            <a:r>
              <a:rPr b="1" lang="en-US" sz="2600" spc="-1" strike="noStrike">
                <a:solidFill>
                  <a:srgbClr val="1c1c1c"/>
                </a:solidFill>
                <a:latin typeface="Noto Sans SemiBold"/>
                <a:ea typeface="DejaVu Sans"/>
              </a:rPr>
              <a:t>+ Lưu bằng chứng để chứng minh giải quyết sự cố theo quy trình , quy định.</a:t>
            </a:r>
            <a:endParaRPr b="0" lang="en-US" sz="2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CustomShape 1"/>
          <p:cNvSpPr/>
          <p:nvPr/>
        </p:nvSpPr>
        <p:spPr>
          <a:xfrm>
            <a:off x="360000" y="360000"/>
            <a:ext cx="9359280" cy="899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Noto Sans Black"/>
                <a:ea typeface="DejaVu Sans"/>
              </a:rPr>
              <a:t>THEHIVE - SECURITY INCIDENT RESPONSE PLATFORM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86" name="CustomShape 2"/>
          <p:cNvSpPr/>
          <p:nvPr/>
        </p:nvSpPr>
        <p:spPr>
          <a:xfrm>
            <a:off x="548640" y="1812240"/>
            <a:ext cx="9179280" cy="4679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>
              <a:lnSpc>
                <a:spcPct val="100000"/>
              </a:lnSpc>
              <a:spcAft>
                <a:spcPts val="1142"/>
              </a:spcAft>
            </a:pPr>
            <a:r>
              <a:rPr b="1" lang="en-US" sz="2600" spc="-1" strike="noStrike">
                <a:solidFill>
                  <a:srgbClr val="1c1c1c"/>
                </a:solidFill>
                <a:latin typeface="Noto Sans SemiBold"/>
                <a:ea typeface="DejaVu Sans"/>
              </a:rPr>
              <a:t>- A scalable, open source and free Security Incident Response Platform, tightly integrated with MISP (Malware Information Sharing Platform)</a:t>
            </a:r>
            <a:endParaRPr b="0" lang="en-US" sz="2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42"/>
              </a:spcAft>
            </a:pPr>
            <a:r>
              <a:rPr b="1" lang="en-US" sz="2600" spc="-1" strike="noStrike">
                <a:solidFill>
                  <a:srgbClr val="1c1c1c"/>
                </a:solidFill>
                <a:latin typeface="Noto Sans SemiBold"/>
                <a:ea typeface="DejaVu Sans"/>
              </a:rPr>
              <a:t> </a:t>
            </a:r>
            <a:endParaRPr b="0" lang="en-US" sz="2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42"/>
              </a:spcAft>
            </a:pPr>
            <a:r>
              <a:rPr b="1" lang="en-US" sz="2600" spc="-1" strike="noStrike">
                <a:solidFill>
                  <a:srgbClr val="1c1c1c"/>
                </a:solidFill>
                <a:latin typeface="Noto Sans SemiBold"/>
                <a:ea typeface="DejaVu Sans"/>
              </a:rPr>
              <a:t>-  As a Ticket system, Designed to make life easier for SOCs, CSIRTs, CERTs and any information security practitioner dealing with security incidents that need to be investigated and acted upon swiftly. </a:t>
            </a:r>
            <a:endParaRPr b="0" lang="en-US" sz="2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CustomShape 1"/>
          <p:cNvSpPr/>
          <p:nvPr/>
        </p:nvSpPr>
        <p:spPr>
          <a:xfrm>
            <a:off x="360000" y="360000"/>
            <a:ext cx="9359280" cy="899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Noto Sans Black"/>
                <a:ea typeface="DejaVu Sans"/>
              </a:rPr>
              <a:t>THEHIVE - ARCHITECTURE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88" name="CustomShape 2"/>
          <p:cNvSpPr/>
          <p:nvPr/>
        </p:nvSpPr>
        <p:spPr>
          <a:xfrm>
            <a:off x="548640" y="1812240"/>
            <a:ext cx="9179280" cy="4679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89" name="" descr=""/>
          <p:cNvPicPr/>
          <p:nvPr/>
        </p:nvPicPr>
        <p:blipFill>
          <a:blip r:embed="rId1"/>
          <a:stretch/>
        </p:blipFill>
        <p:spPr>
          <a:xfrm>
            <a:off x="671040" y="1737360"/>
            <a:ext cx="8381520" cy="49845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CustomShape 1"/>
          <p:cNvSpPr/>
          <p:nvPr/>
        </p:nvSpPr>
        <p:spPr>
          <a:xfrm>
            <a:off x="360000" y="360000"/>
            <a:ext cx="9359280" cy="899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Noto Sans Black"/>
                <a:ea typeface="DejaVu Sans"/>
              </a:rPr>
              <a:t>THEHIVE - Features 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91" name="CustomShape 2"/>
          <p:cNvSpPr/>
          <p:nvPr/>
        </p:nvSpPr>
        <p:spPr>
          <a:xfrm>
            <a:off x="360000" y="1980000"/>
            <a:ext cx="9179280" cy="4679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>
              <a:lnSpc>
                <a:spcPct val="100000"/>
              </a:lnSpc>
              <a:spcAft>
                <a:spcPts val="1142"/>
              </a:spcAft>
            </a:pPr>
            <a:r>
              <a:rPr b="1" lang="en-US" sz="2600" spc="-1" strike="noStrike">
                <a:solidFill>
                  <a:srgbClr val="1c1c1c"/>
                </a:solidFill>
                <a:latin typeface="Noto Sans SemiBold"/>
                <a:ea typeface="DejaVu Sans"/>
              </a:rPr>
              <a:t>- Advanced User &amp; Environments management</a:t>
            </a:r>
            <a:endParaRPr b="0" lang="en-US" sz="2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42"/>
              </a:spcAft>
            </a:pPr>
            <a:r>
              <a:rPr b="1" lang="en-US" sz="2600" spc="-1" strike="noStrike">
                <a:solidFill>
                  <a:srgbClr val="1c1c1c"/>
                </a:solidFill>
                <a:latin typeface="Noto Sans SemiBold"/>
                <a:ea typeface="DejaVu Sans"/>
              </a:rPr>
              <a:t>- Alert &amp; Case management</a:t>
            </a:r>
            <a:endParaRPr b="0" lang="en-US" sz="2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42"/>
              </a:spcAft>
            </a:pPr>
            <a:r>
              <a:rPr b="1" lang="en-US" sz="2600" spc="-1" strike="noStrike">
                <a:solidFill>
                  <a:srgbClr val="1c1c1c"/>
                </a:solidFill>
                <a:latin typeface="Noto Sans SemiBold"/>
                <a:ea typeface="DejaVu Sans"/>
              </a:rPr>
              <a:t>- Notifications Framework</a:t>
            </a:r>
            <a:endParaRPr b="0" lang="en-US" sz="2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42"/>
              </a:spcAft>
            </a:pPr>
            <a:r>
              <a:rPr b="1" lang="en-US" sz="2600" spc="-1" strike="noStrike">
                <a:solidFill>
                  <a:srgbClr val="1c1c1c"/>
                </a:solidFill>
                <a:latin typeface="Noto Sans SemiBold"/>
                <a:ea typeface="DejaVu Sans"/>
              </a:rPr>
              <a:t>- Metrics and dashboards</a:t>
            </a:r>
            <a:endParaRPr b="0" lang="en-US" sz="2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42"/>
              </a:spcAft>
            </a:pPr>
            <a:r>
              <a:rPr b="1" lang="en-US" sz="2600" spc="-1" strike="noStrike">
                <a:solidFill>
                  <a:srgbClr val="1c1c1c"/>
                </a:solidFill>
                <a:latin typeface="Noto Sans SemiBold"/>
                <a:ea typeface="DejaVu Sans"/>
              </a:rPr>
              <a:t>- Comprehensive APIs</a:t>
            </a:r>
            <a:endParaRPr b="0" lang="en-US" sz="2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42"/>
              </a:spcAft>
            </a:pPr>
            <a:r>
              <a:rPr b="1" lang="en-US" sz="2600" spc="-1" strike="noStrike">
                <a:solidFill>
                  <a:srgbClr val="1c1c1c"/>
                </a:solidFill>
                <a:latin typeface="Noto Sans SemiBold"/>
                <a:ea typeface="DejaVu Sans"/>
              </a:rPr>
              <a:t>- Analyzer &amp; MISP Integration </a:t>
            </a:r>
            <a:endParaRPr b="0" lang="en-US" sz="2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42"/>
              </a:spcAft>
            </a:pPr>
            <a:r>
              <a:rPr b="1" lang="en-US" sz="2600" spc="-1" strike="noStrike">
                <a:solidFill>
                  <a:srgbClr val="1c1c1c"/>
                </a:solidFill>
                <a:latin typeface="Noto Sans SemiBold"/>
                <a:ea typeface="DejaVu Sans"/>
              </a:rPr>
              <a:t>- MITRE ATT&amp;CK Integration </a:t>
            </a:r>
            <a:endParaRPr b="0" lang="en-US" sz="2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42"/>
              </a:spcAft>
            </a:pPr>
            <a:r>
              <a:rPr b="1" lang="en-US" sz="2600" spc="-1" strike="noStrike">
                <a:solidFill>
                  <a:srgbClr val="1c1c1c"/>
                </a:solidFill>
                <a:latin typeface="Noto Sans SemiBold"/>
                <a:ea typeface="DejaVu Sans"/>
              </a:rPr>
              <a:t> </a:t>
            </a:r>
            <a:endParaRPr b="0" lang="en-US" sz="2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42"/>
              </a:spcAft>
            </a:pPr>
            <a:r>
              <a:rPr b="1" lang="en-US" sz="2600" spc="-1" strike="noStrike">
                <a:solidFill>
                  <a:srgbClr val="1c1c1c"/>
                </a:solidFill>
                <a:latin typeface="Noto Sans SemiBold"/>
                <a:ea typeface="DejaVu Sans"/>
              </a:rPr>
              <a:t> </a:t>
            </a:r>
            <a:endParaRPr b="0" lang="en-US" sz="2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CustomShape 1"/>
          <p:cNvSpPr/>
          <p:nvPr/>
        </p:nvSpPr>
        <p:spPr>
          <a:xfrm>
            <a:off x="360000" y="360000"/>
            <a:ext cx="9359280" cy="899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Noto Sans Black"/>
                <a:ea typeface="DejaVu Sans"/>
              </a:rPr>
              <a:t>THEHIVE - Features </a:t>
            </a:r>
            <a:endParaRPr b="0" lang="en-US" sz="2400" spc="-1" strike="noStrike">
              <a:latin typeface="Arial"/>
            </a:endParaRPr>
          </a:p>
        </p:txBody>
      </p:sp>
      <p:graphicFrame>
        <p:nvGraphicFramePr>
          <p:cNvPr id="93" name="Table 2"/>
          <p:cNvGraphicFramePr/>
          <p:nvPr/>
        </p:nvGraphicFramePr>
        <p:xfrm>
          <a:off x="274320" y="1463040"/>
          <a:ext cx="9234720" cy="5303160"/>
        </p:xfrm>
        <a:graphic>
          <a:graphicData uri="http://schemas.openxmlformats.org/drawingml/2006/table">
            <a:tbl>
              <a:tblPr/>
              <a:tblGrid>
                <a:gridCol w="6570720"/>
                <a:gridCol w="1363320"/>
                <a:gridCol w="1301040"/>
              </a:tblGrid>
              <a:tr h="47952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latin typeface="Noto Sans Regular"/>
                        </a:rPr>
                        <a:t>Features</a:t>
                      </a:r>
                      <a:endParaRPr b="0" lang="en-US" sz="2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latin typeface="Arial"/>
                        </a:rPr>
                        <a:t>V4 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latin typeface="Arial"/>
                        </a:rPr>
                        <a:t>v5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</a:tr>
              <a:tr h="598320">
                <a:tc>
                  <a:txBody>
                    <a:bodyPr lIns="90000" rIns="90000">
                      <a:noAutofit/>
                    </a:bodyPr>
                    <a:p>
                      <a:pPr marL="216000" indent="-21528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1800" spc="-1" strike="noStrike">
                          <a:solidFill>
                            <a:srgbClr val="1c1c1c"/>
                          </a:solidFill>
                          <a:latin typeface="Noto Sans SemiBold"/>
                        </a:rPr>
                        <a:t>Advanced User &amp; Environments management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latin typeface="Arial"/>
                        </a:rPr>
                        <a:t>Unlimited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latin typeface="Arial"/>
                        </a:rPr>
                        <a:t>Litmited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59832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latin typeface="Arial"/>
                        </a:rPr>
                        <a:t>   </a:t>
                      </a:r>
                      <a:r>
                        <a:rPr b="0" lang="en-US" sz="1800" spc="-1" strike="noStrike">
                          <a:latin typeface="Arial"/>
                        </a:rPr>
                        <a:t>Alert &amp; Case management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latin typeface="Noto Sans Regular"/>
                        </a:rPr>
                        <a:t>Unlimited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latin typeface="Noto Sans Regular"/>
                        </a:rPr>
                        <a:t>Litmited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598320">
                <a:tc>
                  <a:txBody>
                    <a:bodyPr lIns="90000" rIns="90000">
                      <a:noAutofit/>
                    </a:bodyPr>
                    <a:p>
                      <a:pPr marL="216000" indent="-21528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1800" spc="-1" strike="noStrike">
                          <a:latin typeface="Noto Sans Regular"/>
                        </a:rPr>
                        <a:t>Notifications Framework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latin typeface="Arial"/>
                        </a:rPr>
                        <a:t>NO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latin typeface="Arial"/>
                        </a:rPr>
                        <a:t>YES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660960">
                <a:tc>
                  <a:txBody>
                    <a:bodyPr lIns="90000" rIns="90000">
                      <a:noAutofit/>
                    </a:bodyPr>
                    <a:p>
                      <a:pPr marL="216000" indent="-21528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1800" spc="-1" strike="noStrike">
                          <a:latin typeface="Noto Sans Regular"/>
                        </a:rPr>
                        <a:t>Metrics and dashboards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latin typeface="Noto Sans Regular"/>
                        </a:rPr>
                        <a:t>YES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latin typeface="Noto Sans Regular"/>
                        </a:rPr>
                        <a:t>YES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622440">
                <a:tc>
                  <a:txBody>
                    <a:bodyPr lIns="90000" rIns="90000">
                      <a:noAutofit/>
                    </a:bodyPr>
                    <a:p>
                      <a:pPr marL="216000" indent="-21528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1800" spc="-1" strike="noStrike">
                          <a:latin typeface="Noto Sans Regular"/>
                        </a:rPr>
                        <a:t>Comprehensive APIs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latin typeface="Noto Sans Regular"/>
                        </a:rPr>
                        <a:t>APIv4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latin typeface="Arial"/>
                        </a:rPr>
                        <a:t>APIv5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598320">
                <a:tc>
                  <a:txBody>
                    <a:bodyPr lIns="90000" rIns="90000">
                      <a:noAutofit/>
                    </a:bodyPr>
                    <a:p>
                      <a:pPr marL="216000" indent="-21528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1800" spc="-1" strike="noStrike">
                          <a:latin typeface="Noto Sans Regular"/>
                        </a:rPr>
                        <a:t>Analyzer &amp; MISP Integration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latin typeface="Arial"/>
                        </a:rPr>
                        <a:t>YES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latin typeface="Noto Sans Regular"/>
                        </a:rPr>
                        <a:t>YES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604440">
                <a:tc>
                  <a:txBody>
                    <a:bodyPr lIns="90000" rIns="90000">
                      <a:noAutofit/>
                    </a:bodyPr>
                    <a:p>
                      <a:pPr marL="216000" indent="-21528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1800" spc="-1" strike="noStrike">
                          <a:latin typeface="Noto Sans Regular"/>
                        </a:rPr>
                        <a:t>MITRE ATT&amp;CK Integration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latin typeface="Noto Sans Regular"/>
                        </a:rPr>
                        <a:t>YES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latin typeface="Noto Sans Regular"/>
                        </a:rPr>
                        <a:t>YES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60516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latin typeface="Noto Sans Regular"/>
                        </a:rPr>
                        <a:t>COST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Free OS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r>
                        <a:rPr b="0" lang="en-US" sz="1800" spc="-1" strike="noStrike">
                          <a:latin typeface="Arial"/>
                        </a:rPr>
                        <a:t>+17k$/year 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CustomShape 1"/>
          <p:cNvSpPr/>
          <p:nvPr/>
        </p:nvSpPr>
        <p:spPr>
          <a:xfrm>
            <a:off x="360000" y="360000"/>
            <a:ext cx="9359280" cy="899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Noto Sans Black"/>
                <a:ea typeface="DejaVu Sans"/>
              </a:rPr>
              <a:t>THEHIVE - Features 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95" name="CustomShape 2"/>
          <p:cNvSpPr/>
          <p:nvPr/>
        </p:nvSpPr>
        <p:spPr>
          <a:xfrm>
            <a:off x="329760" y="1554480"/>
            <a:ext cx="9179280" cy="4679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>
              <a:lnSpc>
                <a:spcPct val="100000"/>
              </a:lnSpc>
              <a:spcAft>
                <a:spcPts val="1142"/>
              </a:spcAft>
            </a:pPr>
            <a:r>
              <a:rPr b="1" lang="en-US" sz="2600" spc="-1" strike="noStrike">
                <a:solidFill>
                  <a:srgbClr val="1c1c1c"/>
                </a:solidFill>
                <a:latin typeface="Noto Sans SemiBold"/>
                <a:ea typeface="DejaVu Sans"/>
              </a:rPr>
              <a:t>Advanced User &amp; Environments management </a:t>
            </a:r>
            <a:endParaRPr b="0" lang="en-US" sz="2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42"/>
              </a:spcAft>
            </a:pPr>
            <a:r>
              <a:rPr b="1" lang="en-US" sz="2600" spc="-1" strike="noStrike">
                <a:solidFill>
                  <a:srgbClr val="1c1c1c"/>
                </a:solidFill>
                <a:latin typeface="Noto Sans SemiBold"/>
                <a:ea typeface="DejaVu Sans"/>
              </a:rPr>
              <a:t> </a:t>
            </a:r>
            <a:endParaRPr b="0" lang="en-US" sz="2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42"/>
              </a:spcAft>
            </a:pPr>
            <a:r>
              <a:rPr b="1" lang="en-US" sz="2600" spc="-1" strike="noStrike">
                <a:solidFill>
                  <a:srgbClr val="1c1c1c"/>
                </a:solidFill>
                <a:latin typeface="Noto Sans SemiBold"/>
                <a:ea typeface="DejaVu Sans"/>
              </a:rPr>
              <a:t> </a:t>
            </a:r>
            <a:endParaRPr b="0" lang="en-US" sz="2600" spc="-1" strike="noStrike">
              <a:latin typeface="Arial"/>
            </a:endParaRPr>
          </a:p>
        </p:txBody>
      </p:sp>
      <p:pic>
        <p:nvPicPr>
          <p:cNvPr id="96" name="" descr=""/>
          <p:cNvPicPr/>
          <p:nvPr/>
        </p:nvPicPr>
        <p:blipFill>
          <a:blip r:embed="rId1"/>
          <a:stretch/>
        </p:blipFill>
        <p:spPr>
          <a:xfrm>
            <a:off x="640080" y="2194560"/>
            <a:ext cx="8786880" cy="38397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CustomShape 1"/>
          <p:cNvSpPr/>
          <p:nvPr/>
        </p:nvSpPr>
        <p:spPr>
          <a:xfrm>
            <a:off x="360000" y="360000"/>
            <a:ext cx="9359280" cy="899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Noto Sans Black"/>
                <a:ea typeface="DejaVu Sans"/>
              </a:rPr>
              <a:t>THEHIVE - Features 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98" name="CustomShape 2"/>
          <p:cNvSpPr/>
          <p:nvPr/>
        </p:nvSpPr>
        <p:spPr>
          <a:xfrm>
            <a:off x="329760" y="1537920"/>
            <a:ext cx="9179280" cy="4679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>
              <a:lnSpc>
                <a:spcPct val="100000"/>
              </a:lnSpc>
              <a:spcAft>
                <a:spcPts val="1142"/>
              </a:spcAft>
            </a:pPr>
            <a:r>
              <a:rPr b="1" lang="en-US" sz="2600" spc="-1" strike="noStrike">
                <a:solidFill>
                  <a:srgbClr val="1c1c1c"/>
                </a:solidFill>
                <a:latin typeface="Noto Sans SemiBold"/>
                <a:ea typeface="DejaVu Sans"/>
              </a:rPr>
              <a:t>Alert &amp; Case management</a:t>
            </a:r>
            <a:endParaRPr b="0" lang="en-US" sz="2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42"/>
              </a:spcAft>
            </a:pPr>
            <a:r>
              <a:rPr b="1" lang="en-US" sz="2600" spc="-1" strike="noStrike">
                <a:solidFill>
                  <a:srgbClr val="1c1c1c"/>
                </a:solidFill>
                <a:latin typeface="Noto Sans SemiBold"/>
                <a:ea typeface="DejaVu Sans"/>
              </a:rPr>
              <a:t> </a:t>
            </a:r>
            <a:endParaRPr b="0" lang="en-US" sz="2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42"/>
              </a:spcAft>
            </a:pPr>
            <a:r>
              <a:rPr b="1" lang="en-US" sz="2600" spc="-1" strike="noStrike">
                <a:solidFill>
                  <a:srgbClr val="1c1c1c"/>
                </a:solidFill>
                <a:latin typeface="Noto Sans SemiBold"/>
                <a:ea typeface="DejaVu Sans"/>
              </a:rPr>
              <a:t> </a:t>
            </a:r>
            <a:endParaRPr b="0" lang="en-US" sz="2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42"/>
              </a:spcAft>
            </a:pPr>
            <a:r>
              <a:rPr b="1" lang="en-US" sz="2600" spc="-1" strike="noStrike">
                <a:solidFill>
                  <a:srgbClr val="1c1c1c"/>
                </a:solidFill>
                <a:latin typeface="Noto Sans SemiBold"/>
                <a:ea typeface="DejaVu Sans"/>
              </a:rPr>
              <a:t> </a:t>
            </a:r>
            <a:endParaRPr b="0" lang="en-US" sz="2600" spc="-1" strike="noStrike">
              <a:latin typeface="Arial"/>
            </a:endParaRPr>
          </a:p>
        </p:txBody>
      </p:sp>
      <p:pic>
        <p:nvPicPr>
          <p:cNvPr id="99" name="" descr=""/>
          <p:cNvPicPr/>
          <p:nvPr/>
        </p:nvPicPr>
        <p:blipFill>
          <a:blip r:embed="rId1"/>
          <a:srcRect l="0" t="0" r="0" b="1404"/>
          <a:stretch/>
        </p:blipFill>
        <p:spPr>
          <a:xfrm>
            <a:off x="640080" y="2011680"/>
            <a:ext cx="8777520" cy="470988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CustomShape 1"/>
          <p:cNvSpPr/>
          <p:nvPr/>
        </p:nvSpPr>
        <p:spPr>
          <a:xfrm>
            <a:off x="360000" y="360000"/>
            <a:ext cx="9359280" cy="899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Noto Sans Black"/>
                <a:ea typeface="DejaVu Sans"/>
              </a:rPr>
              <a:t>THEHIVE - Features 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01" name="CustomShape 2"/>
          <p:cNvSpPr/>
          <p:nvPr/>
        </p:nvSpPr>
        <p:spPr>
          <a:xfrm>
            <a:off x="274320" y="1563120"/>
            <a:ext cx="9179280" cy="4679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>
              <a:lnSpc>
                <a:spcPct val="100000"/>
              </a:lnSpc>
              <a:spcAft>
                <a:spcPts val="1142"/>
              </a:spcAft>
            </a:pPr>
            <a:r>
              <a:rPr b="1" lang="en-US" sz="2600" spc="-1" strike="noStrike">
                <a:solidFill>
                  <a:srgbClr val="1c1c1c"/>
                </a:solidFill>
                <a:latin typeface="Noto Sans SemiBold"/>
                <a:ea typeface="DejaVu Sans"/>
              </a:rPr>
              <a:t>Metrics and dashboards</a:t>
            </a:r>
            <a:endParaRPr b="0" lang="en-US" sz="2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42"/>
              </a:spcAft>
            </a:pPr>
            <a:r>
              <a:rPr b="1" lang="en-US" sz="2600" spc="-1" strike="noStrike">
                <a:solidFill>
                  <a:srgbClr val="1c1c1c"/>
                </a:solidFill>
                <a:latin typeface="Noto Sans SemiBold"/>
                <a:ea typeface="DejaVu Sans"/>
              </a:rPr>
              <a:t> </a:t>
            </a:r>
            <a:endParaRPr b="0" lang="en-US" sz="2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42"/>
              </a:spcAft>
            </a:pPr>
            <a:r>
              <a:rPr b="1" lang="en-US" sz="2600" spc="-1" strike="noStrike">
                <a:solidFill>
                  <a:srgbClr val="1c1c1c"/>
                </a:solidFill>
                <a:latin typeface="Noto Sans SemiBold"/>
                <a:ea typeface="DejaVu Sans"/>
              </a:rPr>
              <a:t> </a:t>
            </a:r>
            <a:endParaRPr b="0" lang="en-US" sz="2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42"/>
              </a:spcAft>
            </a:pPr>
            <a:r>
              <a:rPr b="1" lang="en-US" sz="2600" spc="-1" strike="noStrike">
                <a:solidFill>
                  <a:srgbClr val="1c1c1c"/>
                </a:solidFill>
                <a:latin typeface="Noto Sans SemiBold"/>
                <a:ea typeface="DejaVu Sans"/>
              </a:rPr>
              <a:t> </a:t>
            </a:r>
            <a:endParaRPr b="0" lang="en-US" sz="2600" spc="-1" strike="noStrike">
              <a:latin typeface="Arial"/>
            </a:endParaRPr>
          </a:p>
        </p:txBody>
      </p:sp>
      <p:pic>
        <p:nvPicPr>
          <p:cNvPr id="102" name="" descr=""/>
          <p:cNvPicPr/>
          <p:nvPr/>
        </p:nvPicPr>
        <p:blipFill>
          <a:blip r:embed="rId1"/>
          <a:stretch/>
        </p:blipFill>
        <p:spPr>
          <a:xfrm>
            <a:off x="1554480" y="2076480"/>
            <a:ext cx="7314480" cy="46893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CustomShape 1"/>
          <p:cNvSpPr/>
          <p:nvPr/>
        </p:nvSpPr>
        <p:spPr>
          <a:xfrm>
            <a:off x="360000" y="360000"/>
            <a:ext cx="9359280" cy="899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Noto Sans Black"/>
                <a:ea typeface="DejaVu Sans"/>
              </a:rPr>
              <a:t>THEHIVE - Features 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04" name="CustomShape 2"/>
          <p:cNvSpPr/>
          <p:nvPr/>
        </p:nvSpPr>
        <p:spPr>
          <a:xfrm>
            <a:off x="274320" y="1554480"/>
            <a:ext cx="9179280" cy="4679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>
              <a:lnSpc>
                <a:spcPct val="100000"/>
              </a:lnSpc>
              <a:spcAft>
                <a:spcPts val="1142"/>
              </a:spcAft>
            </a:pPr>
            <a:r>
              <a:rPr b="1" lang="en-US" sz="2600" spc="-1" strike="noStrike">
                <a:solidFill>
                  <a:srgbClr val="1c1c1c"/>
                </a:solidFill>
                <a:latin typeface="Noto Sans SemiBold"/>
                <a:ea typeface="DejaVu Sans"/>
              </a:rPr>
              <a:t>Analyzer &amp; MISP Integration </a:t>
            </a:r>
            <a:endParaRPr b="0" lang="en-US" sz="2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42"/>
              </a:spcAft>
            </a:pPr>
            <a:r>
              <a:rPr b="1" lang="en-US" sz="2600" spc="-1" strike="noStrike">
                <a:solidFill>
                  <a:srgbClr val="1c1c1c"/>
                </a:solidFill>
                <a:latin typeface="Noto Sans SemiBold"/>
                <a:ea typeface="DejaVu Sans"/>
              </a:rPr>
              <a:t> </a:t>
            </a:r>
            <a:endParaRPr b="0" lang="en-US" sz="2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42"/>
              </a:spcAft>
            </a:pPr>
            <a:r>
              <a:rPr b="1" lang="en-US" sz="2600" spc="-1" strike="noStrike">
                <a:solidFill>
                  <a:srgbClr val="1c1c1c"/>
                </a:solidFill>
                <a:latin typeface="Noto Sans SemiBold"/>
                <a:ea typeface="DejaVu Sans"/>
              </a:rPr>
              <a:t> </a:t>
            </a:r>
            <a:endParaRPr b="0" lang="en-US" sz="2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42"/>
              </a:spcAft>
            </a:pPr>
            <a:r>
              <a:rPr b="1" lang="en-US" sz="2600" spc="-1" strike="noStrike">
                <a:solidFill>
                  <a:srgbClr val="1c1c1c"/>
                </a:solidFill>
                <a:latin typeface="Noto Sans SemiBold"/>
                <a:ea typeface="DejaVu Sans"/>
              </a:rPr>
              <a:t> </a:t>
            </a:r>
            <a:endParaRPr b="0" lang="en-US" sz="2600" spc="-1" strike="noStrike">
              <a:latin typeface="Arial"/>
            </a:endParaRPr>
          </a:p>
        </p:txBody>
      </p:sp>
      <p:pic>
        <p:nvPicPr>
          <p:cNvPr id="105" name="" descr=""/>
          <p:cNvPicPr/>
          <p:nvPr/>
        </p:nvPicPr>
        <p:blipFill>
          <a:blip r:embed="rId1"/>
          <a:stretch/>
        </p:blipFill>
        <p:spPr>
          <a:xfrm>
            <a:off x="914400" y="2381760"/>
            <a:ext cx="8314200" cy="4018320"/>
          </a:xfrm>
          <a:prstGeom prst="rect">
            <a:avLst/>
          </a:prstGeom>
          <a:ln>
            <a:noFill/>
          </a:ln>
        </p:spPr>
      </p:pic>
      <p:pic>
        <p:nvPicPr>
          <p:cNvPr id="106" name="" descr=""/>
          <p:cNvPicPr/>
          <p:nvPr/>
        </p:nvPicPr>
        <p:blipFill>
          <a:blip r:embed="rId2"/>
          <a:stretch/>
        </p:blipFill>
        <p:spPr>
          <a:xfrm>
            <a:off x="7531920" y="1463040"/>
            <a:ext cx="2160000" cy="10796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CustomShape 1"/>
          <p:cNvSpPr/>
          <p:nvPr/>
        </p:nvSpPr>
        <p:spPr>
          <a:xfrm>
            <a:off x="360000" y="360000"/>
            <a:ext cx="9359280" cy="899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Noto Sans Black"/>
                <a:ea typeface="DejaVu Sans"/>
              </a:rPr>
              <a:t>THEHIVE - Features 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08" name="CustomShape 2"/>
          <p:cNvSpPr/>
          <p:nvPr/>
        </p:nvSpPr>
        <p:spPr>
          <a:xfrm>
            <a:off x="274320" y="1554480"/>
            <a:ext cx="9179280" cy="4679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>
              <a:lnSpc>
                <a:spcPct val="100000"/>
              </a:lnSpc>
              <a:spcAft>
                <a:spcPts val="1142"/>
              </a:spcAft>
            </a:pPr>
            <a:r>
              <a:rPr b="1" lang="en-US" sz="2600" spc="-1" strike="noStrike">
                <a:solidFill>
                  <a:srgbClr val="1c1c1c"/>
                </a:solidFill>
                <a:latin typeface="Noto Sans SemiBold"/>
                <a:ea typeface="DejaVu Sans"/>
              </a:rPr>
              <a:t>MITRE ATT&amp;CK Integration</a:t>
            </a:r>
            <a:endParaRPr b="0" lang="en-US" sz="2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42"/>
              </a:spcAft>
            </a:pPr>
            <a:r>
              <a:rPr b="1" lang="en-US" sz="2600" spc="-1" strike="noStrike">
                <a:solidFill>
                  <a:srgbClr val="1c1c1c"/>
                </a:solidFill>
                <a:latin typeface="Noto Sans SemiBold"/>
                <a:ea typeface="DejaVu Sans"/>
              </a:rPr>
              <a:t> </a:t>
            </a:r>
            <a:endParaRPr b="0" lang="en-US" sz="2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42"/>
              </a:spcAft>
            </a:pPr>
            <a:r>
              <a:rPr b="1" lang="en-US" sz="2600" spc="-1" strike="noStrike">
                <a:solidFill>
                  <a:srgbClr val="1c1c1c"/>
                </a:solidFill>
                <a:latin typeface="Noto Sans SemiBold"/>
                <a:ea typeface="DejaVu Sans"/>
              </a:rPr>
              <a:t> </a:t>
            </a:r>
            <a:endParaRPr b="0" lang="en-US" sz="2600" spc="-1" strike="noStrike">
              <a:latin typeface="Arial"/>
            </a:endParaRPr>
          </a:p>
        </p:txBody>
      </p:sp>
      <p:pic>
        <p:nvPicPr>
          <p:cNvPr id="109" name="" descr=""/>
          <p:cNvPicPr/>
          <p:nvPr/>
        </p:nvPicPr>
        <p:blipFill>
          <a:blip r:embed="rId1"/>
          <a:stretch/>
        </p:blipFill>
        <p:spPr>
          <a:xfrm>
            <a:off x="274320" y="2560320"/>
            <a:ext cx="9419760" cy="347400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CustomShape 1"/>
          <p:cNvSpPr/>
          <p:nvPr/>
        </p:nvSpPr>
        <p:spPr>
          <a:xfrm>
            <a:off x="360000" y="360000"/>
            <a:ext cx="9359280" cy="899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Noto Sans Black"/>
                <a:ea typeface="DejaVu Sans"/>
              </a:rPr>
              <a:t>THEHIVE - Usage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11" name="CustomShape 2"/>
          <p:cNvSpPr/>
          <p:nvPr/>
        </p:nvSpPr>
        <p:spPr>
          <a:xfrm>
            <a:off x="274320" y="1554480"/>
            <a:ext cx="9179280" cy="4679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>
              <a:lnSpc>
                <a:spcPct val="100000"/>
              </a:lnSpc>
              <a:spcAft>
                <a:spcPts val="1142"/>
              </a:spcAft>
            </a:pPr>
            <a:r>
              <a:rPr b="1" lang="en-US" sz="2600" spc="-1" strike="noStrike">
                <a:solidFill>
                  <a:srgbClr val="1c1c1c"/>
                </a:solidFill>
                <a:latin typeface="Noto Sans SemiBold"/>
                <a:ea typeface="DejaVu Sans"/>
              </a:rPr>
              <a:t>Create Case - Incidents</a:t>
            </a:r>
            <a:endParaRPr b="0" lang="en-US" sz="2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42"/>
              </a:spcAft>
            </a:pPr>
            <a:r>
              <a:rPr b="1" lang="en-US" sz="2600" spc="-1" strike="noStrike">
                <a:solidFill>
                  <a:srgbClr val="1c1c1c"/>
                </a:solidFill>
                <a:latin typeface="Noto Sans SemiBold"/>
                <a:ea typeface="DejaVu Sans"/>
              </a:rPr>
              <a:t> </a:t>
            </a:r>
            <a:endParaRPr b="0" lang="en-US" sz="2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42"/>
              </a:spcAft>
            </a:pPr>
            <a:r>
              <a:rPr b="1" lang="en-US" sz="2600" spc="-1" strike="noStrike">
                <a:solidFill>
                  <a:srgbClr val="1c1c1c"/>
                </a:solidFill>
                <a:latin typeface="Noto Sans SemiBold"/>
                <a:ea typeface="DejaVu Sans"/>
              </a:rPr>
              <a:t> </a:t>
            </a:r>
            <a:endParaRPr b="0" lang="en-US" sz="2600" spc="-1" strike="noStrike">
              <a:latin typeface="Arial"/>
            </a:endParaRPr>
          </a:p>
        </p:txBody>
      </p:sp>
      <p:pic>
        <p:nvPicPr>
          <p:cNvPr id="112" name="" descr=""/>
          <p:cNvPicPr/>
          <p:nvPr/>
        </p:nvPicPr>
        <p:blipFill>
          <a:blip r:embed="rId1"/>
          <a:stretch/>
        </p:blipFill>
        <p:spPr>
          <a:xfrm>
            <a:off x="548640" y="1973520"/>
            <a:ext cx="5857200" cy="4792680"/>
          </a:xfrm>
          <a:prstGeom prst="rect">
            <a:avLst/>
          </a:prstGeom>
          <a:ln>
            <a:noFill/>
          </a:ln>
        </p:spPr>
      </p:pic>
      <p:sp>
        <p:nvSpPr>
          <p:cNvPr id="113" name="CustomShape 3"/>
          <p:cNvSpPr/>
          <p:nvPr/>
        </p:nvSpPr>
        <p:spPr>
          <a:xfrm>
            <a:off x="6675120" y="2013120"/>
            <a:ext cx="2834280" cy="1881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latin typeface="Arial"/>
              </a:rPr>
              <a:t>TLP :Traffic Light Protocol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latin typeface="Arial"/>
              </a:rPr>
              <a:t>PAP : Permissible Actions Protocol 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latin typeface="Arial"/>
              </a:rPr>
              <a:t>Tags : Choose Taxonomy, custom tag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CustomShape 1"/>
          <p:cNvSpPr/>
          <p:nvPr/>
        </p:nvSpPr>
        <p:spPr>
          <a:xfrm>
            <a:off x="360000" y="360000"/>
            <a:ext cx="9359280" cy="899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spcAft>
                <a:spcPts val="1142"/>
              </a:spcAft>
            </a:pPr>
            <a:r>
              <a:rPr b="1" lang="en-US" sz="2400" spc="-1" strike="noStrike">
                <a:solidFill>
                  <a:srgbClr val="ffffff"/>
                </a:solidFill>
                <a:latin typeface="Noto Sans Black"/>
                <a:ea typeface="DejaVu Sans"/>
              </a:rPr>
              <a:t>THEHIVE - </a:t>
            </a:r>
            <a:r>
              <a:rPr b="1" lang="en-US" sz="2600" spc="-1" strike="noStrike">
                <a:solidFill>
                  <a:srgbClr val="1c1c1c"/>
                </a:solidFill>
                <a:latin typeface="Noto Sans SemiBold"/>
                <a:ea typeface="DejaVu Sans"/>
              </a:rPr>
              <a:t>THEHIVE In SOC </a:t>
            </a:r>
            <a:r>
              <a:rPr b="1" lang="en-US" sz="2600" spc="-1" strike="noStrike">
                <a:solidFill>
                  <a:srgbClr val="1c1c1c"/>
                </a:solidFill>
                <a:latin typeface="Noto Sans SemiBold"/>
                <a:ea typeface="DejaVu Sans"/>
              </a:rPr>
              <a:t>Workflow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115" name="CustomShape 2"/>
          <p:cNvSpPr/>
          <p:nvPr/>
        </p:nvSpPr>
        <p:spPr>
          <a:xfrm>
            <a:off x="274320" y="1554480"/>
            <a:ext cx="9179280" cy="4679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>
              <a:lnSpc>
                <a:spcPct val="100000"/>
              </a:lnSpc>
              <a:spcAft>
                <a:spcPts val="1142"/>
              </a:spcAft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42"/>
              </a:spcAft>
            </a:pPr>
            <a:r>
              <a:rPr b="1" lang="en-US" sz="2600" spc="-1" strike="noStrike">
                <a:solidFill>
                  <a:srgbClr val="1c1c1c"/>
                </a:solidFill>
                <a:latin typeface="Noto Sans SemiBold"/>
                <a:ea typeface="DejaVu Sans"/>
              </a:rPr>
              <a:t> </a:t>
            </a:r>
            <a:endParaRPr b="0" lang="en-US" sz="2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42"/>
              </a:spcAft>
            </a:pPr>
            <a:r>
              <a:rPr b="1" lang="en-US" sz="2600" spc="-1" strike="noStrike">
                <a:solidFill>
                  <a:srgbClr val="1c1c1c"/>
                </a:solidFill>
                <a:latin typeface="Noto Sans SemiBold"/>
                <a:ea typeface="DejaVu Sans"/>
              </a:rPr>
              <a:t> 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116" name="CustomShape 3"/>
          <p:cNvSpPr/>
          <p:nvPr/>
        </p:nvSpPr>
        <p:spPr>
          <a:xfrm>
            <a:off x="6675120" y="2013120"/>
            <a:ext cx="2834280" cy="1881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17" name="" descr=""/>
          <p:cNvPicPr/>
          <p:nvPr/>
        </p:nvPicPr>
        <p:blipFill>
          <a:blip r:embed="rId1"/>
          <a:stretch/>
        </p:blipFill>
        <p:spPr>
          <a:xfrm>
            <a:off x="0" y="1531800"/>
            <a:ext cx="10080360" cy="550908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CustomShape 1"/>
          <p:cNvSpPr/>
          <p:nvPr/>
        </p:nvSpPr>
        <p:spPr>
          <a:xfrm>
            <a:off x="360000" y="360000"/>
            <a:ext cx="9359280" cy="899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spcAft>
                <a:spcPts val="1142"/>
              </a:spcAft>
            </a:pPr>
            <a:r>
              <a:rPr b="1" lang="en-US" sz="2400" spc="-1" strike="noStrike">
                <a:solidFill>
                  <a:srgbClr val="ffffff"/>
                </a:solidFill>
                <a:latin typeface="Noto Sans Black"/>
                <a:ea typeface="DejaVu Sans"/>
              </a:rPr>
              <a:t>THEHIVE – </a:t>
            </a:r>
            <a:r>
              <a:rPr b="1" lang="en-US" sz="2600" spc="-1" strike="noStrike">
                <a:solidFill>
                  <a:srgbClr val="1c1c1c"/>
                </a:solidFill>
                <a:latin typeface="Noto Sans SemiBold"/>
                <a:ea typeface="DejaVu Sans"/>
              </a:rPr>
              <a:t>Process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119" name="CustomShape 2"/>
          <p:cNvSpPr/>
          <p:nvPr/>
        </p:nvSpPr>
        <p:spPr>
          <a:xfrm>
            <a:off x="274320" y="1554480"/>
            <a:ext cx="9179280" cy="4679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>
              <a:lnSpc>
                <a:spcPct val="100000"/>
              </a:lnSpc>
              <a:spcAft>
                <a:spcPts val="1142"/>
              </a:spcAft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42"/>
              </a:spcAft>
            </a:pPr>
            <a:r>
              <a:rPr b="1" lang="en-US" sz="2600" spc="-1" strike="noStrike">
                <a:solidFill>
                  <a:srgbClr val="1c1c1c"/>
                </a:solidFill>
                <a:latin typeface="Noto Sans SemiBold"/>
                <a:ea typeface="DejaVu Sans"/>
              </a:rPr>
              <a:t> </a:t>
            </a:r>
            <a:endParaRPr b="0" lang="en-US" sz="2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42"/>
              </a:spcAft>
            </a:pPr>
            <a:r>
              <a:rPr b="1" lang="en-US" sz="2600" spc="-1" strike="noStrike">
                <a:solidFill>
                  <a:srgbClr val="1c1c1c"/>
                </a:solidFill>
                <a:latin typeface="Noto Sans SemiBold"/>
                <a:ea typeface="DejaVu Sans"/>
              </a:rPr>
              <a:t> 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120" name="CustomShape 3"/>
          <p:cNvSpPr/>
          <p:nvPr/>
        </p:nvSpPr>
        <p:spPr>
          <a:xfrm>
            <a:off x="6675120" y="2013120"/>
            <a:ext cx="2834280" cy="1881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21" name="" descr=""/>
          <p:cNvPicPr/>
          <p:nvPr/>
        </p:nvPicPr>
        <p:blipFill>
          <a:blip r:embed="rId1"/>
          <a:stretch/>
        </p:blipFill>
        <p:spPr>
          <a:xfrm>
            <a:off x="457200" y="2337840"/>
            <a:ext cx="9248400" cy="305712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242</TotalTime>
  <Application>LibreOffice/6.4.7.2$Linux_X86_64 LibreOffice_project/40$Build-2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2022-07-26T15:08:36Z</dcterms:created>
  <dc:creator/>
  <dc:description/>
  <dc:language>en-US</dc:language>
  <cp:lastModifiedBy/>
  <dcterms:modified xsi:type="dcterms:W3CDTF">2022-07-29T09:50:58Z</dcterms:modified>
  <cp:revision>4</cp:revision>
  <dc:subject/>
  <dc:title>Alizarin</dc:title>
</cp:coreProperties>
</file>