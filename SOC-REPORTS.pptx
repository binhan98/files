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9" r:id="rId3"/>
    <p:sldId id="281" r:id="rId4"/>
    <p:sldId id="258" r:id="rId5"/>
    <p:sldId id="260" r:id="rId6"/>
    <p:sldId id="268" r:id="rId7"/>
    <p:sldId id="265" r:id="rId8"/>
    <p:sldId id="280" r:id="rId9"/>
    <p:sldId id="282" r:id="rId10"/>
    <p:sldId id="283" r:id="rId11"/>
    <p:sldId id="285" r:id="rId12"/>
    <p:sldId id="284" r:id="rId13"/>
    <p:sldId id="286" r:id="rId14"/>
    <p:sldId id="287" r:id="rId15"/>
    <p:sldId id="288" r:id="rId16"/>
    <p:sldId id="28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49EB3E-5A98-3CA0-F72B-6F58F223E478}" name="Lê Bình An BANTT" initials="LB" userId="a112e2387a0cc5e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42269B-55BB-46D8-8D1D-F827C35C5F4E}" v="210" dt="2022-03-01T10:29:45.445"/>
    <p1510:client id="{162AD959-CCA4-4EB0-B0D5-0C15D361B2D0}" v="365" dt="2022-04-05T02:55:30.726"/>
    <p1510:client id="{1CC49992-6FA2-450A-BB9A-8E6417D4B58E}" v="87" dt="2022-04-06T07:02:26.852"/>
    <p1510:client id="{985247FA-63FF-4DE2-AEBD-20B48ED6CA67}" v="633" dt="2022-02-28T04:27:00.125"/>
    <p1510:client id="{A258FD24-CEAE-4B77-9272-50F51A3B352F}" v="83" dt="2022-03-02T04:13:16.889"/>
    <p1510:client id="{D18EB305-A4DF-467E-93EE-0D624146856E}" v="85" dt="2022-03-01T18:13:08.931"/>
    <p1510:client id="{EFC76D9D-C040-4E07-AA44-261AA2B288D9}" v="9" dt="2022-03-21T02:13:54.9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0B54D-182D-4548-B974-55BE8C6E5678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1DB06-3CA5-4519-A2F1-956D3BEAA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48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Ngoài</a:t>
            </a:r>
            <a:r>
              <a:rPr lang="en-US" baseline="0"/>
              <a:t> </a:t>
            </a:r>
            <a:r>
              <a:rPr lang="en-US" baseline="0" err="1"/>
              <a:t>ra</a:t>
            </a:r>
            <a:r>
              <a:rPr lang="en-US" baseline="0"/>
              <a:t> </a:t>
            </a:r>
            <a:r>
              <a:rPr lang="en-US" baseline="0" err="1"/>
              <a:t>có</a:t>
            </a:r>
            <a:r>
              <a:rPr lang="en-US" baseline="0"/>
              <a:t> </a:t>
            </a:r>
            <a:r>
              <a:rPr lang="en-US" baseline="0" err="1"/>
              <a:t>thể</a:t>
            </a:r>
            <a:r>
              <a:rPr lang="en-US" baseline="0"/>
              <a:t> </a:t>
            </a:r>
            <a:r>
              <a:rPr lang="en-US" baseline="0" err="1"/>
              <a:t>tích</a:t>
            </a:r>
            <a:r>
              <a:rPr lang="en-US" baseline="0"/>
              <a:t> </a:t>
            </a:r>
            <a:r>
              <a:rPr lang="en-US" baseline="0" err="1"/>
              <a:t>hợp</a:t>
            </a:r>
            <a:r>
              <a:rPr lang="en-US" baseline="0"/>
              <a:t> Vulnerability Assessment </a:t>
            </a:r>
            <a:r>
              <a:rPr lang="en-US" baseline="0" err="1"/>
              <a:t>với</a:t>
            </a:r>
            <a:r>
              <a:rPr lang="en-US" baseline="0"/>
              <a:t> SOAR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F1DB06-3CA5-4519-A2F1-956D3BEAA0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601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35354-0881-4EC5-ACE0-85746CCA7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37147"/>
          </a:xfrm>
        </p:spPr>
        <p:txBody>
          <a:bodyPr anchor="ctr"/>
          <a:lstStyle>
            <a:lvl1pPr algn="ctr">
              <a:lnSpc>
                <a:spcPct val="12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924BF-C4BD-47DA-B5CF-DC53C095B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59510"/>
            <a:ext cx="9144000" cy="100929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D0668-52F5-465B-BC4E-81ED000C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B199-EE9D-46B2-B058-CBAE59F8DEA0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F9504-7E18-40C0-A319-45E505166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0AB25-B534-4520-8F86-141DE600E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91C9-80CD-495A-88D5-16643BF90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122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3A7EC-C4EC-450F-86FC-96E2017E1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>
            <a:normAutofit/>
          </a:bodyPr>
          <a:lstStyle>
            <a:lvl1pPr algn="ctr">
              <a:lnSpc>
                <a:spcPct val="120000"/>
              </a:lnSpc>
              <a:defRPr sz="3200" b="1">
                <a:solidFill>
                  <a:srgbClr val="00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DF4FC-447E-4853-9881-256D06FAE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9032"/>
            <a:ext cx="10515600" cy="4947931"/>
          </a:xfrm>
        </p:spPr>
        <p:txBody>
          <a:bodyPr>
            <a:normAutofit/>
          </a:bodyPr>
          <a:lstStyle>
            <a:lvl1pPr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2000"/>
            </a:lvl1pPr>
            <a:lvl2pPr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800"/>
            </a:lvl2pPr>
            <a:lvl3pPr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/>
            </a:lvl3pPr>
            <a:lvl4pPr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400"/>
            </a:lvl4pPr>
            <a:lvl5pPr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F961B-26D1-4C18-92ED-40AB4F09A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B199-EE9D-46B2-B058-CBAE59F8DEA0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ABD10-3B14-4E15-9156-53CD939D2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9A90B-1EF2-4C2C-BE6E-531F164BD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91C9-80CD-495A-88D5-16643BF90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111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38E7B-D99B-41F3-A6EB-0840FFDEC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6132A-085A-45C6-861C-816957372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6173A-0A8F-4D26-B391-516A67C7D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B199-EE9D-46B2-B058-CBAE59F8DEA0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CF91D-488C-41BD-BAC4-45660E8B5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450BA-725B-4F82-AB4D-519600098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91C9-80CD-495A-88D5-16643BF90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27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4302A-AB03-45A4-8081-2A84FD0D2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58F48-0867-4347-B589-01271019B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D8202-8CF7-4275-80AE-BD8C06766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20EDE-B9A8-48BE-9A3D-EE2BD09D5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B199-EE9D-46B2-B058-CBAE59F8DEA0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5D369-89B9-47D0-B0EC-DA5EB81DA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626CE-64F6-4F17-8011-13C24CC3F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91C9-80CD-495A-88D5-16643BF90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666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1F9C2-81B9-4724-BCBE-F6CE2B5B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0A267-C3EF-4E24-AFCD-150AC5FD1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0B964-E7AB-488D-9041-30FF678CD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C96914-E7A4-4482-9460-F737B54F4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45D5F-F87E-4019-AF3D-7B33FC1A66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D8E468-8369-4796-99B7-E3E36A4EE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B199-EE9D-46B2-B058-CBAE59F8DEA0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203F9F-F69E-4B54-828E-DCED32539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256E02-584B-4DBC-A9A5-A12724B56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91C9-80CD-495A-88D5-16643BF90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67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91328-0823-483D-8030-D8C4EF8A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40F587-5DC5-4B69-87C2-B3139E215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B199-EE9D-46B2-B058-CBAE59F8DEA0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DC486-9CED-431C-8EAD-8600AC451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51A56-DEC9-450D-8FE0-1F59AEB97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91C9-80CD-495A-88D5-16643BF90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14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CFB296-B254-478A-9E19-04D939E43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B199-EE9D-46B2-B058-CBAE59F8DEA0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EC4D10-BC8F-4E71-9B5B-FA5BB6D69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E3B01-6809-45CC-825E-4C8C0996A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91C9-80CD-495A-88D5-16643BF90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89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F89FA-DA49-4979-9026-1F93D105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ACC6A-D3F3-482F-BBA4-8CEA38B80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3B2E5-9355-4A29-A93D-B3C326556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E8718-07F3-4D36-A999-FBB2C4EE0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B199-EE9D-46B2-B058-CBAE59F8DEA0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8D8BA-E866-4265-B490-67DAA1412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823C0-BF01-4F4E-8CF1-81D949BC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91C9-80CD-495A-88D5-16643BF90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24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7D591-EF00-4F5D-A7CA-7399EC996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57E5D0-F34B-4F6A-A83C-AB1E59FCAD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BC39F3-B91E-492C-95C0-A853C824E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F875D-A4C3-45D4-AC63-5AAA4DC13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B199-EE9D-46B2-B058-CBAE59F8DEA0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28AA5-75F4-4BD9-A531-4C3EC2B90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8C240-F913-4BA1-9D4B-8882A49A1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91C9-80CD-495A-88D5-16643BF90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083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47342-68D9-4A9B-B3F4-5041A4D59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A8DFA-17C8-4843-9885-2896C430B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3E3E5-AA42-4BAD-BD5E-3584AA7D3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B199-EE9D-46B2-B058-CBAE59F8DEA0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E1428-CE47-4218-B4B2-E03511F7E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E748A-81B3-4DEC-B77E-A2453BD78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91C9-80CD-495A-88D5-16643BF90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473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24C8D5-0FEB-4ECD-9B92-843EF36722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07AE8A-4997-42E3-9607-737779114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F4091-0DF3-4FB2-B8CD-EFBB0D176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0B199-EE9D-46B2-B058-CBAE59F8DEA0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3C076-C03F-4DEB-A5FB-D9A2BBF1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25B1B-8333-4D7C-A384-BFE487214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691C9-80CD-495A-88D5-16643BF90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95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FE5691-5F03-4653-844B-738FB2AE1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5120D-5C0C-4D41-A892-3B9C51212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A7188-EA7A-48C2-ACE9-F145DC9B36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7480B199-EE9D-46B2-B058-CBAE59F8DEA0}" type="datetimeFigureOut">
              <a:rPr lang="en-US" smtClean="0"/>
              <a:pPr/>
              <a:t>5/31/2022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FE0F8-E6F6-4ABB-B3E6-6355B3F309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282EF-8345-4025-8D72-AD505A5F75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32691C9-80CD-495A-88D5-16643BF905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0919E-AF58-46A2-904D-E847322A8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10125808" cy="196373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ea typeface="+mn-lt"/>
              </a:rPr>
              <a:t>SECURITY OPERATION CENTER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E67F09-560F-4685-B416-205ECE68FE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Arial" panose="020B0604020202020204" pitchFamily="34" charset="0"/>
              </a:rPr>
              <a:t>BÁO CÁO TỔNG HỢP </a:t>
            </a:r>
            <a:endParaRPr lang="en-US" sz="32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927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620D128-2C7E-0C56-5AF2-0ABE5ADEE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Arial"/>
              </a:rPr>
              <a:t>Hệ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thống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giám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sát</a:t>
            </a:r>
            <a:r>
              <a:rPr lang="en-US" dirty="0" smtClean="0">
                <a:latin typeface="Arial"/>
              </a:rPr>
              <a:t> an </a:t>
            </a:r>
            <a:r>
              <a:rPr lang="en-US" dirty="0" err="1" smtClean="0">
                <a:latin typeface="Arial"/>
              </a:rPr>
              <a:t>ninh</a:t>
            </a:r>
            <a:r>
              <a:rPr lang="en-US" dirty="0" smtClean="0">
                <a:latin typeface="Arial"/>
              </a:rPr>
              <a:t> MISA</a:t>
            </a:r>
            <a:endParaRPr lang="vi-VN" dirty="0">
              <a:latin typeface="Arial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E335F7BB-8148-CAE7-0D29-2B3621918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err="1">
                <a:latin typeface="Arial"/>
                <a:cs typeface="Arial"/>
              </a:rPr>
              <a:t>Tình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trạng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hiện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 smtClean="0">
                <a:latin typeface="Arial"/>
                <a:cs typeface="Arial"/>
              </a:rPr>
              <a:t>tại</a:t>
            </a:r>
            <a:r>
              <a:rPr lang="en-US" b="1" dirty="0" smtClean="0">
                <a:latin typeface="Arial"/>
                <a:cs typeface="Arial"/>
              </a:rPr>
              <a:t>: </a:t>
            </a:r>
            <a:endParaRPr lang="en-US" b="1" dirty="0">
              <a:latin typeface="Arial"/>
              <a:cs typeface="Arial"/>
            </a:endParaRPr>
          </a:p>
          <a:p>
            <a:r>
              <a:rPr lang="en-US" dirty="0" err="1" smtClean="0">
                <a:latin typeface="Arial"/>
                <a:cs typeface="Arial"/>
              </a:rPr>
              <a:t>Các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thành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phần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trong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hệ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thống</a:t>
            </a:r>
            <a:r>
              <a:rPr lang="en-US" dirty="0" smtClean="0">
                <a:latin typeface="Arial"/>
                <a:cs typeface="Arial"/>
              </a:rPr>
              <a:t> an </a:t>
            </a:r>
            <a:r>
              <a:rPr lang="en-US" dirty="0" err="1" smtClean="0">
                <a:latin typeface="Arial"/>
                <a:cs typeface="Arial"/>
              </a:rPr>
              <a:t>ninh</a:t>
            </a:r>
            <a:r>
              <a:rPr lang="en-US" dirty="0" smtClean="0">
                <a:latin typeface="Arial"/>
                <a:cs typeface="Arial"/>
              </a:rPr>
              <a:t> :</a:t>
            </a:r>
          </a:p>
          <a:p>
            <a:pPr lvl="1"/>
            <a:r>
              <a:rPr lang="en-US" dirty="0" smtClean="0">
                <a:latin typeface="Arial"/>
                <a:cs typeface="Arial"/>
              </a:rPr>
              <a:t>Firewall/IDS/IPS/WAF: </a:t>
            </a:r>
            <a:r>
              <a:rPr lang="en-US" dirty="0" err="1" smtClean="0">
                <a:latin typeface="Arial"/>
                <a:cs typeface="Arial"/>
              </a:rPr>
              <a:t>Fortigate</a:t>
            </a:r>
            <a:r>
              <a:rPr lang="en-US" dirty="0">
                <a:latin typeface="Arial"/>
                <a:cs typeface="Arial"/>
              </a:rPr>
              <a:t>, </a:t>
            </a:r>
            <a:r>
              <a:rPr lang="en-US" dirty="0" smtClean="0">
                <a:latin typeface="Arial"/>
                <a:cs typeface="Arial"/>
              </a:rPr>
              <a:t>F5</a:t>
            </a:r>
            <a:endParaRPr lang="en-US" dirty="0">
              <a:latin typeface="Arial"/>
              <a:cs typeface="Arial"/>
            </a:endParaRPr>
          </a:p>
          <a:p>
            <a:pPr lvl="1"/>
            <a:r>
              <a:rPr lang="en-US" dirty="0" smtClean="0">
                <a:latin typeface="Arial"/>
                <a:cs typeface="Arial"/>
              </a:rPr>
              <a:t>SIEM/FIM :</a:t>
            </a:r>
            <a:r>
              <a:rPr lang="en-US" dirty="0" err="1" smtClean="0">
                <a:latin typeface="Arial"/>
                <a:cs typeface="Arial"/>
              </a:rPr>
              <a:t>Wazuh</a:t>
            </a:r>
            <a:r>
              <a:rPr lang="en-US" dirty="0">
                <a:latin typeface="Arial"/>
                <a:cs typeface="Arial"/>
              </a:rPr>
              <a:t>, </a:t>
            </a:r>
            <a:r>
              <a:rPr lang="en-US" dirty="0" smtClean="0">
                <a:latin typeface="Arial"/>
                <a:cs typeface="Arial"/>
              </a:rPr>
              <a:t>ELK</a:t>
            </a:r>
          </a:p>
          <a:p>
            <a:pPr lvl="1"/>
            <a:r>
              <a:rPr lang="en-US" dirty="0" smtClean="0">
                <a:latin typeface="Arial"/>
                <a:cs typeface="Arial"/>
              </a:rPr>
              <a:t>VA : Nessus, </a:t>
            </a:r>
            <a:r>
              <a:rPr lang="en-US" dirty="0" err="1" smtClean="0">
                <a:latin typeface="Arial"/>
                <a:cs typeface="Arial"/>
              </a:rPr>
              <a:t>Openvas</a:t>
            </a:r>
            <a:endParaRPr lang="en-US" dirty="0" smtClean="0">
              <a:latin typeface="Arial"/>
              <a:cs typeface="Arial"/>
            </a:endParaRPr>
          </a:p>
          <a:p>
            <a:pPr lvl="1"/>
            <a:r>
              <a:rPr lang="en-US" dirty="0" err="1" smtClean="0">
                <a:latin typeface="Arial"/>
                <a:cs typeface="Arial"/>
              </a:rPr>
              <a:t>Orther</a:t>
            </a:r>
            <a:r>
              <a:rPr lang="en-US" dirty="0" smtClean="0">
                <a:latin typeface="Arial"/>
                <a:cs typeface="Arial"/>
              </a:rPr>
              <a:t>: PAM, Kaspersky (Malware &amp; Network), </a:t>
            </a:r>
            <a:r>
              <a:rPr lang="en-US" dirty="0" err="1" smtClean="0">
                <a:latin typeface="Arial"/>
                <a:cs typeface="Arial"/>
              </a:rPr>
              <a:t>OpenVPN</a:t>
            </a:r>
            <a:endParaRPr lang="en-US" dirty="0">
              <a:latin typeface="Arial"/>
              <a:cs typeface="Arial"/>
            </a:endParaRPr>
          </a:p>
          <a:p>
            <a:r>
              <a:rPr lang="en-US" dirty="0" err="1" smtClean="0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Arial"/>
                <a:cs typeface="Arial"/>
              </a:rPr>
              <a:t>giải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Arial"/>
                <a:cs typeface="Arial"/>
              </a:rPr>
              <a:t>pháp</a:t>
            </a:r>
            <a:r>
              <a:rPr lang="vi-VN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vi-VN" dirty="0">
                <a:solidFill>
                  <a:srgbClr val="FF0000"/>
                </a:solidFill>
                <a:latin typeface="Arial"/>
                <a:cs typeface="Arial"/>
              </a:rPr>
              <a:t>an ninh không được quản lý tập </a:t>
            </a:r>
            <a:r>
              <a:rPr lang="vi-VN" dirty="0" smtClean="0">
                <a:solidFill>
                  <a:srgbClr val="FF0000"/>
                </a:solidFill>
                <a:latin typeface="Arial"/>
                <a:cs typeface="Arial"/>
              </a:rPr>
              <a:t>trung</a:t>
            </a:r>
            <a:endParaRPr lang="en-US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marL="457200" lvl="1" indent="0">
              <a:buNone/>
            </a:pPr>
            <a:r>
              <a:rPr lang="en-US" dirty="0" smtClean="0">
                <a:latin typeface="Arial"/>
                <a:cs typeface="Arial"/>
              </a:rPr>
              <a:t>-&gt; </a:t>
            </a:r>
            <a:r>
              <a:rPr lang="en-US" dirty="0" err="1" smtClean="0">
                <a:latin typeface="Arial"/>
                <a:cs typeface="Arial"/>
              </a:rPr>
              <a:t>Không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được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phát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hiện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kịp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thời</a:t>
            </a:r>
            <a:r>
              <a:rPr lang="en-US" dirty="0" smtClean="0">
                <a:latin typeface="Arial"/>
                <a:cs typeface="Arial"/>
              </a:rPr>
              <a:t>, </a:t>
            </a:r>
            <a:r>
              <a:rPr lang="en-US" dirty="0" err="1" smtClean="0">
                <a:latin typeface="Arial"/>
                <a:cs typeface="Arial"/>
              </a:rPr>
              <a:t>khó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phát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hiện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vấn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đề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sự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cố</a:t>
            </a:r>
            <a:r>
              <a:rPr lang="en-US" dirty="0" smtClean="0">
                <a:latin typeface="Arial"/>
                <a:cs typeface="Arial"/>
              </a:rPr>
              <a:t>.</a:t>
            </a:r>
            <a:endParaRPr lang="vi-VN" dirty="0">
              <a:latin typeface="Arial"/>
              <a:cs typeface="Arial"/>
            </a:endParaRPr>
          </a:p>
          <a:p>
            <a:pPr marL="457200" lvl="1" indent="0">
              <a:buNone/>
            </a:pPr>
            <a:r>
              <a:rPr lang="en-US" dirty="0" smtClean="0">
                <a:latin typeface="Arial"/>
                <a:cs typeface="Arial"/>
              </a:rPr>
              <a:t>-&gt; </a:t>
            </a:r>
            <a:r>
              <a:rPr lang="vi-VN" dirty="0" smtClean="0">
                <a:latin typeface="Arial"/>
                <a:cs typeface="Arial"/>
              </a:rPr>
              <a:t>Các </a:t>
            </a:r>
            <a:r>
              <a:rPr lang="vi-VN" dirty="0">
                <a:latin typeface="Arial"/>
                <a:cs typeface="Arial"/>
              </a:rPr>
              <a:t>kết quả , vấn </a:t>
            </a:r>
            <a:r>
              <a:rPr lang="vi-VN" dirty="0" smtClean="0">
                <a:latin typeface="Arial"/>
                <a:cs typeface="Arial"/>
              </a:rPr>
              <a:t>đề</a:t>
            </a:r>
            <a:r>
              <a:rPr lang="en-US" dirty="0" smtClean="0">
                <a:latin typeface="Arial"/>
                <a:cs typeface="Arial"/>
              </a:rPr>
              <a:t> an </a:t>
            </a:r>
            <a:r>
              <a:rPr lang="en-US" dirty="0" err="1" smtClean="0">
                <a:latin typeface="Arial"/>
                <a:cs typeface="Arial"/>
              </a:rPr>
              <a:t>ninh</a:t>
            </a:r>
            <a:r>
              <a:rPr lang="vi-VN" dirty="0" smtClean="0">
                <a:latin typeface="Arial"/>
                <a:cs typeface="Arial"/>
              </a:rPr>
              <a:t> </a:t>
            </a:r>
            <a:r>
              <a:rPr lang="vi-VN" dirty="0">
                <a:latin typeface="Arial"/>
                <a:cs typeface="Arial"/>
              </a:rPr>
              <a:t>không được đánh giá và xử </a:t>
            </a:r>
            <a:r>
              <a:rPr lang="vi-VN" dirty="0" smtClean="0">
                <a:latin typeface="Arial"/>
                <a:cs typeface="Arial"/>
              </a:rPr>
              <a:t>lý</a:t>
            </a:r>
            <a:r>
              <a:rPr lang="en-US" dirty="0" smtClean="0">
                <a:latin typeface="Arial"/>
                <a:cs typeface="Arial"/>
              </a:rPr>
              <a:t>.</a:t>
            </a:r>
            <a:r>
              <a:rPr lang="vi-VN" dirty="0">
                <a:latin typeface="Arial"/>
                <a:cs typeface="Arial"/>
              </a:rPr>
              <a:t> </a:t>
            </a:r>
          </a:p>
          <a:p>
            <a:r>
              <a:rPr lang="vi-VN" dirty="0">
                <a:solidFill>
                  <a:srgbClr val="FF0000"/>
                </a:solidFill>
                <a:latin typeface="Arial"/>
                <a:cs typeface="Arial"/>
              </a:rPr>
              <a:t>Không có quy trình , luồng xử </a:t>
            </a:r>
            <a:r>
              <a:rPr lang="vi-VN" dirty="0" smtClean="0">
                <a:solidFill>
                  <a:srgbClr val="FF0000"/>
                </a:solidFill>
                <a:latin typeface="Arial"/>
                <a:cs typeface="Arial"/>
              </a:rPr>
              <a:t>lý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Arial"/>
                <a:cs typeface="Arial"/>
              </a:rPr>
              <a:t>sự</a:t>
            </a:r>
            <a:r>
              <a:rPr lang="en-US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Arial"/>
                <a:cs typeface="Arial"/>
              </a:rPr>
              <a:t>cố</a:t>
            </a:r>
            <a:r>
              <a:rPr lang="vi-VN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vi-VN" dirty="0">
                <a:solidFill>
                  <a:srgbClr val="FF0000"/>
                </a:solidFill>
                <a:latin typeface="Arial"/>
                <a:cs typeface="Arial"/>
              </a:rPr>
              <a:t>cụ </a:t>
            </a:r>
            <a:r>
              <a:rPr lang="vi-VN" dirty="0" smtClean="0">
                <a:solidFill>
                  <a:srgbClr val="FF0000"/>
                </a:solidFill>
                <a:latin typeface="Arial"/>
                <a:cs typeface="Arial"/>
              </a:rPr>
              <a:t>thể</a:t>
            </a:r>
            <a:r>
              <a:rPr lang="en-US" dirty="0" smtClean="0">
                <a:latin typeface="Arial"/>
                <a:cs typeface="Arial"/>
              </a:rPr>
              <a:t> (</a:t>
            </a:r>
            <a:r>
              <a:rPr lang="en-US" dirty="0" err="1" smtClean="0">
                <a:latin typeface="Arial"/>
                <a:cs typeface="Arial"/>
              </a:rPr>
              <a:t>Mới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chỉ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về</a:t>
            </a:r>
            <a:r>
              <a:rPr lang="en-US" dirty="0" smtClean="0">
                <a:latin typeface="Arial"/>
                <a:cs typeface="Arial"/>
              </a:rPr>
              <a:t> con </a:t>
            </a:r>
            <a:r>
              <a:rPr lang="en-US" dirty="0" err="1" smtClean="0">
                <a:latin typeface="Arial"/>
                <a:cs typeface="Arial"/>
              </a:rPr>
              <a:t>người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chưa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có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về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kĩ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thuật</a:t>
            </a:r>
            <a:r>
              <a:rPr lang="en-US" dirty="0" smtClean="0">
                <a:latin typeface="Arial"/>
                <a:cs typeface="Arial"/>
              </a:rPr>
              <a:t>).</a:t>
            </a:r>
            <a:endParaRPr lang="vi-VN" dirty="0">
              <a:latin typeface="Arial"/>
              <a:cs typeface="Arial"/>
            </a:endParaRPr>
          </a:p>
          <a:p>
            <a:r>
              <a:rPr lang="en-US" dirty="0" err="1" smtClean="0">
                <a:latin typeface="Arial"/>
              </a:rPr>
              <a:t>Thông</a:t>
            </a:r>
            <a:r>
              <a:rPr lang="en-US" dirty="0" smtClean="0">
                <a:latin typeface="Arial"/>
              </a:rPr>
              <a:t> tin </a:t>
            </a:r>
            <a:r>
              <a:rPr lang="en-US" dirty="0" err="1" smtClean="0">
                <a:latin typeface="Arial"/>
              </a:rPr>
              <a:t>được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giám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sát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không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có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quy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chuẩn</a:t>
            </a:r>
            <a:r>
              <a:rPr lang="en-US" dirty="0" smtClean="0">
                <a:latin typeface="Arial"/>
              </a:rPr>
              <a:t>.</a:t>
            </a:r>
          </a:p>
          <a:p>
            <a:pPr lvl="1"/>
            <a:r>
              <a:rPr lang="en-US" dirty="0" err="1" smtClean="0">
                <a:latin typeface="Arial"/>
              </a:rPr>
              <a:t>Phân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loại</a:t>
            </a:r>
            <a:r>
              <a:rPr lang="en-US" dirty="0" smtClean="0">
                <a:latin typeface="Arial"/>
              </a:rPr>
              <a:t>, </a:t>
            </a:r>
            <a:r>
              <a:rPr lang="en-US" dirty="0" err="1" smtClean="0">
                <a:latin typeface="Arial"/>
              </a:rPr>
              <a:t>xác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định</a:t>
            </a:r>
            <a:r>
              <a:rPr lang="en-US" dirty="0" smtClean="0">
                <a:latin typeface="Arial"/>
              </a:rPr>
              <a:t> log </a:t>
            </a:r>
            <a:r>
              <a:rPr lang="en-US" dirty="0" err="1" smtClean="0">
                <a:latin typeface="Arial"/>
              </a:rPr>
              <a:t>cần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lấy</a:t>
            </a:r>
            <a:r>
              <a:rPr lang="en-US" dirty="0" smtClean="0">
                <a:latin typeface="Arial"/>
              </a:rPr>
              <a:t>.</a:t>
            </a:r>
            <a:endParaRPr lang="en-US" dirty="0">
              <a:latin typeface="Arial"/>
            </a:endParaRPr>
          </a:p>
          <a:p>
            <a:pPr lvl="1"/>
            <a:r>
              <a:rPr lang="en-US" dirty="0" err="1" smtClean="0">
                <a:latin typeface="Arial"/>
              </a:rPr>
              <a:t>Cách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lấy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các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loại</a:t>
            </a:r>
            <a:r>
              <a:rPr lang="en-US" dirty="0" smtClean="0">
                <a:latin typeface="Arial"/>
              </a:rPr>
              <a:t> log, </a:t>
            </a:r>
            <a:r>
              <a:rPr lang="en-US" dirty="0" err="1" smtClean="0">
                <a:latin typeface="Arial"/>
              </a:rPr>
              <a:t>tạo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cảnh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báo</a:t>
            </a:r>
            <a:r>
              <a:rPr lang="en-US" dirty="0" smtClean="0">
                <a:latin typeface="Arial"/>
              </a:rPr>
              <a:t> … .</a:t>
            </a:r>
            <a:endParaRPr lang="vi-VN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856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620D128-2C7E-0C56-5AF2-0ABE5ADEE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Arial"/>
              </a:rPr>
              <a:t>Mục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tiêu</a:t>
            </a:r>
            <a:endParaRPr lang="vi-VN" dirty="0">
              <a:latin typeface="Arial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E335F7BB-8148-CAE7-0D29-2B3621918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Tx/>
              <a:buChar char="-"/>
            </a:pPr>
            <a:r>
              <a:rPr lang="en-US" dirty="0" err="1" smtClean="0">
                <a:latin typeface="Arial"/>
              </a:rPr>
              <a:t>Xây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dựng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hệ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thống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giám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sát</a:t>
            </a:r>
            <a:r>
              <a:rPr lang="en-US" dirty="0" smtClean="0">
                <a:latin typeface="Arial"/>
              </a:rPr>
              <a:t> an </a:t>
            </a:r>
            <a:r>
              <a:rPr lang="en-US" dirty="0" err="1" smtClean="0">
                <a:latin typeface="Arial"/>
              </a:rPr>
              <a:t>ninh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hạ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tầng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tập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trung</a:t>
            </a:r>
            <a:r>
              <a:rPr lang="en-US" dirty="0" smtClean="0">
                <a:latin typeface="Arial"/>
              </a:rPr>
              <a:t> : </a:t>
            </a:r>
          </a:p>
          <a:p>
            <a:pPr lvl="1">
              <a:buFontTx/>
              <a:buChar char="-"/>
            </a:pPr>
            <a:r>
              <a:rPr lang="en-US" dirty="0" err="1" smtClean="0">
                <a:latin typeface="Arial"/>
              </a:rPr>
              <a:t>Tất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cả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nhật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kí</a:t>
            </a:r>
            <a:r>
              <a:rPr lang="en-US" dirty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và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sự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kiện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bảo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mật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của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tất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cả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các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thiết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bị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sẽ</a:t>
            </a:r>
            <a:r>
              <a:rPr lang="en-US" dirty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đẩy</a:t>
            </a:r>
            <a:r>
              <a:rPr lang="en-US" dirty="0" smtClean="0">
                <a:latin typeface="Arial"/>
              </a:rPr>
              <a:t> ,</a:t>
            </a:r>
            <a:r>
              <a:rPr lang="en-US" dirty="0" err="1" smtClean="0">
                <a:latin typeface="Arial"/>
              </a:rPr>
              <a:t>lưu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và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xử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lý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tập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trung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trong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cùng</a:t>
            </a:r>
            <a:r>
              <a:rPr lang="en-US" dirty="0" smtClean="0">
                <a:latin typeface="Arial"/>
              </a:rPr>
              <a:t> 1 </a:t>
            </a:r>
            <a:r>
              <a:rPr lang="en-US" dirty="0" err="1" smtClean="0">
                <a:latin typeface="Arial"/>
              </a:rPr>
              <a:t>hệ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thống</a:t>
            </a:r>
            <a:r>
              <a:rPr lang="en-US" dirty="0">
                <a:latin typeface="Arial"/>
              </a:rPr>
              <a:t>.</a:t>
            </a:r>
            <a:endParaRPr lang="en-US" dirty="0" smtClean="0">
              <a:latin typeface="Arial"/>
            </a:endParaRPr>
          </a:p>
          <a:p>
            <a:pPr>
              <a:buFontTx/>
              <a:buChar char="-"/>
            </a:pPr>
            <a:r>
              <a:rPr lang="en-US" dirty="0" err="1" smtClean="0">
                <a:latin typeface="Arial"/>
              </a:rPr>
              <a:t>Xây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dựng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hệ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thống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xử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lý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sự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cố</a:t>
            </a:r>
            <a:r>
              <a:rPr lang="en-US" dirty="0" smtClean="0">
                <a:latin typeface="Arial"/>
              </a:rPr>
              <a:t> an </a:t>
            </a:r>
            <a:r>
              <a:rPr lang="en-US" dirty="0" err="1" smtClean="0">
                <a:latin typeface="Arial"/>
              </a:rPr>
              <a:t>ninh</a:t>
            </a:r>
            <a:r>
              <a:rPr lang="en-US" dirty="0" smtClean="0">
                <a:latin typeface="Arial"/>
              </a:rPr>
              <a:t> :</a:t>
            </a:r>
          </a:p>
          <a:p>
            <a:pPr lvl="1">
              <a:buFontTx/>
              <a:buChar char="-"/>
            </a:pPr>
            <a:r>
              <a:rPr lang="en-US" dirty="0" err="1" smtClean="0">
                <a:latin typeface="Arial"/>
              </a:rPr>
              <a:t>Phân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tích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các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cảnh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báo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hoặc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sự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cố</a:t>
            </a:r>
            <a:r>
              <a:rPr lang="en-US" dirty="0" smtClean="0">
                <a:latin typeface="Arial"/>
              </a:rPr>
              <a:t> an </a:t>
            </a:r>
            <a:r>
              <a:rPr lang="en-US" dirty="0" err="1" smtClean="0">
                <a:latin typeface="Arial"/>
              </a:rPr>
              <a:t>ninh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khi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và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sau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khi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xảy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tra</a:t>
            </a:r>
            <a:r>
              <a:rPr lang="en-US" dirty="0" smtClean="0">
                <a:latin typeface="Arial"/>
              </a:rPr>
              <a:t>.</a:t>
            </a:r>
          </a:p>
          <a:p>
            <a:pPr lvl="1">
              <a:buFontTx/>
              <a:buChar char="-"/>
            </a:pPr>
            <a:r>
              <a:rPr lang="en-US" dirty="0" err="1" smtClean="0">
                <a:latin typeface="Arial"/>
              </a:rPr>
              <a:t>Xây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dựng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các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quy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trình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và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luồng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xử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lý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sự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cố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khi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xảy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ra.</a:t>
            </a:r>
            <a:endParaRPr lang="en-US" dirty="0" smtClean="0">
              <a:latin typeface="Arial"/>
            </a:endParaRPr>
          </a:p>
          <a:p>
            <a:pPr>
              <a:buFontTx/>
              <a:buChar char="-"/>
            </a:pPr>
            <a:r>
              <a:rPr lang="en-US" dirty="0" err="1" smtClean="0">
                <a:latin typeface="Arial"/>
              </a:rPr>
              <a:t>Tích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hợp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tự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động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hóa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vào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hệ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thống</a:t>
            </a:r>
            <a:r>
              <a:rPr lang="en-US" dirty="0" smtClean="0">
                <a:latin typeface="Arial"/>
              </a:rPr>
              <a:t> SOC.</a:t>
            </a:r>
            <a:endParaRPr lang="en-US" dirty="0">
              <a:latin typeface="Arial"/>
            </a:endParaRPr>
          </a:p>
          <a:p>
            <a:pPr>
              <a:buFontTx/>
              <a:buChar char="-"/>
            </a:pPr>
            <a:r>
              <a:rPr lang="en-US" dirty="0" err="1" smtClean="0">
                <a:latin typeface="Arial"/>
              </a:rPr>
              <a:t>Thiết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lập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giám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sát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cảnh</a:t>
            </a:r>
            <a:r>
              <a:rPr lang="en-US" dirty="0" smtClean="0">
                <a:latin typeface="Arial"/>
              </a:rPr>
              <a:t> </a:t>
            </a:r>
            <a:r>
              <a:rPr lang="en-US" dirty="0" err="1" smtClean="0">
                <a:latin typeface="Arial"/>
              </a:rPr>
              <a:t>báo</a:t>
            </a:r>
            <a:r>
              <a:rPr lang="en-US" dirty="0" smtClean="0">
                <a:latin typeface="Arial"/>
              </a:rPr>
              <a:t> 24/24</a:t>
            </a:r>
          </a:p>
        </p:txBody>
      </p:sp>
    </p:spTree>
    <p:extLst>
      <p:ext uri="{BB962C8B-B14F-4D97-AF65-F5344CB8AC3E}">
        <p14:creationId xmlns:p14="http://schemas.microsoft.com/office/powerpoint/2010/main" val="12703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6933D3-AC7A-4D13-9E3F-77ADD7F40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0">
                <a:ea typeface="+mn-lt"/>
                <a:cs typeface="+mn-lt"/>
              </a:rPr>
              <a:t>INTRODUCTION</a:t>
            </a:r>
            <a:endParaRPr lang="vi-V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68AECA-BFAC-40EC-A465-8313AD865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i="1">
                <a:ea typeface="+mn-lt"/>
                <a:cs typeface="+mn-lt"/>
              </a:rPr>
              <a:t>Technology in the SOC</a:t>
            </a:r>
            <a:endParaRPr lang="vi-VN" b="1" i="1">
              <a:latin typeface="Arial"/>
              <a:ea typeface="+mn-lt"/>
              <a:cs typeface="Arial"/>
            </a:endParaRPr>
          </a:p>
          <a:p>
            <a:pPr marL="0" indent="0">
              <a:buNone/>
            </a:pPr>
            <a:r>
              <a:rPr lang="en-US"/>
              <a:t/>
            </a:r>
            <a:br>
              <a:rPr lang="en-US"/>
            </a:br>
            <a:endParaRPr lang="en-US"/>
          </a:p>
          <a:p>
            <a:endParaRPr lang="en-US">
              <a:cs typeface="Calibri"/>
            </a:endParaRPr>
          </a:p>
        </p:txBody>
      </p:sp>
      <p:pic>
        <p:nvPicPr>
          <p:cNvPr id="9" name="Hình ảnh 9">
            <a:extLst>
              <a:ext uri="{FF2B5EF4-FFF2-40B4-BE49-F238E27FC236}">
                <a16:creationId xmlns:a16="http://schemas.microsoft.com/office/drawing/2014/main" id="{8D5A3ECF-6883-4F9D-BC18-0CF446886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526" y="1461810"/>
            <a:ext cx="5305425" cy="454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15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EBC4E9B-37AA-4FE3-B78E-7E31BCBAF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Components of</a:t>
            </a:r>
            <a:r>
              <a:rPr lang="vi-VN">
                <a:latin typeface="Arial"/>
                <a:cs typeface="Arial"/>
              </a:rPr>
              <a:t> SOC System</a:t>
            </a:r>
            <a:endParaRPr lang="vi-VN">
              <a:latin typeface="Arial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F3C0B319-ACB7-415C-A3A2-2E1E99AB4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2456"/>
            <a:ext cx="10515600" cy="4389120"/>
          </a:xfrm>
        </p:spPr>
        <p:txBody>
          <a:bodyPr vert="horz" lIns="91440" tIns="45720" rIns="91440" bIns="45720" numCol="2" rtlCol="0" anchor="t">
            <a:normAutofit fontScale="77500" lnSpcReduction="20000"/>
          </a:bodyPr>
          <a:lstStyle/>
          <a:p>
            <a:pPr marL="228600" lvl="1" indent="0"/>
            <a:r>
              <a:rPr lang="en-US" sz="2100" b="1" dirty="0">
                <a:latin typeface="Arial"/>
                <a:cs typeface="Arial"/>
              </a:rPr>
              <a:t> </a:t>
            </a:r>
            <a:r>
              <a:rPr lang="vi-VN" sz="2000" b="1" dirty="0">
                <a:solidFill>
                  <a:srgbClr val="FF0000"/>
                </a:solidFill>
                <a:latin typeface="Arial"/>
                <a:cs typeface="Arial"/>
              </a:rPr>
              <a:t>Log collection</a:t>
            </a:r>
            <a:r>
              <a:rPr lang="vi-VN" sz="2100" b="1" dirty="0">
                <a:latin typeface="Arial"/>
                <a:cs typeface="Arial"/>
              </a:rPr>
              <a:t> </a:t>
            </a:r>
            <a:endParaRPr lang="en-US" sz="2100" b="1" dirty="0">
              <a:latin typeface="Arial"/>
              <a:cs typeface="Arial"/>
            </a:endParaRPr>
          </a:p>
          <a:p>
            <a:pPr marL="685800" lvl="2" indent="0"/>
            <a:r>
              <a:rPr lang="en-US" sz="1900" b="1" dirty="0">
                <a:latin typeface="Arial"/>
                <a:cs typeface="Arial"/>
              </a:rPr>
              <a:t> Network  (</a:t>
            </a:r>
            <a:r>
              <a:rPr lang="en-US" sz="1900" b="1" dirty="0">
                <a:solidFill>
                  <a:srgbClr val="FF0000"/>
                </a:solidFill>
                <a:latin typeface="Arial"/>
                <a:cs typeface="Arial"/>
              </a:rPr>
              <a:t>NOC</a:t>
            </a:r>
            <a:r>
              <a:rPr lang="en-US" sz="1900" b="1" dirty="0">
                <a:latin typeface="Arial"/>
                <a:cs typeface="Arial"/>
              </a:rPr>
              <a:t>)</a:t>
            </a:r>
          </a:p>
          <a:p>
            <a:pPr marL="685800" lvl="2" indent="0"/>
            <a:r>
              <a:rPr lang="en-US" sz="1900" b="1" dirty="0">
                <a:latin typeface="Arial"/>
                <a:cs typeface="Arial"/>
              </a:rPr>
              <a:t> Infrastructure </a:t>
            </a:r>
            <a:r>
              <a:rPr lang="en-US" sz="1900" b="1" dirty="0" smtClean="0">
                <a:latin typeface="Arial"/>
                <a:cs typeface="Arial"/>
              </a:rPr>
              <a:t>System</a:t>
            </a:r>
          </a:p>
          <a:p>
            <a:pPr marL="685800" lvl="2" indent="0"/>
            <a:r>
              <a:rPr lang="en-US" sz="1900" b="1" dirty="0" smtClean="0">
                <a:latin typeface="Arial"/>
                <a:cs typeface="Arial"/>
              </a:rPr>
              <a:t> Cloud</a:t>
            </a:r>
            <a:endParaRPr lang="en-US" sz="1900" b="1" dirty="0">
              <a:latin typeface="Arial"/>
              <a:cs typeface="Arial"/>
            </a:endParaRPr>
          </a:p>
          <a:p>
            <a:pPr indent="0"/>
            <a:r>
              <a:rPr lang="en-US" b="1" dirty="0">
                <a:latin typeface="Arial"/>
                <a:cs typeface="Arial"/>
              </a:rPr>
              <a:t> </a:t>
            </a:r>
            <a:r>
              <a:rPr lang="vi-VN" b="1" dirty="0">
                <a:solidFill>
                  <a:srgbClr val="FF0000"/>
                </a:solidFill>
                <a:latin typeface="Arial"/>
                <a:cs typeface="Arial"/>
              </a:rPr>
              <a:t>SIEM</a:t>
            </a:r>
            <a:endParaRPr lang="vi-VN" b="1" dirty="0">
              <a:solidFill>
                <a:srgbClr val="FF0000"/>
              </a:solidFill>
              <a:latin typeface="Arial"/>
            </a:endParaRPr>
          </a:p>
          <a:p>
            <a:pPr lvl="1"/>
            <a:r>
              <a:rPr lang="en-US" b="1" dirty="0">
                <a:latin typeface="Arial"/>
                <a:cs typeface="Arial"/>
              </a:rPr>
              <a:t>Aggregation</a:t>
            </a:r>
          </a:p>
          <a:p>
            <a:pPr lvl="1"/>
            <a:r>
              <a:rPr lang="vi-VN" b="1" dirty="0">
                <a:latin typeface="Arial"/>
                <a:cs typeface="Arial"/>
              </a:rPr>
              <a:t>Search and Alerting</a:t>
            </a:r>
            <a:endParaRPr lang="vi-VN" b="1" dirty="0">
              <a:latin typeface="Arial"/>
            </a:endParaRPr>
          </a:p>
          <a:p>
            <a:pPr lvl="1"/>
            <a:r>
              <a:rPr lang="vi-VN" b="1" dirty="0">
                <a:latin typeface="Arial"/>
                <a:ea typeface="+mn-lt"/>
                <a:cs typeface="Arial"/>
              </a:rPr>
              <a:t>Visualization dashboard</a:t>
            </a:r>
          </a:p>
          <a:p>
            <a:pPr indent="0"/>
            <a:r>
              <a:rPr lang="vi-VN" b="1" dirty="0">
                <a:latin typeface="Arial"/>
                <a:cs typeface="Arial"/>
              </a:rPr>
              <a:t> </a:t>
            </a:r>
            <a:r>
              <a:rPr lang="vi-VN" b="1" dirty="0">
                <a:solidFill>
                  <a:srgbClr val="FF0000"/>
                </a:solidFill>
                <a:latin typeface="Arial"/>
                <a:cs typeface="Arial"/>
              </a:rPr>
              <a:t>Threat Intelligence</a:t>
            </a:r>
            <a:r>
              <a:rPr lang="en-US" b="1" dirty="0">
                <a:solidFill>
                  <a:srgbClr val="FF0000"/>
                </a:solidFill>
                <a:latin typeface="Arial"/>
                <a:cs typeface="Arial"/>
              </a:rPr>
              <a:t>/Sharing</a:t>
            </a:r>
            <a:endParaRPr lang="vi-VN" b="1" dirty="0">
              <a:solidFill>
                <a:srgbClr val="FF0000"/>
              </a:solidFill>
              <a:latin typeface="Arial"/>
            </a:endParaRPr>
          </a:p>
          <a:p>
            <a:pPr lvl="1"/>
            <a:r>
              <a:rPr lang="en-US" b="1" dirty="0" smtClean="0">
                <a:latin typeface="Arial"/>
                <a:cs typeface="Arial"/>
              </a:rPr>
              <a:t>IOCs</a:t>
            </a:r>
          </a:p>
          <a:p>
            <a:pPr lvl="1"/>
            <a:r>
              <a:rPr lang="en-US" b="1" dirty="0" smtClean="0">
                <a:latin typeface="Arial"/>
                <a:cs typeface="Arial"/>
              </a:rPr>
              <a:t>Sigma</a:t>
            </a:r>
          </a:p>
          <a:p>
            <a:pPr marL="457200" lvl="1" indent="0">
              <a:buNone/>
            </a:pPr>
            <a:endParaRPr lang="en-US" b="1" dirty="0" smtClean="0">
              <a:latin typeface="Arial"/>
              <a:cs typeface="Arial"/>
            </a:endParaRPr>
          </a:p>
          <a:p>
            <a:pPr marL="457200" lvl="1" indent="0">
              <a:buNone/>
            </a:pPr>
            <a:endParaRPr lang="en-US" b="1" dirty="0">
              <a:latin typeface="Arial"/>
              <a:cs typeface="Arial"/>
            </a:endParaRPr>
          </a:p>
          <a:p>
            <a:pPr marL="457200" lvl="1" indent="0">
              <a:buNone/>
            </a:pPr>
            <a:endParaRPr lang="vi-VN" b="1" dirty="0" smtClean="0">
              <a:latin typeface="Arial"/>
              <a:cs typeface="Arial"/>
            </a:endParaRPr>
          </a:p>
          <a:p>
            <a:pPr indent="0"/>
            <a:r>
              <a:rPr lang="vi-VN" b="1" dirty="0">
                <a:latin typeface="Arial"/>
                <a:cs typeface="Arial"/>
              </a:rPr>
              <a:t> </a:t>
            </a:r>
            <a:r>
              <a:rPr lang="vi-VN" b="1" dirty="0">
                <a:solidFill>
                  <a:srgbClr val="FF0000"/>
                </a:solidFill>
                <a:latin typeface="Arial"/>
                <a:cs typeface="Arial"/>
              </a:rPr>
              <a:t>Ticket</a:t>
            </a:r>
            <a:endParaRPr lang="vi-VN" b="1" dirty="0">
              <a:solidFill>
                <a:srgbClr val="FF0000"/>
              </a:solidFill>
              <a:latin typeface="Arial"/>
            </a:endParaRPr>
          </a:p>
          <a:p>
            <a:pPr lvl="1"/>
            <a:r>
              <a:rPr lang="vi-VN" b="1" dirty="0" smtClean="0">
                <a:latin typeface="Arial"/>
                <a:cs typeface="Arial"/>
              </a:rPr>
              <a:t>Incident </a:t>
            </a:r>
            <a:r>
              <a:rPr lang="vi-VN" b="1" dirty="0">
                <a:latin typeface="Arial"/>
                <a:ea typeface="+mn-lt"/>
                <a:cs typeface="Arial"/>
              </a:rPr>
              <a:t>Response </a:t>
            </a:r>
            <a:r>
              <a:rPr lang="vi-VN" b="1" dirty="0">
                <a:latin typeface="Arial"/>
                <a:cs typeface="Arial"/>
              </a:rPr>
              <a:t>Management</a:t>
            </a:r>
          </a:p>
          <a:p>
            <a:pPr indent="0"/>
            <a:r>
              <a:rPr lang="vi-VN" b="1" dirty="0">
                <a:latin typeface="Arial"/>
                <a:cs typeface="Arial"/>
              </a:rPr>
              <a:t> </a:t>
            </a:r>
            <a:r>
              <a:rPr lang="vi-VN" b="1" dirty="0">
                <a:solidFill>
                  <a:srgbClr val="FF0000"/>
                </a:solidFill>
                <a:latin typeface="Arial"/>
                <a:cs typeface="Arial"/>
              </a:rPr>
              <a:t>SOAR</a:t>
            </a:r>
            <a:endParaRPr lang="en-US" b="1" dirty="0">
              <a:solidFill>
                <a:srgbClr val="FF0000"/>
              </a:solidFill>
              <a:latin typeface="Arial"/>
              <a:cs typeface="Arial"/>
            </a:endParaRPr>
          </a:p>
          <a:p>
            <a:pPr lvl="1"/>
            <a:r>
              <a:rPr lang="vi-VN" b="1" dirty="0">
                <a:latin typeface="Arial"/>
                <a:ea typeface="+mn-lt"/>
                <a:cs typeface="Arial"/>
              </a:rPr>
              <a:t>Security Orchestration</a:t>
            </a:r>
            <a:endParaRPr lang="vi-VN" b="1" dirty="0">
              <a:latin typeface="Arial"/>
              <a:cs typeface="Arial"/>
            </a:endParaRPr>
          </a:p>
          <a:p>
            <a:pPr lvl="1"/>
            <a:r>
              <a:rPr lang="vi-VN" b="1" dirty="0">
                <a:latin typeface="Arial"/>
                <a:ea typeface="+mn-lt"/>
                <a:cs typeface="Arial"/>
              </a:rPr>
              <a:t>Automation &amp; Response</a:t>
            </a:r>
            <a:endParaRPr lang="en-US" b="1" dirty="0">
              <a:latin typeface="Arial"/>
              <a:cs typeface="Arial"/>
            </a:endParaRPr>
          </a:p>
          <a:p>
            <a:pPr indent="0"/>
            <a:r>
              <a:rPr lang="en-US" b="1" dirty="0">
                <a:latin typeface="Arial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Arial"/>
              </a:rPr>
              <a:t>Forensic </a:t>
            </a:r>
            <a:endParaRPr lang="en-US" b="1" dirty="0">
              <a:solidFill>
                <a:srgbClr val="FF0000"/>
              </a:solidFill>
              <a:latin typeface="Arial"/>
            </a:endParaRPr>
          </a:p>
          <a:p>
            <a:pPr lvl="1" indent="0"/>
            <a:r>
              <a:rPr lang="en-US" b="1" dirty="0">
                <a:latin typeface="Arial"/>
              </a:rPr>
              <a:t> Analyzers </a:t>
            </a:r>
            <a:r>
              <a:rPr lang="en-US" b="1" dirty="0" smtClean="0">
                <a:latin typeface="Arial"/>
              </a:rPr>
              <a:t>&amp; </a:t>
            </a:r>
            <a:r>
              <a:rPr lang="en-US" b="1" dirty="0" err="1" smtClean="0">
                <a:latin typeface="Arial"/>
              </a:rPr>
              <a:t>Analystor</a:t>
            </a:r>
            <a:endParaRPr lang="en-US" b="1" dirty="0">
              <a:latin typeface="Arial"/>
            </a:endParaRPr>
          </a:p>
          <a:p>
            <a:pPr lvl="1" indent="0"/>
            <a:r>
              <a:rPr lang="en-US" b="1" dirty="0" smtClean="0">
                <a:latin typeface="Arial"/>
              </a:rPr>
              <a:t> Playbook</a:t>
            </a:r>
          </a:p>
          <a:p>
            <a:pPr marL="571500" indent="-342900" algn="l"/>
            <a:r>
              <a:rPr lang="en-US" b="1" dirty="0" smtClean="0">
                <a:solidFill>
                  <a:srgbClr val="FF0000"/>
                </a:solidFill>
                <a:latin typeface="Arial"/>
              </a:rPr>
              <a:t>Monitoring</a:t>
            </a:r>
          </a:p>
          <a:p>
            <a:pPr marL="1028700" lvl="1" indent="-342900" algn="l"/>
            <a:r>
              <a:rPr lang="en-US" b="1" dirty="0" err="1" smtClean="0">
                <a:latin typeface="Arial"/>
              </a:rPr>
              <a:t>OpenCTI</a:t>
            </a:r>
            <a:endParaRPr lang="en-US" b="1" dirty="0" smtClean="0">
              <a:latin typeface="Arial"/>
            </a:endParaRPr>
          </a:p>
          <a:p>
            <a:pPr marL="1028700" lvl="1" indent="-342900" algn="l"/>
            <a:r>
              <a:rPr lang="en-US" b="1" dirty="0" err="1" smtClean="0">
                <a:latin typeface="Arial"/>
              </a:rPr>
              <a:t>Grafana</a:t>
            </a:r>
            <a:endParaRPr lang="en-US" b="1" dirty="0" smtClean="0">
              <a:latin typeface="Arial"/>
            </a:endParaRPr>
          </a:p>
          <a:p>
            <a:pPr lvl="1" indent="0"/>
            <a:endParaRPr lang="vi-VN" b="1" dirty="0">
              <a:latin typeface="Arial"/>
            </a:endParaRPr>
          </a:p>
          <a:p>
            <a:pPr marL="0" indent="0">
              <a:buNone/>
            </a:pPr>
            <a:endParaRPr lang="en-US" b="1" dirty="0">
              <a:latin typeface="Arial"/>
              <a:ea typeface="+mn-lt"/>
              <a:cs typeface="Arial"/>
            </a:endParaRPr>
          </a:p>
          <a:p>
            <a:pPr marL="457200" lvl="1" indent="0">
              <a:buNone/>
            </a:pPr>
            <a:endParaRPr lang="vi-VN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0888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E064FE4-9641-45DD-8FD5-F8685799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Workflow of SOC System</a:t>
            </a:r>
            <a:endParaRPr lang="vi-VN" b="0" err="1">
              <a:ea typeface="+mn-lt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983" y="1228725"/>
            <a:ext cx="9328034" cy="4948238"/>
          </a:xfrm>
        </p:spPr>
      </p:pic>
    </p:spTree>
    <p:extLst>
      <p:ext uri="{BB962C8B-B14F-4D97-AF65-F5344CB8AC3E}">
        <p14:creationId xmlns:p14="http://schemas.microsoft.com/office/powerpoint/2010/main" val="2157534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E064FE4-9641-45DD-8FD5-F8685799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SOC System </a:t>
            </a:r>
            <a:r>
              <a:rPr lang="en-US" dirty="0" smtClean="0">
                <a:latin typeface="Arial"/>
                <a:cs typeface="Arial"/>
              </a:rPr>
              <a:t>Architecture</a:t>
            </a:r>
            <a:endParaRPr lang="vi-VN" b="0" dirty="0">
              <a:ea typeface="+mn-lt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316" y="1026501"/>
            <a:ext cx="10300429" cy="518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36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5836" y="534131"/>
            <a:ext cx="11047140" cy="548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719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E064FE4-9641-45DD-8FD5-F8685799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SOC </a:t>
            </a:r>
            <a:r>
              <a:rPr lang="en-US" dirty="0" smtClean="0">
                <a:latin typeface="Arial"/>
                <a:cs typeface="Arial"/>
              </a:rPr>
              <a:t>System Deployment</a:t>
            </a:r>
            <a:endParaRPr lang="vi-VN" b="0" dirty="0">
              <a:ea typeface="+mn-lt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19891"/>
            <a:ext cx="10515600" cy="4765906"/>
          </a:xfrm>
        </p:spPr>
      </p:pic>
    </p:spTree>
    <p:extLst>
      <p:ext uri="{BB962C8B-B14F-4D97-AF65-F5344CB8AC3E}">
        <p14:creationId xmlns:p14="http://schemas.microsoft.com/office/powerpoint/2010/main" val="259337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254" y="331713"/>
            <a:ext cx="10515600" cy="736088"/>
          </a:xfrm>
        </p:spPr>
        <p:txBody>
          <a:bodyPr/>
          <a:lstStyle/>
          <a:p>
            <a:r>
              <a:rPr lang="en-US" dirty="0" smtClean="0"/>
              <a:t>TỔNG QUAN KẾT QUẢ SAU 3 THÁNG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1715369"/>
              </p:ext>
            </p:extLst>
          </p:nvPr>
        </p:nvGraphicFramePr>
        <p:xfrm>
          <a:off x="1824405" y="1067801"/>
          <a:ext cx="9289073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934">
                  <a:extLst>
                    <a:ext uri="{9D8B030D-6E8A-4147-A177-3AD203B41FA5}">
                      <a16:colId xmlns:a16="http://schemas.microsoft.com/office/drawing/2014/main" val="93332622"/>
                    </a:ext>
                  </a:extLst>
                </a:gridCol>
                <a:gridCol w="3929993">
                  <a:extLst>
                    <a:ext uri="{9D8B030D-6E8A-4147-A177-3AD203B41FA5}">
                      <a16:colId xmlns:a16="http://schemas.microsoft.com/office/drawing/2014/main" val="1608465460"/>
                    </a:ext>
                  </a:extLst>
                </a:gridCol>
                <a:gridCol w="3847146">
                  <a:extLst>
                    <a:ext uri="{9D8B030D-6E8A-4147-A177-3AD203B41FA5}">
                      <a16:colId xmlns:a16="http://schemas.microsoft.com/office/drawing/2014/main" val="1397573747"/>
                    </a:ext>
                  </a:extLst>
                </a:gridCol>
              </a:tblGrid>
              <a:tr h="270925"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smtClean="0"/>
                        <a:t>HỆ THỐNG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ĐÃ</a:t>
                      </a:r>
                      <a:r>
                        <a:rPr lang="en-US" baseline="0" dirty="0" smtClean="0"/>
                        <a:t> LÀM ĐƯỢC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CHƯA</a:t>
                      </a:r>
                      <a:r>
                        <a:rPr lang="en-US" baseline="0" dirty="0" smtClean="0"/>
                        <a:t> LÀM ĐƯỢC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216648"/>
                  </a:ext>
                </a:extLst>
              </a:tr>
              <a:tr h="88050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Mô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hình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 </a:t>
                      </a:r>
                      <a:r>
                        <a:rPr lang="en-US" dirty="0" err="1" smtClean="0"/>
                        <a:t>Đã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thiết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kế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được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="1" baseline="0" dirty="0" err="1" smtClean="0"/>
                        <a:t>mô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hình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đầy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đủ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aseline="0" dirty="0" err="1" smtClean="0"/>
                        <a:t>các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thành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phần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trong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hệ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thống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có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vận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hành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="1" baseline="0" dirty="0" err="1" smtClean="0"/>
                        <a:t>nhưng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chỉ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áp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dụng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được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trong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môi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trường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nhỏ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aseline="0" dirty="0" smtClean="0"/>
                        <a:t>(local)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Mô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hình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chưa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thiết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kế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aseline="0" dirty="0" err="1" smtClean="0"/>
                        <a:t>các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giải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pháp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đảm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bảo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hệ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thống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vận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="1" baseline="0" dirty="0" err="1" smtClean="0"/>
                        <a:t>hành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luôn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sẵn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sàng</a:t>
                      </a:r>
                      <a:r>
                        <a:rPr lang="en-US" b="1" baseline="0" dirty="0" smtClean="0"/>
                        <a:t>, </a:t>
                      </a:r>
                      <a:r>
                        <a:rPr lang="en-US" b="1" baseline="0" dirty="0" err="1" smtClean="0"/>
                        <a:t>dữ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liệu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được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toàn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vẹn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248993"/>
                  </a:ext>
                </a:extLst>
              </a:tr>
              <a:tr h="2709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656307"/>
                  </a:ext>
                </a:extLst>
              </a:tr>
              <a:tr h="108369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Triển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khai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 err="1" smtClean="0"/>
                        <a:t>Các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thành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phần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trong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hệ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thống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="1" baseline="0" dirty="0" err="1" smtClean="0">
                          <a:solidFill>
                            <a:schemeClr val="tx1"/>
                          </a:solidFill>
                        </a:rPr>
                        <a:t>đã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baseline="0" dirty="0" err="1" smtClean="0">
                          <a:solidFill>
                            <a:schemeClr val="tx1"/>
                          </a:solidFill>
                        </a:rPr>
                        <a:t>được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baseline="0" dirty="0" err="1" smtClean="0">
                          <a:solidFill>
                            <a:schemeClr val="tx1"/>
                          </a:solidFill>
                        </a:rPr>
                        <a:t>triển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baseline="0" dirty="0" err="1" smtClean="0">
                          <a:solidFill>
                            <a:schemeClr val="tx1"/>
                          </a:solidFill>
                        </a:rPr>
                        <a:t>khai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aseline="0" dirty="0" err="1" smtClean="0"/>
                        <a:t>trên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hệ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thống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</a:rPr>
                        <a:t>Docker Swarm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aseline="0" dirty="0" err="1" smtClean="0"/>
                        <a:t>Các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dữ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liệu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quan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="1" baseline="0" dirty="0" err="1" smtClean="0"/>
                        <a:t>trọng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đều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được</a:t>
                      </a:r>
                      <a:r>
                        <a:rPr lang="en-US" b="1" baseline="0" dirty="0" smtClean="0"/>
                        <a:t> mount </a:t>
                      </a:r>
                      <a:r>
                        <a:rPr lang="en-US" b="1" baseline="0" dirty="0" err="1" smtClean="0"/>
                        <a:t>ra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ngoài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lưu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trữ</a:t>
                      </a:r>
                      <a:r>
                        <a:rPr lang="en-US" baseline="0" dirty="0" smtClean="0"/>
                        <a:t>/backup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b="1" baseline="0" dirty="0" err="1" smtClean="0"/>
                        <a:t>Chưa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tính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toán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aseline="0" dirty="0" err="1" smtClean="0"/>
                        <a:t>được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số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liệu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tài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nguyên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cần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thiết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cho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hệ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thống</a:t>
                      </a:r>
                      <a:r>
                        <a:rPr lang="en-US" baseline="0" dirty="0" smtClean="0"/>
                        <a:t>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="1" dirty="0" err="1" smtClean="0"/>
                        <a:t>Chưa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có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giải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pháp</a:t>
                      </a:r>
                      <a:r>
                        <a:rPr lang="en-US" baseline="0" dirty="0" smtClean="0"/>
                        <a:t> backup </a:t>
                      </a:r>
                      <a:r>
                        <a:rPr lang="en-US" baseline="0" dirty="0" err="1" smtClean="0"/>
                        <a:t>cho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hệ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thống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và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dữ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liệu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trên</a:t>
                      </a:r>
                      <a:r>
                        <a:rPr lang="en-US" baseline="0" dirty="0" smtClean="0"/>
                        <a:t> NFS.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5828082"/>
                  </a:ext>
                </a:extLst>
              </a:tr>
              <a:tr h="2709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201037"/>
                  </a:ext>
                </a:extLst>
              </a:tr>
              <a:tr h="88050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Vận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hành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baseline="0" dirty="0" err="1" smtClean="0"/>
                        <a:t>Vận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hành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được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hệ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thống</a:t>
                      </a:r>
                      <a:r>
                        <a:rPr lang="en-US" baseline="0" dirty="0" smtClean="0"/>
                        <a:t> SIEM </a:t>
                      </a:r>
                      <a:r>
                        <a:rPr lang="en-US" baseline="0" dirty="0" err="1" smtClean="0"/>
                        <a:t>và</a:t>
                      </a:r>
                      <a:r>
                        <a:rPr lang="en-US" baseline="0" dirty="0" smtClean="0"/>
                        <a:t> MONITOR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aseline="0" dirty="0" err="1" smtClean="0"/>
                        <a:t>Xử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lý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được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LogCollection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b="1" dirty="0" err="1" smtClean="0"/>
                        <a:t>Chưa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đưa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sự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cố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vào</a:t>
                      </a:r>
                      <a:r>
                        <a:rPr lang="en-US" baseline="0" dirty="0" smtClean="0"/>
                        <a:t> SOAR, THEHIVE VÀ ANALYZER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="1" baseline="0" dirty="0" err="1" smtClean="0"/>
                        <a:t>Chưa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có</a:t>
                      </a:r>
                      <a:r>
                        <a:rPr lang="en-US" b="1" baseline="0" dirty="0" smtClean="0"/>
                        <a:t> Flow </a:t>
                      </a:r>
                      <a:r>
                        <a:rPr lang="en-US" baseline="0" dirty="0" smtClean="0"/>
                        <a:t>chi </a:t>
                      </a:r>
                      <a:r>
                        <a:rPr lang="en-US" baseline="0" dirty="0" err="1" smtClean="0"/>
                        <a:t>tiết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xử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lý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các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trường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hợp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cụ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thể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212171"/>
                  </a:ext>
                </a:extLst>
              </a:tr>
              <a:tr h="27092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279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1077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WAZUH-SIEM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5872306"/>
              </p:ext>
            </p:extLst>
          </p:nvPr>
        </p:nvGraphicFramePr>
        <p:xfrm>
          <a:off x="838200" y="1228725"/>
          <a:ext cx="10515600" cy="431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9238817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904488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73517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ĐÃ</a:t>
                      </a:r>
                      <a:r>
                        <a:rPr lang="en-US" baseline="0" dirty="0" smtClean="0"/>
                        <a:t> LÀM ĐƯỢC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CHƯA</a:t>
                      </a:r>
                      <a:r>
                        <a:rPr lang="en-US" baseline="0" dirty="0" smtClean="0"/>
                        <a:t> LÀM ĐƯỢC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GIẢI</a:t>
                      </a:r>
                      <a:r>
                        <a:rPr lang="en-US" baseline="0" dirty="0" smtClean="0"/>
                        <a:t> PHÁP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241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Lấy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được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toàn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bộ</a:t>
                      </a:r>
                      <a:r>
                        <a:rPr lang="en-US" baseline="0" dirty="0" smtClean="0"/>
                        <a:t> log </a:t>
                      </a:r>
                      <a:r>
                        <a:rPr lang="en-US" baseline="0" dirty="0" err="1" smtClean="0"/>
                        <a:t>trừ</a:t>
                      </a:r>
                      <a:r>
                        <a:rPr lang="en-US" baseline="0" dirty="0" smtClean="0"/>
                        <a:t> KAS, F5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Chưa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lấy</a:t>
                      </a:r>
                      <a:r>
                        <a:rPr lang="en-US" baseline="0" dirty="0" smtClean="0"/>
                        <a:t> log </a:t>
                      </a:r>
                      <a:r>
                        <a:rPr lang="en-US" baseline="0" dirty="0" err="1" smtClean="0"/>
                        <a:t>từ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smtClean="0"/>
                        <a:t>KAS, F5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Có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492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dụng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cấu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hình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defaut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của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wazuh</a:t>
                      </a:r>
                      <a:r>
                        <a:rPr lang="en-US" baseline="0" dirty="0" smtClean="0"/>
                        <a:t>-agent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Rà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soát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tối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ưu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cấu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hình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của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wazuh</a:t>
                      </a:r>
                      <a:r>
                        <a:rPr lang="en-US" baseline="0" dirty="0" smtClean="0"/>
                        <a:t> agent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Có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969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dụng</a:t>
                      </a:r>
                      <a:r>
                        <a:rPr lang="en-US" baseline="0" dirty="0" smtClean="0"/>
                        <a:t> syslog </a:t>
                      </a:r>
                      <a:r>
                        <a:rPr lang="en-US" baseline="0" dirty="0" err="1" smtClean="0"/>
                        <a:t>để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nhận</a:t>
                      </a:r>
                      <a:r>
                        <a:rPr lang="en-US" baseline="0" dirty="0" smtClean="0"/>
                        <a:t> log </a:t>
                      </a:r>
                      <a:r>
                        <a:rPr lang="en-US" baseline="0" dirty="0" err="1" smtClean="0"/>
                        <a:t>từ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các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thiết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bị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mạng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Chưa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hoàn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thành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cấu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hình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các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thiết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bị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mạng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đẩy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về</a:t>
                      </a:r>
                      <a:r>
                        <a:rPr lang="en-US" baseline="0" dirty="0" smtClean="0"/>
                        <a:t> syslog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Có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00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dụng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tích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hợp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gửi</a:t>
                      </a:r>
                      <a:r>
                        <a:rPr lang="en-US" baseline="0" dirty="0" smtClean="0"/>
                        <a:t> alert qua </a:t>
                      </a:r>
                      <a:r>
                        <a:rPr lang="en-US" baseline="0" dirty="0" err="1" smtClean="0"/>
                        <a:t>webhook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Chưa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tích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hợp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rà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quét</a:t>
                      </a:r>
                      <a:r>
                        <a:rPr lang="en-US" baseline="0" dirty="0" smtClean="0"/>
                        <a:t> CVE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Có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539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dụng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phiên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bản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mới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nhất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của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wazuh</a:t>
                      </a:r>
                      <a:r>
                        <a:rPr lang="en-US" baseline="0" dirty="0" smtClean="0"/>
                        <a:t> – 4.3.1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Chưa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cập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nhật</a:t>
                      </a:r>
                      <a:r>
                        <a:rPr lang="en-US" baseline="0" dirty="0" smtClean="0"/>
                        <a:t> agent </a:t>
                      </a:r>
                      <a:r>
                        <a:rPr lang="en-US" baseline="0" dirty="0" err="1" smtClean="0"/>
                        <a:t>lên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phiên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bản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mới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nhất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Có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853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Tự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viết</a:t>
                      </a:r>
                      <a:r>
                        <a:rPr lang="en-US" baseline="0" dirty="0" smtClean="0"/>
                        <a:t> decode </a:t>
                      </a:r>
                      <a:r>
                        <a:rPr lang="en-US" baseline="0" dirty="0" err="1" smtClean="0"/>
                        <a:t>và</a:t>
                      </a:r>
                      <a:r>
                        <a:rPr lang="en-US" baseline="0" dirty="0" smtClean="0"/>
                        <a:t> rule </a:t>
                      </a:r>
                      <a:r>
                        <a:rPr lang="en-US" baseline="0" dirty="0" err="1" smtClean="0"/>
                        <a:t>cho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wazuh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Chưa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thêm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và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sửa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các</a:t>
                      </a:r>
                      <a:r>
                        <a:rPr lang="en-US" baseline="0" dirty="0" smtClean="0"/>
                        <a:t> rule </a:t>
                      </a:r>
                      <a:r>
                        <a:rPr lang="en-US" baseline="0" dirty="0" err="1" smtClean="0"/>
                        <a:t>cần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thiết</a:t>
                      </a:r>
                      <a:r>
                        <a:rPr lang="en-US" baseline="0" dirty="0" smtClean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Có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3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830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9846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SOAR (Shuffle-n8n)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6155117"/>
              </p:ext>
            </p:extLst>
          </p:nvPr>
        </p:nvGraphicFramePr>
        <p:xfrm>
          <a:off x="838200" y="1228725"/>
          <a:ext cx="10515600" cy="3798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9238817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904488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73517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ĐÃ</a:t>
                      </a:r>
                      <a:r>
                        <a:rPr lang="en-US" baseline="0" dirty="0" smtClean="0"/>
                        <a:t> LÀM ĐƯỢC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CHƯA</a:t>
                      </a:r>
                      <a:r>
                        <a:rPr lang="en-US" baseline="0" dirty="0" smtClean="0"/>
                        <a:t> LÀM ĐƯỢC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GIẢI</a:t>
                      </a:r>
                      <a:r>
                        <a:rPr lang="en-US" baseline="0" dirty="0" smtClean="0"/>
                        <a:t> PHÁP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241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Triển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khai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được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hệ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thống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Chưa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tạo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được</a:t>
                      </a:r>
                      <a:r>
                        <a:rPr lang="en-US" baseline="0" dirty="0" smtClean="0"/>
                        <a:t> Flow </a:t>
                      </a:r>
                      <a:r>
                        <a:rPr lang="en-US" baseline="0" dirty="0" err="1" smtClean="0"/>
                        <a:t>cụ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vấn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hành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 smtClean="0"/>
                        <a:t>Dựng</a:t>
                      </a:r>
                      <a:r>
                        <a:rPr lang="en-US" baseline="0" dirty="0" smtClean="0"/>
                        <a:t> Flow </a:t>
                      </a:r>
                      <a:r>
                        <a:rPr lang="en-US" baseline="0" dirty="0" err="1" smtClean="0"/>
                        <a:t>cụ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vận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hành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492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dụng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nghiệm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thành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công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lấy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và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xử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lý</a:t>
                      </a:r>
                      <a:r>
                        <a:rPr lang="en-US" baseline="0" dirty="0" smtClean="0"/>
                        <a:t> log </a:t>
                      </a:r>
                      <a:r>
                        <a:rPr lang="en-US" baseline="0" dirty="0" err="1" smtClean="0"/>
                        <a:t>từ</a:t>
                      </a:r>
                      <a:r>
                        <a:rPr lang="en-US" baseline="0" dirty="0" smtClean="0"/>
                        <a:t> SIEM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969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00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539874"/>
                  </a:ext>
                </a:extLst>
              </a:tr>
              <a:tr h="6637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853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3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830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6302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THEHIVE-CORTEX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6155117"/>
              </p:ext>
            </p:extLst>
          </p:nvPr>
        </p:nvGraphicFramePr>
        <p:xfrm>
          <a:off x="838200" y="1228725"/>
          <a:ext cx="10515600" cy="3798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9238817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904488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73517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ĐÃ</a:t>
                      </a:r>
                      <a:r>
                        <a:rPr lang="en-US" baseline="0" dirty="0" smtClean="0"/>
                        <a:t> LÀM ĐƯỢC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CHƯA</a:t>
                      </a:r>
                      <a:r>
                        <a:rPr lang="en-US" baseline="0" dirty="0" smtClean="0"/>
                        <a:t> LÀM ĐƯỢC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GIẢI</a:t>
                      </a:r>
                      <a:r>
                        <a:rPr lang="en-US" baseline="0" dirty="0" smtClean="0"/>
                        <a:t> PHÁP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241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Triển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khai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được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hệ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thống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Chưa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tạo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được</a:t>
                      </a:r>
                      <a:r>
                        <a:rPr lang="en-US" baseline="0" dirty="0" smtClean="0"/>
                        <a:t> Flow </a:t>
                      </a:r>
                      <a:r>
                        <a:rPr lang="en-US" baseline="0" dirty="0" err="1" smtClean="0"/>
                        <a:t>cụ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vấn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hành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 smtClean="0"/>
                        <a:t>Dựng</a:t>
                      </a:r>
                      <a:r>
                        <a:rPr lang="en-US" baseline="0" dirty="0" smtClean="0"/>
                        <a:t> Flow </a:t>
                      </a:r>
                      <a:r>
                        <a:rPr lang="en-US" baseline="0" dirty="0" err="1" smtClean="0"/>
                        <a:t>cụ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vận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hành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492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dụng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nghiệm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thành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công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lấy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và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xử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lý</a:t>
                      </a:r>
                      <a:r>
                        <a:rPr lang="en-US" baseline="0" dirty="0" smtClean="0"/>
                        <a:t> log </a:t>
                      </a:r>
                      <a:r>
                        <a:rPr lang="en-US" baseline="0" dirty="0" err="1" smtClean="0"/>
                        <a:t>từ</a:t>
                      </a:r>
                      <a:r>
                        <a:rPr lang="en-US" baseline="0" dirty="0" smtClean="0"/>
                        <a:t> SIEM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969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00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539874"/>
                  </a:ext>
                </a:extLst>
              </a:tr>
              <a:tr h="6637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853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3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830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1431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MISP-CTI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6376858"/>
              </p:ext>
            </p:extLst>
          </p:nvPr>
        </p:nvGraphicFramePr>
        <p:xfrm>
          <a:off x="838200" y="1228725"/>
          <a:ext cx="10515600" cy="3798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9238817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904488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73517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ĐÃ</a:t>
                      </a:r>
                      <a:r>
                        <a:rPr lang="en-US" baseline="0" dirty="0" smtClean="0"/>
                        <a:t> LÀM ĐƯỢC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CHƯA</a:t>
                      </a:r>
                      <a:r>
                        <a:rPr lang="en-US" baseline="0" dirty="0" smtClean="0"/>
                        <a:t> LÀM ĐƯỢC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GIẢI</a:t>
                      </a:r>
                      <a:r>
                        <a:rPr lang="en-US" baseline="0" dirty="0" smtClean="0"/>
                        <a:t> PHÁP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241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Triển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khai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được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hệ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thống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Chưa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tạo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được</a:t>
                      </a:r>
                      <a:r>
                        <a:rPr lang="en-US" baseline="0" dirty="0" smtClean="0"/>
                        <a:t> Flow </a:t>
                      </a:r>
                      <a:r>
                        <a:rPr lang="en-US" baseline="0" dirty="0" err="1" smtClean="0"/>
                        <a:t>cụ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vấn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hành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 smtClean="0"/>
                        <a:t>Dựng</a:t>
                      </a:r>
                      <a:r>
                        <a:rPr lang="en-US" baseline="0" dirty="0" smtClean="0"/>
                        <a:t> Flow </a:t>
                      </a:r>
                      <a:r>
                        <a:rPr lang="en-US" baseline="0" dirty="0" err="1" smtClean="0"/>
                        <a:t>cụ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vận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hành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492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dụng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nghiệm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thành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công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lấy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và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xử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lý</a:t>
                      </a:r>
                      <a:r>
                        <a:rPr lang="en-US" baseline="0" dirty="0" smtClean="0"/>
                        <a:t> log </a:t>
                      </a:r>
                      <a:r>
                        <a:rPr lang="en-US" baseline="0" dirty="0" err="1" smtClean="0"/>
                        <a:t>từ</a:t>
                      </a:r>
                      <a:r>
                        <a:rPr lang="en-US" baseline="0" dirty="0" smtClean="0"/>
                        <a:t> SIEM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Chưa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kết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nối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đến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các</a:t>
                      </a:r>
                      <a:r>
                        <a:rPr lang="en-US" baseline="0" dirty="0" smtClean="0"/>
                        <a:t> CTI FEED </a:t>
                      </a:r>
                      <a:r>
                        <a:rPr lang="en-US" baseline="0" dirty="0" err="1" smtClean="0"/>
                        <a:t>để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lấy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dữ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liệu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về</a:t>
                      </a:r>
                      <a:r>
                        <a:rPr lang="en-US" baseline="0" dirty="0" smtClean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Mở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kết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nối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đến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các</a:t>
                      </a:r>
                      <a:r>
                        <a:rPr lang="en-US" baseline="0" dirty="0" smtClean="0"/>
                        <a:t> host </a:t>
                      </a:r>
                      <a:r>
                        <a:rPr lang="en-US" baseline="0" dirty="0" err="1" smtClean="0"/>
                        <a:t>để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tải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dữ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liệu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về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nhưng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cần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đánh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giá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trước</a:t>
                      </a:r>
                      <a:r>
                        <a:rPr lang="en-US" baseline="0" dirty="0" smtClean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969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00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539874"/>
                  </a:ext>
                </a:extLst>
              </a:tr>
              <a:tr h="6637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853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3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830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5311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GRAFANA-MONITOR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1003050"/>
              </p:ext>
            </p:extLst>
          </p:nvPr>
        </p:nvGraphicFramePr>
        <p:xfrm>
          <a:off x="838200" y="1228725"/>
          <a:ext cx="10515600" cy="4610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9238817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904488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73517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ĐÃ</a:t>
                      </a:r>
                      <a:r>
                        <a:rPr lang="en-US" baseline="0" dirty="0" smtClean="0"/>
                        <a:t> LÀM ĐƯỢC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CHƯA</a:t>
                      </a:r>
                      <a:r>
                        <a:rPr lang="en-US" baseline="0" dirty="0" smtClean="0"/>
                        <a:t> LÀM ĐƯỢC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GIẢI</a:t>
                      </a:r>
                      <a:r>
                        <a:rPr lang="en-US" baseline="0" dirty="0" smtClean="0"/>
                        <a:t> PHÁP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241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Triển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khai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được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hệ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thống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Chưa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có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danh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sách</a:t>
                      </a:r>
                      <a:r>
                        <a:rPr lang="en-US" baseline="0" dirty="0" smtClean="0"/>
                        <a:t> dashboard </a:t>
                      </a:r>
                      <a:r>
                        <a:rPr lang="en-US" baseline="0" dirty="0" err="1" smtClean="0"/>
                        <a:t>cụ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thể</a:t>
                      </a:r>
                      <a:r>
                        <a:rPr lang="en-US" baseline="0" dirty="0" smtClean="0"/>
                        <a:t>, chi </a:t>
                      </a:r>
                      <a:r>
                        <a:rPr lang="en-US" baseline="0" dirty="0" err="1" smtClean="0"/>
                        <a:t>tiết</a:t>
                      </a:r>
                      <a:r>
                        <a:rPr lang="en-US" baseline="0" dirty="0" smtClean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Có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492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Đã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lấy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được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dữ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liệu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từ</a:t>
                      </a:r>
                      <a:r>
                        <a:rPr lang="en-US" baseline="0" dirty="0" smtClean="0"/>
                        <a:t> WAZUH </a:t>
                      </a:r>
                      <a:r>
                        <a:rPr lang="en-US" baseline="0" dirty="0" err="1" smtClean="0"/>
                        <a:t>thông</a:t>
                      </a:r>
                      <a:r>
                        <a:rPr lang="en-US" baseline="0" dirty="0" smtClean="0"/>
                        <a:t> qua </a:t>
                      </a:r>
                      <a:r>
                        <a:rPr lang="en-US" baseline="0" dirty="0" err="1" smtClean="0"/>
                        <a:t>elasticsearch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và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tạo</a:t>
                      </a:r>
                      <a:r>
                        <a:rPr lang="en-US" baseline="0" dirty="0" smtClean="0"/>
                        <a:t> dashboard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Chưa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lấy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được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dữ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liệu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từ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các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hệ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thống</a:t>
                      </a:r>
                      <a:r>
                        <a:rPr lang="en-US" baseline="0" dirty="0" smtClean="0"/>
                        <a:t> (THEHIVE, CORTEX, MISP) </a:t>
                      </a:r>
                      <a:r>
                        <a:rPr lang="en-US" baseline="0" dirty="0" err="1" smtClean="0"/>
                        <a:t>dùng</a:t>
                      </a:r>
                      <a:r>
                        <a:rPr lang="en-US" baseline="0" dirty="0" smtClean="0"/>
                        <a:t> REST API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Có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969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Chưa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nghiên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cứu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về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AlertManger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cảnh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báo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cho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grafana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Chưa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có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00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Chưa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giám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sát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được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các</a:t>
                      </a:r>
                      <a:r>
                        <a:rPr lang="en-US" baseline="0" dirty="0" smtClean="0"/>
                        <a:t> metric </a:t>
                      </a:r>
                      <a:r>
                        <a:rPr lang="en-US" baseline="0" dirty="0" err="1" smtClean="0"/>
                        <a:t>của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các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thành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phần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trong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hệ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thống</a:t>
                      </a:r>
                      <a:r>
                        <a:rPr lang="en-US" baseline="0" dirty="0" smtClean="0"/>
                        <a:t> SOC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Chưa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có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539874"/>
                  </a:ext>
                </a:extLst>
              </a:tr>
              <a:tr h="6637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853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35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830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0782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SỰ CỐ TRONG QUÁ TRÌNH TRIỂN KHAI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Không</a:t>
            </a:r>
            <a:r>
              <a:rPr lang="en-US" dirty="0" smtClean="0"/>
              <a:t> deploy stack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docker</a:t>
            </a:r>
            <a:r>
              <a:rPr lang="en-US" dirty="0" smtClean="0"/>
              <a:t> swarm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docker</a:t>
            </a:r>
            <a:r>
              <a:rPr lang="en-US" dirty="0" smtClean="0"/>
              <a:t> system prune</a:t>
            </a:r>
          </a:p>
          <a:p>
            <a:pPr lvl="1"/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nhân</a:t>
            </a:r>
            <a:r>
              <a:rPr lang="en-US" dirty="0" smtClean="0"/>
              <a:t>: Do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docker</a:t>
            </a:r>
            <a:r>
              <a:rPr lang="en-US" dirty="0" smtClean="0"/>
              <a:t> system prune </a:t>
            </a:r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, host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download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docker</a:t>
            </a:r>
            <a:r>
              <a:rPr lang="en-US" dirty="0" smtClean="0"/>
              <a:t> images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docker</a:t>
            </a:r>
            <a:r>
              <a:rPr lang="en-US" dirty="0" smtClean="0"/>
              <a:t> hub, do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lượt</a:t>
            </a:r>
            <a:r>
              <a:rPr lang="en-US" dirty="0" smtClean="0"/>
              <a:t> </a:t>
            </a:r>
            <a:r>
              <a:rPr lang="en-US" dirty="0" err="1" smtClean="0"/>
              <a:t>tải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download </a:t>
            </a:r>
            <a:r>
              <a:rPr lang="en-US" dirty="0" err="1" smtClean="0"/>
              <a:t>được</a:t>
            </a:r>
            <a:r>
              <a:rPr lang="en-US" dirty="0" smtClean="0"/>
              <a:t> images </a:t>
            </a:r>
            <a:r>
              <a:rPr lang="en-US" dirty="0" err="1" smtClean="0"/>
              <a:t>để</a:t>
            </a:r>
            <a:r>
              <a:rPr lang="en-US" dirty="0" smtClean="0"/>
              <a:t> run services</a:t>
            </a:r>
          </a:p>
          <a:p>
            <a:pPr lvl="1"/>
            <a:r>
              <a:rPr lang="en-US" dirty="0" err="1" smtClean="0"/>
              <a:t>Khắc</a:t>
            </a:r>
            <a:r>
              <a:rPr lang="en-US" dirty="0" smtClean="0"/>
              <a:t> </a:t>
            </a:r>
            <a:r>
              <a:rPr lang="en-US" dirty="0" err="1" smtClean="0"/>
              <a:t>phục</a:t>
            </a:r>
            <a:r>
              <a:rPr lang="en-US" dirty="0" smtClean="0"/>
              <a:t>: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private registry</a:t>
            </a:r>
          </a:p>
          <a:p>
            <a:r>
              <a:rPr lang="en-US" dirty="0" smtClean="0"/>
              <a:t>Docker swarm (1 manager)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mất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restart </a:t>
            </a:r>
            <a:r>
              <a:rPr lang="en-US" dirty="0" err="1" smtClean="0"/>
              <a:t>và</a:t>
            </a:r>
            <a:r>
              <a:rPr lang="en-US" dirty="0" smtClean="0"/>
              <a:t> delete </a:t>
            </a:r>
            <a:r>
              <a:rPr lang="en-US" dirty="0" err="1" smtClean="0"/>
              <a:t>docker</a:t>
            </a:r>
            <a:r>
              <a:rPr lang="en-US" dirty="0" smtClean="0"/>
              <a:t> </a:t>
            </a:r>
            <a:r>
              <a:rPr lang="en-US" dirty="0" err="1" smtClean="0"/>
              <a:t>dẫn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mất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services </a:t>
            </a:r>
            <a:r>
              <a:rPr lang="en-US" dirty="0" err="1" smtClean="0"/>
              <a:t>và</a:t>
            </a:r>
            <a:r>
              <a:rPr lang="en-US" dirty="0" smtClean="0"/>
              <a:t> volumes </a:t>
            </a:r>
            <a:r>
              <a:rPr lang="en-US" dirty="0" err="1" smtClean="0"/>
              <a:t>được</a:t>
            </a:r>
            <a:r>
              <a:rPr lang="en-US" dirty="0" smtClean="0"/>
              <a:t> mount volumes.</a:t>
            </a:r>
          </a:p>
          <a:p>
            <a:pPr lvl="1"/>
            <a:r>
              <a:rPr lang="en-US" dirty="0" err="1" smtClean="0"/>
              <a:t>Khắc</a:t>
            </a:r>
            <a:r>
              <a:rPr lang="en-US" dirty="0" smtClean="0"/>
              <a:t> </a:t>
            </a:r>
            <a:r>
              <a:rPr lang="en-US" dirty="0" err="1" smtClean="0"/>
              <a:t>phục</a:t>
            </a:r>
            <a:r>
              <a:rPr lang="en-US" dirty="0" smtClean="0"/>
              <a:t> :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mount </a:t>
            </a:r>
            <a:r>
              <a:rPr lang="en-US" dirty="0" err="1" smtClean="0"/>
              <a:t>kiểu</a:t>
            </a:r>
            <a:r>
              <a:rPr lang="en-US" dirty="0" smtClean="0"/>
              <a:t> mount volumes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NFS </a:t>
            </a:r>
            <a:r>
              <a:rPr lang="en-US" dirty="0" err="1" smtClean="0"/>
              <a:t>và</a:t>
            </a:r>
            <a:r>
              <a:rPr lang="en-US" dirty="0" smtClean="0"/>
              <a:t> HA </a:t>
            </a:r>
            <a:r>
              <a:rPr lang="en-US" dirty="0" err="1" smtClean="0"/>
              <a:t>cho</a:t>
            </a:r>
            <a:r>
              <a:rPr lang="en-US" dirty="0" smtClean="0"/>
              <a:t> NFS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crontab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backup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569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891</Words>
  <Application>Microsoft Office PowerPoint</Application>
  <PresentationFormat>Widescreen</PresentationFormat>
  <Paragraphs>144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SECURITY OPERATION CENTER</vt:lpstr>
      <vt:lpstr>Hệ thống giám sát an ninh MISA</vt:lpstr>
      <vt:lpstr>Mục tiêu</vt:lpstr>
      <vt:lpstr>INTRODUCTION</vt:lpstr>
      <vt:lpstr>Components of SOC System</vt:lpstr>
      <vt:lpstr>Workflow of SOC System</vt:lpstr>
      <vt:lpstr> SOC System Architecture</vt:lpstr>
      <vt:lpstr>PowerPoint Presentation</vt:lpstr>
      <vt:lpstr> SOC System Deployment</vt:lpstr>
      <vt:lpstr>TỔNG QUAN KẾT QUẢ SAU 3 THÁNG</vt:lpstr>
      <vt:lpstr>WAZUH-SIEM</vt:lpstr>
      <vt:lpstr>SOAR (Shuffle-n8n)</vt:lpstr>
      <vt:lpstr>THEHIVE-CORTEX</vt:lpstr>
      <vt:lpstr>MISP-CTI</vt:lpstr>
      <vt:lpstr>GRAFANA-MONITOR</vt:lpstr>
      <vt:lpstr>SỰ CỐ TRONG QUÁ TRÌNH TRIỂN KHAI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Tuan Bui</dc:creator>
  <cp:lastModifiedBy>Admin</cp:lastModifiedBy>
  <cp:revision>56</cp:revision>
  <dcterms:created xsi:type="dcterms:W3CDTF">2022-01-17T08:45:16Z</dcterms:created>
  <dcterms:modified xsi:type="dcterms:W3CDTF">2022-05-30T20:14:12Z</dcterms:modified>
</cp:coreProperties>
</file>