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46" roundtripDataSignature="AMtx7midq/puH9hS69ByEfVfZah1PL4vI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20" Type="http://schemas.openxmlformats.org/officeDocument/2006/relationships/slide" Target="slides/slide16.xml"/><Relationship Id="rId42" Type="http://schemas.openxmlformats.org/officeDocument/2006/relationships/slide" Target="slides/slide38.xml"/><Relationship Id="rId41" Type="http://schemas.openxmlformats.org/officeDocument/2006/relationships/slide" Target="slides/slide37.xml"/><Relationship Id="rId22" Type="http://schemas.openxmlformats.org/officeDocument/2006/relationships/slide" Target="slides/slide18.xml"/><Relationship Id="rId44" Type="http://schemas.openxmlformats.org/officeDocument/2006/relationships/slide" Target="slides/slide40.xml"/><Relationship Id="rId21" Type="http://schemas.openxmlformats.org/officeDocument/2006/relationships/slide" Target="slides/slide17.xml"/><Relationship Id="rId43" Type="http://schemas.openxmlformats.org/officeDocument/2006/relationships/slide" Target="slides/slide39.xml"/><Relationship Id="rId24" Type="http://schemas.openxmlformats.org/officeDocument/2006/relationships/slide" Target="slides/slide20.xml"/><Relationship Id="rId46" Type="http://customschemas.google.com/relationships/presentationmetadata" Target="metadata"/><Relationship Id="rId23" Type="http://schemas.openxmlformats.org/officeDocument/2006/relationships/slide" Target="slides/slide19.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ortswigger.net/web-security/access-control#vertical-access-controls" TargetMode="External"/><Relationship Id="rId3" Type="http://schemas.openxmlformats.org/officeDocument/2006/relationships/hyperlink" Target="https://portswigger.net/web-security/access-control#horizontal-access-controls" TargetMode="External"/><Relationship Id="rId4" Type="http://schemas.openxmlformats.org/officeDocument/2006/relationships/hyperlink" Target="https://portswigger.net/web-security/access-control#context-dependent-access-controls" TargetMode="Externa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OWASP là viết tắt của Open Web Application Security Project, là một cộng đồng trực tuyến cung cấp các bài viết, phương pháp, tài liệu, công cụ và công nghệ trong lĩnh vực bảo mật ứng dụng Web</a:t>
            </a:r>
            <a:br>
              <a:rPr lang="en-US"/>
            </a:br>
            <a:endParaRPr/>
          </a:p>
        </p:txBody>
      </p:sp>
      <p:sp>
        <p:nvSpPr>
          <p:cNvPr id="158" name="Google Shape;15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 name="Google Shape;261;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https://cheatsheetseries.owasp.org/cheatsheets/Cross_Site_Scripting_Prevention_Cheat_Sheet.html</a:t>
            </a:r>
            <a:endParaRPr/>
          </a:p>
        </p:txBody>
      </p:sp>
      <p:sp>
        <p:nvSpPr>
          <p:cNvPr id="262" name="Google Shape;262;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 name="Google Shape;318;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5" name="Google Shape;325;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2" name="Google Shape;332;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 name="Google Shape;339;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6" name="Google Shape;346;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u="sng" strike="noStrike">
                <a:solidFill>
                  <a:schemeClr val="dk1"/>
                </a:solidFill>
                <a:latin typeface="Calibri"/>
                <a:ea typeface="Calibri"/>
                <a:cs typeface="Calibri"/>
                <a:sym typeface="Calibri"/>
                <a:hlinkClick r:id="rId2">
                  <a:extLst>
                    <a:ext uri="{A12FA001-AC4F-418D-AE19-62706E023703}">
                      <ahyp:hlinkClr val="tx"/>
                    </a:ext>
                  </a:extLst>
                </a:hlinkClick>
              </a:rPr>
              <a:t>Kiểm soát truy cập dọc</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u="sng" strike="noStrike">
                <a:solidFill>
                  <a:schemeClr val="dk1"/>
                </a:solidFill>
                <a:latin typeface="Calibri"/>
                <a:ea typeface="Calibri"/>
                <a:cs typeface="Calibri"/>
                <a:sym typeface="Calibri"/>
                <a:hlinkClick r:id="rId3">
                  <a:extLst>
                    <a:ext uri="{A12FA001-AC4F-418D-AE19-62706E023703}">
                      <ahyp:hlinkClr val="tx"/>
                    </a:ext>
                  </a:extLst>
                </a:hlinkClick>
              </a:rPr>
              <a:t>Kiểm soát truy cập ngang</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0" i="0" lang="en-US" sz="1200" u="sng" strike="noStrike">
                <a:solidFill>
                  <a:schemeClr val="dk1"/>
                </a:solidFill>
                <a:latin typeface="Calibri"/>
                <a:ea typeface="Calibri"/>
                <a:cs typeface="Calibri"/>
                <a:sym typeface="Calibri"/>
                <a:hlinkClick r:id="rId4">
                  <a:extLst>
                    <a:ext uri="{A12FA001-AC4F-418D-AE19-62706E023703}">
                      <ahyp:hlinkClr val="tx"/>
                    </a:ext>
                  </a:extLst>
                </a:hlinkClick>
              </a:rPr>
              <a:t>Kiểm soát truy cập phụ thuộc vào ngữ cảnh</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t/>
            </a:r>
            <a:endParaRPr/>
          </a:p>
        </p:txBody>
      </p:sp>
      <p:sp>
        <p:nvSpPr>
          <p:cNvPr id="347" name="Google Shape;347;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6" name="Google Shape;356;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2" name="Google Shape;362;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9" name="Google Shape;369;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6" name="Google Shape;376;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3" name="Google Shape;383;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1" name="Google Shape;391;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8" name="Google Shape;398;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5" name="Google Shape;405;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1" name="Google Shape;411;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0" name="Google Shape;420;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6" name="Google Shape;426;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15" name="Shape 15"/>
        <p:cNvGrpSpPr/>
        <p:nvPr/>
      </p:nvGrpSpPr>
      <p:grpSpPr>
        <a:xfrm>
          <a:off x="0" y="0"/>
          <a:ext cx="0" cy="0"/>
          <a:chOff x="0" y="0"/>
          <a:chExt cx="0" cy="0"/>
        </a:xfrm>
      </p:grpSpPr>
      <p:sp>
        <p:nvSpPr>
          <p:cNvPr id="16" name="Google Shape;16;p43"/>
          <p:cNvSpPr txBox="1"/>
          <p:nvPr>
            <p:ph type="ctrTitle"/>
          </p:nvPr>
        </p:nvSpPr>
        <p:spPr>
          <a:xfrm>
            <a:off x="1524000" y="1122363"/>
            <a:ext cx="9144000" cy="1773237"/>
          </a:xfrm>
          <a:prstGeom prst="rect">
            <a:avLst/>
          </a:prstGeom>
          <a:noFill/>
          <a:ln>
            <a:noFill/>
          </a:ln>
        </p:spPr>
        <p:txBody>
          <a:bodyPr anchorCtr="0" anchor="ctr" bIns="45700" lIns="91425" spcFirstLastPara="1" rIns="91425" wrap="square" tIns="45700">
            <a:normAutofit/>
          </a:bodyPr>
          <a:lstStyle>
            <a:lvl1pPr lvl="0" algn="ctr">
              <a:lnSpc>
                <a:spcPct val="130000"/>
              </a:lnSpc>
              <a:spcBef>
                <a:spcPts val="300"/>
              </a:spcBef>
              <a:spcAft>
                <a:spcPts val="0"/>
              </a:spcAft>
              <a:buClr>
                <a:schemeClr val="lt1"/>
              </a:buClr>
              <a:buSzPts val="4200"/>
              <a:buFont typeface="Arial"/>
              <a:buNone/>
              <a:defRPr b="1" sz="4200">
                <a:solidFill>
                  <a:schemeClr val="lt1"/>
                </a:solidFill>
              </a:defRPr>
            </a:lvl1pPr>
            <a:lvl2pPr lvl="1">
              <a:spcBef>
                <a:spcPts val="3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43"/>
          <p:cNvSpPr txBox="1"/>
          <p:nvPr>
            <p:ph idx="1" type="subTitle"/>
          </p:nvPr>
        </p:nvSpPr>
        <p:spPr>
          <a:xfrm>
            <a:off x="1524000" y="2895600"/>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type="obj">
  <p:cSld name="OBJECT">
    <p:bg>
      <p:bgPr>
        <a:blipFill>
          <a:blip r:embed="rId2">
            <a:alphaModFix/>
          </a:blip>
          <a:stretch>
            <a:fillRect/>
          </a:stretch>
        </a:blipFill>
      </p:bgPr>
    </p:bg>
    <p:spTree>
      <p:nvGrpSpPr>
        <p:cNvPr id="21" name="Shape 21"/>
        <p:cNvGrpSpPr/>
        <p:nvPr/>
      </p:nvGrpSpPr>
      <p:grpSpPr>
        <a:xfrm>
          <a:off x="0" y="0"/>
          <a:ext cx="0" cy="0"/>
          <a:chOff x="0" y="0"/>
          <a:chExt cx="0" cy="0"/>
        </a:xfrm>
      </p:grpSpPr>
      <p:sp>
        <p:nvSpPr>
          <p:cNvPr id="22" name="Google Shape;22;p44"/>
          <p:cNvSpPr txBox="1"/>
          <p:nvPr>
            <p:ph type="title"/>
          </p:nvPr>
        </p:nvSpPr>
        <p:spPr>
          <a:xfrm>
            <a:off x="838200" y="365125"/>
            <a:ext cx="10515600" cy="568325"/>
          </a:xfrm>
          <a:prstGeom prst="rect">
            <a:avLst/>
          </a:prstGeom>
          <a:noFill/>
          <a:ln>
            <a:noFill/>
          </a:ln>
        </p:spPr>
        <p:txBody>
          <a:bodyPr anchorCtr="0" anchor="ctr" bIns="45700" lIns="91425" spcFirstLastPara="1" rIns="91425" wrap="square" tIns="45700">
            <a:normAutofit/>
          </a:bodyPr>
          <a:lstStyle>
            <a:lvl1pPr lvl="0" algn="ctr">
              <a:lnSpc>
                <a:spcPct val="120000"/>
              </a:lnSpc>
              <a:spcBef>
                <a:spcPts val="0"/>
              </a:spcBef>
              <a:spcAft>
                <a:spcPts val="0"/>
              </a:spcAft>
              <a:buClr>
                <a:srgbClr val="00CB8A"/>
              </a:buClr>
              <a:buSzPts val="3200"/>
              <a:buFont typeface="Arial"/>
              <a:buNone/>
              <a:defRPr b="1" sz="3200">
                <a:solidFill>
                  <a:srgbClr val="00CB8A"/>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4"/>
          <p:cNvSpPr txBox="1"/>
          <p:nvPr>
            <p:ph idx="1" type="body"/>
          </p:nvPr>
        </p:nvSpPr>
        <p:spPr>
          <a:xfrm>
            <a:off x="838200" y="1130300"/>
            <a:ext cx="5562600" cy="4351338"/>
          </a:xfrm>
          <a:prstGeom prst="rect">
            <a:avLst/>
          </a:prstGeom>
          <a:noFill/>
          <a:ln>
            <a:noFill/>
          </a:ln>
        </p:spPr>
        <p:txBody>
          <a:bodyPr anchorCtr="0" anchor="t" bIns="45700" lIns="91425" spcFirstLastPara="1" rIns="91425" wrap="square" tIns="45700">
            <a:normAutofit/>
          </a:bodyPr>
          <a:lstStyle>
            <a:lvl1pPr indent="-355600" lvl="0" marL="457200" algn="just">
              <a:lnSpc>
                <a:spcPct val="130000"/>
              </a:lnSpc>
              <a:spcBef>
                <a:spcPts val="300"/>
              </a:spcBef>
              <a:spcAft>
                <a:spcPts val="0"/>
              </a:spcAft>
              <a:buClr>
                <a:schemeClr val="dk1"/>
              </a:buClr>
              <a:buSzPts val="2000"/>
              <a:buChar char="•"/>
              <a:defRPr sz="2000"/>
            </a:lvl1pPr>
            <a:lvl2pPr indent="-342900" lvl="1" marL="914400" algn="just">
              <a:lnSpc>
                <a:spcPct val="130000"/>
              </a:lnSpc>
              <a:spcBef>
                <a:spcPts val="300"/>
              </a:spcBef>
              <a:spcAft>
                <a:spcPts val="0"/>
              </a:spcAft>
              <a:buClr>
                <a:schemeClr val="dk1"/>
              </a:buClr>
              <a:buSzPts val="1800"/>
              <a:buChar char="•"/>
              <a:defRPr sz="1800"/>
            </a:lvl2pPr>
            <a:lvl3pPr indent="-330200" lvl="2" marL="1371600" algn="just">
              <a:lnSpc>
                <a:spcPct val="130000"/>
              </a:lnSpc>
              <a:spcBef>
                <a:spcPts val="300"/>
              </a:spcBef>
              <a:spcAft>
                <a:spcPts val="0"/>
              </a:spcAft>
              <a:buClr>
                <a:schemeClr val="dk1"/>
              </a:buClr>
              <a:buSzPts val="1600"/>
              <a:buChar char="•"/>
              <a:defRPr sz="1600"/>
            </a:lvl3pPr>
            <a:lvl4pPr indent="-317500" lvl="3" marL="1828800" algn="just">
              <a:lnSpc>
                <a:spcPct val="130000"/>
              </a:lnSpc>
              <a:spcBef>
                <a:spcPts val="300"/>
              </a:spcBef>
              <a:spcAft>
                <a:spcPts val="0"/>
              </a:spcAft>
              <a:buClr>
                <a:schemeClr val="dk1"/>
              </a:buClr>
              <a:buSzPts val="1400"/>
              <a:buChar char="•"/>
              <a:defRPr sz="1400"/>
            </a:lvl4pPr>
            <a:lvl5pPr indent="-317500" lvl="4" marL="2286000" algn="just">
              <a:lnSpc>
                <a:spcPct val="130000"/>
              </a:lnSpc>
              <a:spcBef>
                <a:spcPts val="3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bg>
      <p:bgPr>
        <a:blipFill>
          <a:blip r:embed="rId2">
            <a:alphaModFix/>
          </a:blip>
          <a:stretch>
            <a:fillRect/>
          </a:stretch>
        </a:blipFill>
      </p:bgPr>
    </p:bg>
    <p:spTree>
      <p:nvGrpSpPr>
        <p:cNvPr id="24" name="Shape 24"/>
        <p:cNvGrpSpPr/>
        <p:nvPr/>
      </p:nvGrpSpPr>
      <p:grpSpPr>
        <a:xfrm>
          <a:off x="0" y="0"/>
          <a:ext cx="0" cy="0"/>
          <a:chOff x="0" y="0"/>
          <a:chExt cx="0" cy="0"/>
        </a:xfrm>
      </p:grpSpPr>
      <p:sp>
        <p:nvSpPr>
          <p:cNvPr id="25" name="Google Shape;25;p45"/>
          <p:cNvSpPr txBox="1"/>
          <p:nvPr>
            <p:ph type="title"/>
          </p:nvPr>
        </p:nvSpPr>
        <p:spPr>
          <a:xfrm>
            <a:off x="838200" y="365125"/>
            <a:ext cx="10515600" cy="568325"/>
          </a:xfrm>
          <a:prstGeom prst="rect">
            <a:avLst/>
          </a:prstGeom>
          <a:noFill/>
          <a:ln>
            <a:noFill/>
          </a:ln>
        </p:spPr>
        <p:txBody>
          <a:bodyPr anchorCtr="0" anchor="ctr" bIns="45700" lIns="91425" spcFirstLastPara="1" rIns="91425" wrap="square" tIns="45700">
            <a:normAutofit/>
          </a:bodyPr>
          <a:lstStyle>
            <a:lvl1pPr lvl="0" algn="ctr">
              <a:lnSpc>
                <a:spcPct val="120000"/>
              </a:lnSpc>
              <a:spcBef>
                <a:spcPts val="0"/>
              </a:spcBef>
              <a:spcAft>
                <a:spcPts val="0"/>
              </a:spcAft>
              <a:buClr>
                <a:srgbClr val="00CB8A"/>
              </a:buClr>
              <a:buSzPts val="3200"/>
              <a:buFont typeface="Arial"/>
              <a:buNone/>
              <a:defRPr b="1" sz="3200">
                <a:solidFill>
                  <a:srgbClr val="00CB8A"/>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45"/>
          <p:cNvSpPr txBox="1"/>
          <p:nvPr>
            <p:ph idx="1" type="body"/>
          </p:nvPr>
        </p:nvSpPr>
        <p:spPr>
          <a:xfrm>
            <a:off x="838200" y="1130300"/>
            <a:ext cx="10515600" cy="4351338"/>
          </a:xfrm>
          <a:prstGeom prst="rect">
            <a:avLst/>
          </a:prstGeom>
          <a:noFill/>
          <a:ln>
            <a:noFill/>
          </a:ln>
        </p:spPr>
        <p:txBody>
          <a:bodyPr anchorCtr="0" anchor="t" bIns="45700" lIns="91425" spcFirstLastPara="1" rIns="91425" wrap="square" tIns="45700">
            <a:normAutofit/>
          </a:bodyPr>
          <a:lstStyle>
            <a:lvl1pPr indent="-355600" lvl="0" marL="457200" algn="just">
              <a:lnSpc>
                <a:spcPct val="130000"/>
              </a:lnSpc>
              <a:spcBef>
                <a:spcPts val="300"/>
              </a:spcBef>
              <a:spcAft>
                <a:spcPts val="0"/>
              </a:spcAft>
              <a:buClr>
                <a:schemeClr val="dk1"/>
              </a:buClr>
              <a:buSzPts val="2000"/>
              <a:buChar char="•"/>
              <a:defRPr sz="2000"/>
            </a:lvl1pPr>
            <a:lvl2pPr indent="-342900" lvl="1" marL="914400" algn="just">
              <a:lnSpc>
                <a:spcPct val="130000"/>
              </a:lnSpc>
              <a:spcBef>
                <a:spcPts val="300"/>
              </a:spcBef>
              <a:spcAft>
                <a:spcPts val="0"/>
              </a:spcAft>
              <a:buClr>
                <a:schemeClr val="dk1"/>
              </a:buClr>
              <a:buSzPts val="1800"/>
              <a:buChar char="•"/>
              <a:defRPr sz="1800"/>
            </a:lvl2pPr>
            <a:lvl3pPr indent="-330200" lvl="2" marL="1371600" algn="just">
              <a:lnSpc>
                <a:spcPct val="130000"/>
              </a:lnSpc>
              <a:spcBef>
                <a:spcPts val="300"/>
              </a:spcBef>
              <a:spcAft>
                <a:spcPts val="0"/>
              </a:spcAft>
              <a:buClr>
                <a:schemeClr val="dk1"/>
              </a:buClr>
              <a:buSzPts val="1600"/>
              <a:buChar char="•"/>
              <a:defRPr sz="1600"/>
            </a:lvl3pPr>
            <a:lvl4pPr indent="-317500" lvl="3" marL="1828800" algn="just">
              <a:lnSpc>
                <a:spcPct val="130000"/>
              </a:lnSpc>
              <a:spcBef>
                <a:spcPts val="300"/>
              </a:spcBef>
              <a:spcAft>
                <a:spcPts val="0"/>
              </a:spcAft>
              <a:buClr>
                <a:schemeClr val="dk1"/>
              </a:buClr>
              <a:buSzPts val="1400"/>
              <a:buChar char="•"/>
              <a:defRPr sz="1400"/>
            </a:lvl4pPr>
            <a:lvl5pPr indent="-317500" lvl="4" marL="2286000" algn="just">
              <a:lnSpc>
                <a:spcPct val="130000"/>
              </a:lnSpc>
              <a:spcBef>
                <a:spcPts val="3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Content">
  <p:cSld name="2_Title and Content">
    <p:bg>
      <p:bgPr>
        <a:blipFill>
          <a:blip r:embed="rId2">
            <a:alphaModFix/>
          </a:blip>
          <a:stretch>
            <a:fillRect/>
          </a:stretch>
        </a:blipFill>
      </p:bgPr>
    </p:bg>
    <p:spTree>
      <p:nvGrpSpPr>
        <p:cNvPr id="27" name="Shape 27"/>
        <p:cNvGrpSpPr/>
        <p:nvPr/>
      </p:nvGrpSpPr>
      <p:grpSpPr>
        <a:xfrm>
          <a:off x="0" y="0"/>
          <a:ext cx="0" cy="0"/>
          <a:chOff x="0" y="0"/>
          <a:chExt cx="0" cy="0"/>
        </a:xfrm>
      </p:grpSpPr>
      <p:sp>
        <p:nvSpPr>
          <p:cNvPr id="28" name="Google Shape;28;p46"/>
          <p:cNvSpPr txBox="1"/>
          <p:nvPr>
            <p:ph type="title"/>
          </p:nvPr>
        </p:nvSpPr>
        <p:spPr>
          <a:xfrm>
            <a:off x="838200" y="365125"/>
            <a:ext cx="10515600" cy="568325"/>
          </a:xfrm>
          <a:prstGeom prst="rect">
            <a:avLst/>
          </a:prstGeom>
          <a:noFill/>
          <a:ln>
            <a:noFill/>
          </a:ln>
        </p:spPr>
        <p:txBody>
          <a:bodyPr anchorCtr="0" anchor="ctr" bIns="45700" lIns="91425" spcFirstLastPara="1" rIns="91425" wrap="square" tIns="45700">
            <a:normAutofit/>
          </a:bodyPr>
          <a:lstStyle>
            <a:lvl1pPr lvl="0" algn="ctr">
              <a:lnSpc>
                <a:spcPct val="120000"/>
              </a:lnSpc>
              <a:spcBef>
                <a:spcPts val="0"/>
              </a:spcBef>
              <a:spcAft>
                <a:spcPts val="0"/>
              </a:spcAft>
              <a:buClr>
                <a:srgbClr val="00CB8A"/>
              </a:buClr>
              <a:buSzPts val="3200"/>
              <a:buFont typeface="Arial"/>
              <a:buNone/>
              <a:defRPr b="1" sz="3200">
                <a:solidFill>
                  <a:srgbClr val="00CB8A"/>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and Content">
  <p:cSld name="3_Title and Content">
    <p:bg>
      <p:bgPr>
        <a:blipFill>
          <a:blip r:embed="rId2">
            <a:alphaModFix/>
          </a:blip>
          <a:stretch>
            <a:fillRect/>
          </a:stretch>
        </a:blipFill>
      </p:bgPr>
    </p:bg>
    <p:spTree>
      <p:nvGrpSpPr>
        <p:cNvPr id="29" name="Shape 29"/>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0" name="Shape 30"/>
        <p:cNvGrpSpPr/>
        <p:nvPr/>
      </p:nvGrpSpPr>
      <p:grpSpPr>
        <a:xfrm>
          <a:off x="0" y="0"/>
          <a:ext cx="0" cy="0"/>
          <a:chOff x="0" y="0"/>
          <a:chExt cx="0" cy="0"/>
        </a:xfrm>
      </p:grpSpPr>
      <p:sp>
        <p:nvSpPr>
          <p:cNvPr id="31" name="Google Shape;31;p4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4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3" name="Google Shape;33;p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6" name="Shape 36"/>
        <p:cNvGrpSpPr/>
        <p:nvPr/>
      </p:nvGrpSpPr>
      <p:grpSpPr>
        <a:xfrm>
          <a:off x="0" y="0"/>
          <a:ext cx="0" cy="0"/>
          <a:chOff x="0" y="0"/>
          <a:chExt cx="0" cy="0"/>
        </a:xfrm>
      </p:grpSpPr>
      <p:sp>
        <p:nvSpPr>
          <p:cNvPr id="37" name="Google Shape;37;p4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4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 name="Google Shape;39;p4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3" name="Shape 43"/>
        <p:cNvGrpSpPr/>
        <p:nvPr/>
      </p:nvGrpSpPr>
      <p:grpSpPr>
        <a:xfrm>
          <a:off x="0" y="0"/>
          <a:ext cx="0" cy="0"/>
          <a:chOff x="0" y="0"/>
          <a:chExt cx="0" cy="0"/>
        </a:xfrm>
      </p:grpSpPr>
      <p:sp>
        <p:nvSpPr>
          <p:cNvPr id="44" name="Google Shape;44;p50"/>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5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6" name="Google Shape;46;p5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5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5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2" name="Shape 52"/>
        <p:cNvGrpSpPr/>
        <p:nvPr/>
      </p:nvGrpSpPr>
      <p:grpSpPr>
        <a:xfrm>
          <a:off x="0" y="0"/>
          <a:ext cx="0" cy="0"/>
          <a:chOff x="0" y="0"/>
          <a:chExt cx="0" cy="0"/>
        </a:xfrm>
      </p:grpSpPr>
      <p:sp>
        <p:nvSpPr>
          <p:cNvPr id="53" name="Google Shape;53;p5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1" name="Shape 61"/>
        <p:cNvGrpSpPr/>
        <p:nvPr/>
      </p:nvGrpSpPr>
      <p:grpSpPr>
        <a:xfrm>
          <a:off x="0" y="0"/>
          <a:ext cx="0" cy="0"/>
          <a:chOff x="0" y="0"/>
          <a:chExt cx="0" cy="0"/>
        </a:xfrm>
      </p:grpSpPr>
      <p:sp>
        <p:nvSpPr>
          <p:cNvPr id="62" name="Google Shape;62;p5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53"/>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4" name="Google Shape;64;p53"/>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8" name="Shape 68"/>
        <p:cNvGrpSpPr/>
        <p:nvPr/>
      </p:nvGrpSpPr>
      <p:grpSpPr>
        <a:xfrm>
          <a:off x="0" y="0"/>
          <a:ext cx="0" cy="0"/>
          <a:chOff x="0" y="0"/>
          <a:chExt cx="0" cy="0"/>
        </a:xfrm>
      </p:grpSpPr>
      <p:sp>
        <p:nvSpPr>
          <p:cNvPr id="69" name="Google Shape;69;p5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54"/>
          <p:cNvSpPr/>
          <p:nvPr>
            <p:ph idx="2" type="pic"/>
          </p:nvPr>
        </p:nvSpPr>
        <p:spPr>
          <a:xfrm>
            <a:off x="5183188" y="987425"/>
            <a:ext cx="6172200" cy="4873625"/>
          </a:xfrm>
          <a:prstGeom prst="rect">
            <a:avLst/>
          </a:prstGeom>
          <a:noFill/>
          <a:ln>
            <a:noFill/>
          </a:ln>
        </p:spPr>
      </p:sp>
      <p:sp>
        <p:nvSpPr>
          <p:cNvPr id="71" name="Google Shape;71;p54"/>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2" name="Google Shape;72;p5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5" name="Shape 75"/>
        <p:cNvGrpSpPr/>
        <p:nvPr/>
      </p:nvGrpSpPr>
      <p:grpSpPr>
        <a:xfrm>
          <a:off x="0" y="0"/>
          <a:ext cx="0" cy="0"/>
          <a:chOff x="0" y="0"/>
          <a:chExt cx="0" cy="0"/>
        </a:xfrm>
      </p:grpSpPr>
      <p:sp>
        <p:nvSpPr>
          <p:cNvPr id="76" name="Google Shape;76;p5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55"/>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5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5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1" name="Shape 81"/>
        <p:cNvGrpSpPr/>
        <p:nvPr/>
      </p:nvGrpSpPr>
      <p:grpSpPr>
        <a:xfrm>
          <a:off x="0" y="0"/>
          <a:ext cx="0" cy="0"/>
          <a:chOff x="0" y="0"/>
          <a:chExt cx="0" cy="0"/>
        </a:xfrm>
      </p:grpSpPr>
      <p:sp>
        <p:nvSpPr>
          <p:cNvPr id="82" name="Google Shape;82;p56"/>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56"/>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 name="Google Shape;84;p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4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Arial"/>
                <a:ea typeface="Arial"/>
                <a:cs typeface="Arial"/>
                <a:sym typeface="Arial"/>
              </a:defRPr>
            </a:lvl1pPr>
            <a:lvl2pPr indent="0" lvl="1" marL="0" marR="0" rtl="0" algn="r">
              <a:spcBef>
                <a:spcPts val="0"/>
              </a:spcBef>
              <a:buNone/>
              <a:defRPr b="0" i="0" sz="1200" u="none" cap="none" strike="noStrike">
                <a:solidFill>
                  <a:srgbClr val="888888"/>
                </a:solidFill>
                <a:latin typeface="Arial"/>
                <a:ea typeface="Arial"/>
                <a:cs typeface="Arial"/>
                <a:sym typeface="Arial"/>
              </a:defRPr>
            </a:lvl2pPr>
            <a:lvl3pPr indent="0" lvl="2" marL="0" marR="0" rtl="0" algn="r">
              <a:spcBef>
                <a:spcPts val="0"/>
              </a:spcBef>
              <a:buNone/>
              <a:defRPr b="0" i="0" sz="1200" u="none" cap="none" strike="noStrike">
                <a:solidFill>
                  <a:srgbClr val="888888"/>
                </a:solidFill>
                <a:latin typeface="Arial"/>
                <a:ea typeface="Arial"/>
                <a:cs typeface="Arial"/>
                <a:sym typeface="Arial"/>
              </a:defRPr>
            </a:lvl3pPr>
            <a:lvl4pPr indent="0" lvl="3" marL="0" marR="0" rtl="0" algn="r">
              <a:spcBef>
                <a:spcPts val="0"/>
              </a:spcBef>
              <a:buNone/>
              <a:defRPr b="0" i="0" sz="1200" u="none" cap="none" strike="noStrike">
                <a:solidFill>
                  <a:srgbClr val="888888"/>
                </a:solidFill>
                <a:latin typeface="Arial"/>
                <a:ea typeface="Arial"/>
                <a:cs typeface="Arial"/>
                <a:sym typeface="Arial"/>
              </a:defRPr>
            </a:lvl4pPr>
            <a:lvl5pPr indent="0" lvl="4" marL="0" marR="0" rtl="0" algn="r">
              <a:spcBef>
                <a:spcPts val="0"/>
              </a:spcBef>
              <a:buNone/>
              <a:defRPr b="0" i="0" sz="1200" u="none" cap="none" strike="noStrike">
                <a:solidFill>
                  <a:srgbClr val="888888"/>
                </a:solidFill>
                <a:latin typeface="Arial"/>
                <a:ea typeface="Arial"/>
                <a:cs typeface="Arial"/>
                <a:sym typeface="Arial"/>
              </a:defRPr>
            </a:lvl5pPr>
            <a:lvl6pPr indent="0" lvl="5" marL="0" marR="0" rtl="0" algn="r">
              <a:spcBef>
                <a:spcPts val="0"/>
              </a:spcBef>
              <a:buNone/>
              <a:defRPr b="0" i="0" sz="1200" u="none" cap="none" strike="noStrike">
                <a:solidFill>
                  <a:srgbClr val="888888"/>
                </a:solidFill>
                <a:latin typeface="Arial"/>
                <a:ea typeface="Arial"/>
                <a:cs typeface="Arial"/>
                <a:sym typeface="Arial"/>
              </a:defRPr>
            </a:lvl6pPr>
            <a:lvl7pPr indent="0" lvl="6" marL="0" marR="0" rtl="0" algn="r">
              <a:spcBef>
                <a:spcPts val="0"/>
              </a:spcBef>
              <a:buNone/>
              <a:defRPr b="0" i="0" sz="1200" u="none" cap="none" strike="noStrike">
                <a:solidFill>
                  <a:srgbClr val="888888"/>
                </a:solidFill>
                <a:latin typeface="Arial"/>
                <a:ea typeface="Arial"/>
                <a:cs typeface="Arial"/>
                <a:sym typeface="Arial"/>
              </a:defRPr>
            </a:lvl7pPr>
            <a:lvl8pPr indent="0" lvl="7" marL="0" marR="0" rtl="0" algn="r">
              <a:spcBef>
                <a:spcPts val="0"/>
              </a:spcBef>
              <a:buNone/>
              <a:defRPr b="0" i="0" sz="1200" u="none" cap="none" strike="noStrike">
                <a:solidFill>
                  <a:srgbClr val="888888"/>
                </a:solidFill>
                <a:latin typeface="Arial"/>
                <a:ea typeface="Arial"/>
                <a:cs typeface="Arial"/>
                <a:sym typeface="Arial"/>
              </a:defRPr>
            </a:lvl8pPr>
            <a:lvl9pPr indent="0" lvl="8" marL="0" marR="0" rtl="0" algn="r">
              <a:spcBef>
                <a:spcPts val="0"/>
              </a:spcBef>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15.jpg"/><Relationship Id="rId6" Type="http://schemas.openxmlformats.org/officeDocument/2006/relationships/image" Target="../media/image8.jpg"/><Relationship Id="rId7"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1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8.jpg"/><Relationship Id="rId4" Type="http://schemas.openxmlformats.org/officeDocument/2006/relationships/image" Target="../media/image19.png"/><Relationship Id="rId5"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5.png"/><Relationship Id="rId4" Type="http://schemas.openxmlformats.org/officeDocument/2006/relationships/image" Target="../media/image35.png"/><Relationship Id="rId5" Type="http://schemas.openxmlformats.org/officeDocument/2006/relationships/image" Target="../media/image29.png"/><Relationship Id="rId6"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6.jp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1.png"/><Relationship Id="rId4" Type="http://schemas.openxmlformats.org/officeDocument/2006/relationships/image" Target="../media/image3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1.jpg"/><Relationship Id="rId4" Type="http://schemas.openxmlformats.org/officeDocument/2006/relationships/image" Target="../media/image3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7.jpg"/><Relationship Id="rId4" Type="http://schemas.openxmlformats.org/officeDocument/2006/relationships/image" Target="../media/image30.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1.png"/><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41.gi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1.png"/><Relationship Id="rId4" Type="http://schemas.openxmlformats.org/officeDocument/2006/relationships/image" Target="../media/image4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4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8.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4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1.png"/><Relationship Id="rId4" Type="http://schemas.openxmlformats.org/officeDocument/2006/relationships/image" Target="../media/image47.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5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42.png"/><Relationship Id="rId4" Type="http://schemas.openxmlformats.org/officeDocument/2006/relationships/image" Target="../media/image53.jpg"/><Relationship Id="rId5" Type="http://schemas.openxmlformats.org/officeDocument/2006/relationships/image" Target="../media/image4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4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1.png"/><Relationship Id="rId4" Type="http://schemas.openxmlformats.org/officeDocument/2006/relationships/image" Target="../media/image45.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52.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55.png"/><Relationship Id="rId4" Type="http://schemas.openxmlformats.org/officeDocument/2006/relationships/image" Target="../media/image4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56.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51.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54.jpg"/><Relationship Id="rId4" Type="http://schemas.openxmlformats.org/officeDocument/2006/relationships/image" Target="../media/image57.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hyperlink" Target="https://docs.microsoft.com/en-us/aspnet/core/security/anti-request-forgery?view=aspnetcore-2.2" TargetMode="External"/><Relationship Id="rId4" Type="http://schemas.openxmlformats.org/officeDocument/2006/relationships/hyperlink" Target="https://docs.microsoft.com/en-us/aspnet/core/security/cross-site-scripting?view=aspnetcore-2.2" TargetMode="External"/><Relationship Id="rId9" Type="http://schemas.openxmlformats.org/officeDocument/2006/relationships/hyperlink" Target="https://andrewlock.net/adding-default-security-headers-in-asp-net-core/" TargetMode="External"/><Relationship Id="rId5" Type="http://schemas.openxmlformats.org/officeDocument/2006/relationships/hyperlink" Target="https://docs.microsoft.com/en-us/aspnet/core/security/app-secrets?view=aspnetcore-2.2" TargetMode="External"/><Relationship Id="rId6" Type="http://schemas.openxmlformats.org/officeDocument/2006/relationships/hyperlink" Target="https://www.owasp.org/index.php/.NET_Security_Cheat_Sheet" TargetMode="External"/><Relationship Id="rId7" Type="http://schemas.openxmlformats.org/officeDocument/2006/relationships/hyperlink" Target="https://geeklearning.io/hardening-the-security-of-your-asp-net-core-apps/" TargetMode="External"/><Relationship Id="rId8" Type="http://schemas.openxmlformats.org/officeDocument/2006/relationships/hyperlink" Target="https://docs.microsoft.com/en-us/dotnet/standard/security/secure-coding-guidelines"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
          <p:cNvSpPr txBox="1"/>
          <p:nvPr>
            <p:ph type="ctrTitle"/>
          </p:nvPr>
        </p:nvSpPr>
        <p:spPr>
          <a:xfrm>
            <a:off x="1524000" y="1853884"/>
            <a:ext cx="9144000" cy="1773237"/>
          </a:xfrm>
          <a:prstGeom prst="rect">
            <a:avLst/>
          </a:prstGeom>
          <a:noFill/>
          <a:ln>
            <a:noFill/>
          </a:ln>
        </p:spPr>
        <p:txBody>
          <a:bodyPr anchorCtr="0" anchor="ctr" bIns="45700" lIns="91425" spcFirstLastPara="1" rIns="91425" wrap="square" tIns="45700">
            <a:normAutofit/>
          </a:bodyPr>
          <a:lstStyle/>
          <a:p>
            <a:pPr indent="0" lvl="0" marL="0" rtl="0" algn="ctr">
              <a:lnSpc>
                <a:spcPct val="130000"/>
              </a:lnSpc>
              <a:spcBef>
                <a:spcPts val="0"/>
              </a:spcBef>
              <a:spcAft>
                <a:spcPts val="0"/>
              </a:spcAft>
              <a:buClr>
                <a:schemeClr val="lt1"/>
              </a:buClr>
              <a:buSzPts val="4000"/>
              <a:buFont typeface="Arial"/>
              <a:buNone/>
            </a:pPr>
            <a:r>
              <a:rPr lang="en-US" sz="4000"/>
              <a:t>ĐÀO TẠO LẬP TRÌNH AN TOÀN</a:t>
            </a:r>
            <a:endParaRPr/>
          </a:p>
        </p:txBody>
      </p:sp>
      <p:sp>
        <p:nvSpPr>
          <p:cNvPr id="92" name="Google Shape;92;p1"/>
          <p:cNvSpPr txBox="1"/>
          <p:nvPr/>
        </p:nvSpPr>
        <p:spPr>
          <a:xfrm>
            <a:off x="9300834" y="5934670"/>
            <a:ext cx="2891166"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Arial"/>
                <a:ea typeface="Arial"/>
                <a:cs typeface="Arial"/>
                <a:sym typeface="Arial"/>
              </a:rPr>
              <a:t>Present by: LÊ BÌNH AN</a:t>
            </a:r>
            <a:endParaRPr/>
          </a:p>
          <a:p>
            <a:pPr indent="0" lvl="0" marL="0" marR="0" rtl="0" algn="l">
              <a:spcBef>
                <a:spcPts val="0"/>
              </a:spcBef>
              <a:spcAft>
                <a:spcPts val="0"/>
              </a:spcAft>
              <a:buNone/>
            </a:pPr>
            <a:r>
              <a:rPr lang="en-US" sz="1800">
                <a:solidFill>
                  <a:schemeClr val="dk1"/>
                </a:solidFill>
                <a:latin typeface="Arial"/>
                <a:ea typeface="Arial"/>
                <a:cs typeface="Arial"/>
                <a:sym typeface="Arial"/>
              </a:rPr>
              <a:t>Contacts : 0979700145</a:t>
            </a:r>
            <a:endParaRPr/>
          </a:p>
          <a:p>
            <a:pPr indent="0" lvl="0" marL="0" marR="0" rtl="0" algn="l">
              <a:spcBef>
                <a:spcPts val="0"/>
              </a:spcBef>
              <a:spcAft>
                <a:spcPts val="0"/>
              </a:spcAft>
              <a:buNone/>
            </a:pPr>
            <a:r>
              <a:rPr lang="en-US" sz="1800">
                <a:solidFill>
                  <a:schemeClr val="dk1"/>
                </a:solidFill>
                <a:latin typeface="Arial"/>
                <a:ea typeface="Arial"/>
                <a:cs typeface="Arial"/>
                <a:sym typeface="Arial"/>
              </a:rPr>
              <a:t>Email: lban@jetpay.vn</a:t>
            </a:r>
            <a:endParaRPr sz="1800">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
          <p:cNvSpPr txBox="1"/>
          <p:nvPr/>
        </p:nvSpPr>
        <p:spPr>
          <a:xfrm>
            <a:off x="625049" y="200245"/>
            <a:ext cx="10515600" cy="439208"/>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2E75B5"/>
              </a:buClr>
              <a:buSzPts val="2800"/>
              <a:buFont typeface="Arial"/>
              <a:buNone/>
            </a:pPr>
            <a:r>
              <a:rPr b="1" lang="en-US" sz="2800">
                <a:solidFill>
                  <a:srgbClr val="2E75B5"/>
                </a:solidFill>
                <a:latin typeface="Arial"/>
                <a:ea typeface="Arial"/>
                <a:cs typeface="Arial"/>
                <a:sym typeface="Arial"/>
              </a:rPr>
              <a:t>Contents</a:t>
            </a:r>
            <a:endParaRPr b="1" sz="2800">
              <a:solidFill>
                <a:srgbClr val="2E75B5"/>
              </a:solidFill>
              <a:latin typeface="Arial"/>
              <a:ea typeface="Arial"/>
              <a:cs typeface="Arial"/>
              <a:sym typeface="Arial"/>
            </a:endParaRPr>
          </a:p>
        </p:txBody>
      </p:sp>
      <p:cxnSp>
        <p:nvCxnSpPr>
          <p:cNvPr id="98" name="Google Shape;98;p2"/>
          <p:cNvCxnSpPr/>
          <p:nvPr/>
        </p:nvCxnSpPr>
        <p:spPr>
          <a:xfrm>
            <a:off x="625049" y="656364"/>
            <a:ext cx="10268238" cy="43977"/>
          </a:xfrm>
          <a:prstGeom prst="straightConnector1">
            <a:avLst/>
          </a:prstGeom>
          <a:noFill/>
          <a:ln cap="flat" cmpd="sng" w="9525">
            <a:solidFill>
              <a:schemeClr val="accent1"/>
            </a:solidFill>
            <a:prstDash val="solid"/>
            <a:miter lim="800000"/>
            <a:headEnd len="sm" w="sm" type="none"/>
            <a:tailEnd len="sm" w="sm" type="none"/>
          </a:ln>
        </p:spPr>
      </p:cxnSp>
      <p:grpSp>
        <p:nvGrpSpPr>
          <p:cNvPr id="99" name="Google Shape;99;p2"/>
          <p:cNvGrpSpPr/>
          <p:nvPr/>
        </p:nvGrpSpPr>
        <p:grpSpPr>
          <a:xfrm>
            <a:off x="2032000" y="851822"/>
            <a:ext cx="8034713" cy="4801681"/>
            <a:chOff x="0" y="132155"/>
            <a:chExt cx="8034713" cy="4801681"/>
          </a:xfrm>
        </p:grpSpPr>
        <p:sp>
          <p:nvSpPr>
            <p:cNvPr id="100" name="Google Shape;100;p2"/>
            <p:cNvSpPr/>
            <p:nvPr/>
          </p:nvSpPr>
          <p:spPr>
            <a:xfrm>
              <a:off x="0" y="397835"/>
              <a:ext cx="8034713" cy="453600"/>
            </a:xfrm>
            <a:prstGeom prst="rect">
              <a:avLst/>
            </a:prstGeom>
            <a:solidFill>
              <a:schemeClr val="lt1">
                <a:alpha val="89803"/>
              </a:schemeClr>
            </a:solidFill>
            <a:ln cap="flat" cmpd="sng" w="12700">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2"/>
            <p:cNvSpPr/>
            <p:nvPr/>
          </p:nvSpPr>
          <p:spPr>
            <a:xfrm>
              <a:off x="401735" y="132155"/>
              <a:ext cx="5624299" cy="531360"/>
            </a:xfrm>
            <a:prstGeom prst="roundRect">
              <a:avLst>
                <a:gd fmla="val 16667"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
            <p:cNvSpPr txBox="1"/>
            <p:nvPr/>
          </p:nvSpPr>
          <p:spPr>
            <a:xfrm>
              <a:off x="427674" y="158094"/>
              <a:ext cx="5572421" cy="479482"/>
            </a:xfrm>
            <a:prstGeom prst="rect">
              <a:avLst/>
            </a:prstGeom>
            <a:noFill/>
            <a:ln>
              <a:noFill/>
            </a:ln>
          </p:spPr>
          <p:txBody>
            <a:bodyPr anchorCtr="0" anchor="ctr" bIns="0" lIns="212575" spcFirstLastPara="1" rIns="212575" wrap="square" tIns="0">
              <a:noAutofit/>
            </a:bodyPr>
            <a:lstStyle/>
            <a:p>
              <a:pPr indent="0" lvl="0" marL="0" marR="0" rtl="0" algn="l">
                <a:lnSpc>
                  <a:spcPct val="90000"/>
                </a:lnSpc>
                <a:spcBef>
                  <a:spcPts val="0"/>
                </a:spcBef>
                <a:spcAft>
                  <a:spcPts val="0"/>
                </a:spcAft>
                <a:buNone/>
              </a:pPr>
              <a:r>
                <a:rPr lang="en-US" sz="1800">
                  <a:solidFill>
                    <a:schemeClr val="lt1"/>
                  </a:solidFill>
                  <a:latin typeface="Calibri"/>
                  <a:ea typeface="Calibri"/>
                  <a:cs typeface="Calibri"/>
                  <a:sym typeface="Calibri"/>
                </a:rPr>
                <a:t>Overview</a:t>
              </a:r>
              <a:endParaRPr/>
            </a:p>
          </p:txBody>
        </p:sp>
        <p:sp>
          <p:nvSpPr>
            <p:cNvPr id="103" name="Google Shape;103;p2"/>
            <p:cNvSpPr/>
            <p:nvPr/>
          </p:nvSpPr>
          <p:spPr>
            <a:xfrm>
              <a:off x="0" y="1214315"/>
              <a:ext cx="8034713" cy="453600"/>
            </a:xfrm>
            <a:prstGeom prst="rect">
              <a:avLst/>
            </a:prstGeom>
            <a:solidFill>
              <a:schemeClr val="lt1">
                <a:alpha val="89803"/>
              </a:schemeClr>
            </a:solidFill>
            <a:ln cap="flat" cmpd="sng" w="12700">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2"/>
            <p:cNvSpPr/>
            <p:nvPr/>
          </p:nvSpPr>
          <p:spPr>
            <a:xfrm>
              <a:off x="401735" y="948635"/>
              <a:ext cx="5624299" cy="531360"/>
            </a:xfrm>
            <a:prstGeom prst="roundRect">
              <a:avLst>
                <a:gd fmla="val 16667"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2"/>
            <p:cNvSpPr txBox="1"/>
            <p:nvPr/>
          </p:nvSpPr>
          <p:spPr>
            <a:xfrm>
              <a:off x="427674" y="974574"/>
              <a:ext cx="5572421" cy="479482"/>
            </a:xfrm>
            <a:prstGeom prst="rect">
              <a:avLst/>
            </a:prstGeom>
            <a:noFill/>
            <a:ln>
              <a:noFill/>
            </a:ln>
          </p:spPr>
          <p:txBody>
            <a:bodyPr anchorCtr="0" anchor="ctr" bIns="0" lIns="212575" spcFirstLastPara="1" rIns="212575" wrap="square" tIns="0">
              <a:noAutofit/>
            </a:bodyPr>
            <a:lstStyle/>
            <a:p>
              <a:pPr indent="0" lvl="0" marL="0" marR="0" rtl="0" algn="l">
                <a:lnSpc>
                  <a:spcPct val="90000"/>
                </a:lnSpc>
                <a:spcBef>
                  <a:spcPts val="0"/>
                </a:spcBef>
                <a:spcAft>
                  <a:spcPts val="0"/>
                </a:spcAft>
                <a:buNone/>
              </a:pPr>
              <a:r>
                <a:rPr lang="en-US" sz="1800">
                  <a:solidFill>
                    <a:schemeClr val="lt1"/>
                  </a:solidFill>
                  <a:latin typeface="Calibri"/>
                  <a:ea typeface="Calibri"/>
                  <a:cs typeface="Calibri"/>
                  <a:sym typeface="Calibri"/>
                </a:rPr>
                <a:t>SQL injection</a:t>
              </a:r>
              <a:endParaRPr/>
            </a:p>
          </p:txBody>
        </p:sp>
        <p:sp>
          <p:nvSpPr>
            <p:cNvPr id="106" name="Google Shape;106;p2"/>
            <p:cNvSpPr/>
            <p:nvPr/>
          </p:nvSpPr>
          <p:spPr>
            <a:xfrm>
              <a:off x="0" y="2030795"/>
              <a:ext cx="8034713" cy="453600"/>
            </a:xfrm>
            <a:prstGeom prst="rect">
              <a:avLst/>
            </a:prstGeom>
            <a:solidFill>
              <a:schemeClr val="lt1">
                <a:alpha val="89803"/>
              </a:schemeClr>
            </a:solidFill>
            <a:ln cap="flat" cmpd="sng" w="12700">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2"/>
            <p:cNvSpPr/>
            <p:nvPr/>
          </p:nvSpPr>
          <p:spPr>
            <a:xfrm>
              <a:off x="401735" y="1765116"/>
              <a:ext cx="5624299" cy="531360"/>
            </a:xfrm>
            <a:prstGeom prst="roundRect">
              <a:avLst>
                <a:gd fmla="val 16667"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
            <p:cNvSpPr txBox="1"/>
            <p:nvPr/>
          </p:nvSpPr>
          <p:spPr>
            <a:xfrm>
              <a:off x="427674" y="1791055"/>
              <a:ext cx="5572421" cy="479482"/>
            </a:xfrm>
            <a:prstGeom prst="rect">
              <a:avLst/>
            </a:prstGeom>
            <a:noFill/>
            <a:ln>
              <a:noFill/>
            </a:ln>
          </p:spPr>
          <p:txBody>
            <a:bodyPr anchorCtr="0" anchor="ctr" bIns="0" lIns="212575" spcFirstLastPara="1" rIns="212575" wrap="square" tIns="0">
              <a:noAutofit/>
            </a:bodyPr>
            <a:lstStyle/>
            <a:p>
              <a:pPr indent="0" lvl="0" marL="0" marR="0" rtl="0" algn="l">
                <a:lnSpc>
                  <a:spcPct val="90000"/>
                </a:lnSpc>
                <a:spcBef>
                  <a:spcPts val="0"/>
                </a:spcBef>
                <a:spcAft>
                  <a:spcPts val="0"/>
                </a:spcAft>
                <a:buNone/>
              </a:pPr>
              <a:r>
                <a:rPr lang="en-US" sz="1800">
                  <a:solidFill>
                    <a:schemeClr val="lt1"/>
                  </a:solidFill>
                  <a:latin typeface="Calibri"/>
                  <a:ea typeface="Calibri"/>
                  <a:cs typeface="Calibri"/>
                  <a:sym typeface="Calibri"/>
                </a:rPr>
                <a:t>Cross Site Scripting</a:t>
              </a:r>
              <a:endParaRPr/>
            </a:p>
          </p:txBody>
        </p:sp>
        <p:sp>
          <p:nvSpPr>
            <p:cNvPr id="109" name="Google Shape;109;p2"/>
            <p:cNvSpPr/>
            <p:nvPr/>
          </p:nvSpPr>
          <p:spPr>
            <a:xfrm>
              <a:off x="0" y="2847276"/>
              <a:ext cx="8034713" cy="453600"/>
            </a:xfrm>
            <a:prstGeom prst="rect">
              <a:avLst/>
            </a:prstGeom>
            <a:solidFill>
              <a:schemeClr val="lt1">
                <a:alpha val="89803"/>
              </a:schemeClr>
            </a:solidFill>
            <a:ln cap="flat" cmpd="sng" w="12700">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2"/>
            <p:cNvSpPr/>
            <p:nvPr/>
          </p:nvSpPr>
          <p:spPr>
            <a:xfrm>
              <a:off x="401735" y="2581596"/>
              <a:ext cx="5624299" cy="531360"/>
            </a:xfrm>
            <a:prstGeom prst="roundRect">
              <a:avLst>
                <a:gd fmla="val 16667"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2"/>
            <p:cNvSpPr txBox="1"/>
            <p:nvPr/>
          </p:nvSpPr>
          <p:spPr>
            <a:xfrm>
              <a:off x="427674" y="2607535"/>
              <a:ext cx="5572421" cy="479482"/>
            </a:xfrm>
            <a:prstGeom prst="rect">
              <a:avLst/>
            </a:prstGeom>
            <a:noFill/>
            <a:ln>
              <a:noFill/>
            </a:ln>
          </p:spPr>
          <p:txBody>
            <a:bodyPr anchorCtr="0" anchor="ctr" bIns="0" lIns="212575" spcFirstLastPara="1" rIns="212575" wrap="square" tIns="0">
              <a:noAutofit/>
            </a:bodyPr>
            <a:lstStyle/>
            <a:p>
              <a:pPr indent="0" lvl="0" marL="0" marR="0" rtl="0" algn="l">
                <a:lnSpc>
                  <a:spcPct val="90000"/>
                </a:lnSpc>
                <a:spcBef>
                  <a:spcPts val="0"/>
                </a:spcBef>
                <a:spcAft>
                  <a:spcPts val="0"/>
                </a:spcAft>
                <a:buNone/>
              </a:pPr>
              <a:r>
                <a:rPr lang="en-US" sz="1800">
                  <a:solidFill>
                    <a:schemeClr val="lt1"/>
                  </a:solidFill>
                  <a:latin typeface="Calibri"/>
                  <a:ea typeface="Calibri"/>
                  <a:cs typeface="Calibri"/>
                  <a:sym typeface="Calibri"/>
                </a:rPr>
                <a:t>Insecure File Upload </a:t>
              </a:r>
              <a:endParaRPr/>
            </a:p>
          </p:txBody>
        </p:sp>
        <p:sp>
          <p:nvSpPr>
            <p:cNvPr id="112" name="Google Shape;112;p2"/>
            <p:cNvSpPr/>
            <p:nvPr/>
          </p:nvSpPr>
          <p:spPr>
            <a:xfrm>
              <a:off x="0" y="3663756"/>
              <a:ext cx="8034713" cy="453600"/>
            </a:xfrm>
            <a:prstGeom prst="rect">
              <a:avLst/>
            </a:prstGeom>
            <a:solidFill>
              <a:schemeClr val="lt1">
                <a:alpha val="89803"/>
              </a:schemeClr>
            </a:solidFill>
            <a:ln cap="flat" cmpd="sng" w="12700">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2"/>
            <p:cNvSpPr/>
            <p:nvPr/>
          </p:nvSpPr>
          <p:spPr>
            <a:xfrm>
              <a:off x="401735" y="3398076"/>
              <a:ext cx="5624299" cy="531360"/>
            </a:xfrm>
            <a:prstGeom prst="roundRect">
              <a:avLst>
                <a:gd fmla="val 16667"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2"/>
            <p:cNvSpPr txBox="1"/>
            <p:nvPr/>
          </p:nvSpPr>
          <p:spPr>
            <a:xfrm>
              <a:off x="427674" y="3424015"/>
              <a:ext cx="5572421" cy="479482"/>
            </a:xfrm>
            <a:prstGeom prst="rect">
              <a:avLst/>
            </a:prstGeom>
            <a:noFill/>
            <a:ln>
              <a:noFill/>
            </a:ln>
          </p:spPr>
          <p:txBody>
            <a:bodyPr anchorCtr="0" anchor="ctr" bIns="0" lIns="212575" spcFirstLastPara="1" rIns="212575" wrap="square" tIns="0">
              <a:noAutofit/>
            </a:bodyPr>
            <a:lstStyle/>
            <a:p>
              <a:pPr indent="0" lvl="0" marL="0" marR="0" rtl="0" algn="l">
                <a:lnSpc>
                  <a:spcPct val="90000"/>
                </a:lnSpc>
                <a:spcBef>
                  <a:spcPts val="0"/>
                </a:spcBef>
                <a:spcAft>
                  <a:spcPts val="0"/>
                </a:spcAft>
                <a:buNone/>
              </a:pPr>
              <a:r>
                <a:rPr lang="en-US" sz="1800">
                  <a:solidFill>
                    <a:schemeClr val="lt1"/>
                  </a:solidFill>
                  <a:latin typeface="Calibri"/>
                  <a:ea typeface="Calibri"/>
                  <a:cs typeface="Calibri"/>
                  <a:sym typeface="Calibri"/>
                </a:rPr>
                <a:t>Broken Access Control</a:t>
              </a:r>
              <a:endParaRPr sz="1800">
                <a:solidFill>
                  <a:schemeClr val="lt1"/>
                </a:solidFill>
                <a:latin typeface="Calibri"/>
                <a:ea typeface="Calibri"/>
                <a:cs typeface="Calibri"/>
                <a:sym typeface="Calibri"/>
              </a:endParaRPr>
            </a:p>
          </p:txBody>
        </p:sp>
        <p:sp>
          <p:nvSpPr>
            <p:cNvPr id="115" name="Google Shape;115;p2"/>
            <p:cNvSpPr/>
            <p:nvPr/>
          </p:nvSpPr>
          <p:spPr>
            <a:xfrm>
              <a:off x="0" y="4480236"/>
              <a:ext cx="8034713" cy="453600"/>
            </a:xfrm>
            <a:prstGeom prst="rect">
              <a:avLst/>
            </a:prstGeom>
            <a:solidFill>
              <a:schemeClr val="lt1">
                <a:alpha val="89803"/>
              </a:schemeClr>
            </a:solidFill>
            <a:ln cap="flat" cmpd="sng" w="12700">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2"/>
            <p:cNvSpPr/>
            <p:nvPr/>
          </p:nvSpPr>
          <p:spPr>
            <a:xfrm>
              <a:off x="401735" y="4214556"/>
              <a:ext cx="5624299" cy="531360"/>
            </a:xfrm>
            <a:prstGeom prst="roundRect">
              <a:avLst>
                <a:gd fmla="val 16667"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2"/>
            <p:cNvSpPr txBox="1"/>
            <p:nvPr/>
          </p:nvSpPr>
          <p:spPr>
            <a:xfrm>
              <a:off x="427674" y="4240495"/>
              <a:ext cx="5572421" cy="479482"/>
            </a:xfrm>
            <a:prstGeom prst="rect">
              <a:avLst/>
            </a:prstGeom>
            <a:noFill/>
            <a:ln>
              <a:noFill/>
            </a:ln>
          </p:spPr>
          <p:txBody>
            <a:bodyPr anchorCtr="0" anchor="ctr" bIns="0" lIns="212575" spcFirstLastPara="1" rIns="212575" wrap="square" tIns="0">
              <a:noAutofit/>
            </a:bodyPr>
            <a:lstStyle/>
            <a:p>
              <a:pPr indent="0" lvl="0" marL="0" marR="0" rtl="0" algn="l">
                <a:lnSpc>
                  <a:spcPct val="90000"/>
                </a:lnSpc>
                <a:spcBef>
                  <a:spcPts val="0"/>
                </a:spcBef>
                <a:spcAft>
                  <a:spcPts val="0"/>
                </a:spcAft>
                <a:buNone/>
              </a:pPr>
              <a:r>
                <a:rPr lang="en-US" sz="1800">
                  <a:solidFill>
                    <a:schemeClr val="lt1"/>
                  </a:solidFill>
                  <a:latin typeface="Calibri"/>
                  <a:ea typeface="Calibri"/>
                  <a:cs typeface="Calibri"/>
                  <a:sym typeface="Calibri"/>
                </a:rPr>
                <a:t>Disclosure Sensive Information</a:t>
              </a:r>
              <a:endParaRPr sz="1800">
                <a:solidFill>
                  <a:schemeClr val="lt1"/>
                </a:solidFill>
                <a:latin typeface="Calibri"/>
                <a:ea typeface="Calibri"/>
                <a:cs typeface="Calibri"/>
                <a:sym typeface="Calibri"/>
              </a:endParaRPr>
            </a:p>
          </p:txBody>
        </p:sp>
      </p:grpSp>
      <p:pic>
        <p:nvPicPr>
          <p:cNvPr id="118" name="Google Shape;118;p2"/>
          <p:cNvPicPr preferRelativeResize="0"/>
          <p:nvPr/>
        </p:nvPicPr>
        <p:blipFill rotWithShape="1">
          <a:blip r:embed="rId3">
            <a:alphaModFix/>
          </a:blip>
          <a:srcRect b="0" l="0" r="0" t="0"/>
          <a:stretch/>
        </p:blipFill>
        <p:spPr>
          <a:xfrm>
            <a:off x="10291155" y="155494"/>
            <a:ext cx="1821331" cy="528709"/>
          </a:xfrm>
          <a:prstGeom prst="rect">
            <a:avLst/>
          </a:prstGeom>
          <a:noFill/>
          <a:ln>
            <a:noFill/>
          </a:ln>
        </p:spPr>
      </p:pic>
      <p:sp>
        <p:nvSpPr>
          <p:cNvPr id="119" name="Google Shape;119;p2"/>
          <p:cNvSpPr/>
          <p:nvPr/>
        </p:nvSpPr>
        <p:spPr>
          <a:xfrm>
            <a:off x="2031999" y="5903836"/>
            <a:ext cx="8034713" cy="453600"/>
          </a:xfrm>
          <a:prstGeom prst="rect">
            <a:avLst/>
          </a:prstGeom>
          <a:solidFill>
            <a:schemeClr val="lt1">
              <a:alpha val="89803"/>
            </a:schemeClr>
          </a:solidFill>
          <a:ln cap="flat" cmpd="sng" w="12700">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0" name="Google Shape;120;p2"/>
          <p:cNvGrpSpPr/>
          <p:nvPr/>
        </p:nvGrpSpPr>
        <p:grpSpPr>
          <a:xfrm>
            <a:off x="2427639" y="5715327"/>
            <a:ext cx="5624299" cy="531360"/>
            <a:chOff x="401735" y="4214556"/>
            <a:chExt cx="5624299" cy="531360"/>
          </a:xfrm>
        </p:grpSpPr>
        <p:sp>
          <p:nvSpPr>
            <p:cNvPr id="121" name="Google Shape;121;p2"/>
            <p:cNvSpPr/>
            <p:nvPr/>
          </p:nvSpPr>
          <p:spPr>
            <a:xfrm>
              <a:off x="401735" y="4214556"/>
              <a:ext cx="5624299" cy="531360"/>
            </a:xfrm>
            <a:prstGeom prst="roundRect">
              <a:avLst>
                <a:gd fmla="val 16667"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2"/>
            <p:cNvSpPr txBox="1"/>
            <p:nvPr/>
          </p:nvSpPr>
          <p:spPr>
            <a:xfrm>
              <a:off x="427674" y="4240495"/>
              <a:ext cx="5572421" cy="479482"/>
            </a:xfrm>
            <a:prstGeom prst="rect">
              <a:avLst/>
            </a:prstGeom>
            <a:noFill/>
            <a:ln>
              <a:noFill/>
            </a:ln>
          </p:spPr>
          <p:txBody>
            <a:bodyPr anchorCtr="0" anchor="ctr" bIns="0" lIns="212575" spcFirstLastPara="1" rIns="212575" wrap="square" tIns="0">
              <a:noAutofit/>
            </a:bodyPr>
            <a:lstStyle/>
            <a:p>
              <a:pPr indent="0" lvl="0" marL="0" marR="0" rtl="0" algn="l">
                <a:lnSpc>
                  <a:spcPct val="90000"/>
                </a:lnSpc>
                <a:spcBef>
                  <a:spcPts val="0"/>
                </a:spcBef>
                <a:spcAft>
                  <a:spcPts val="0"/>
                </a:spcAft>
                <a:buNone/>
              </a:pPr>
              <a:r>
                <a:rPr lang="en-US" sz="1800">
                  <a:solidFill>
                    <a:schemeClr val="lt1"/>
                  </a:solidFill>
                  <a:latin typeface="Calibri"/>
                  <a:ea typeface="Calibri"/>
                  <a:cs typeface="Calibri"/>
                  <a:sym typeface="Calibri"/>
                </a:rPr>
                <a:t>Conclusion</a:t>
              </a:r>
              <a:endParaRPr sz="1800">
                <a:solidFill>
                  <a:schemeClr val="lt1"/>
                </a:solidFill>
                <a:latin typeface="Calibri"/>
                <a:ea typeface="Calibri"/>
                <a:cs typeface="Calibri"/>
                <a:sym typeface="Calibri"/>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3"/>
          <p:cNvSpPr txBox="1"/>
          <p:nvPr>
            <p:ph type="title"/>
          </p:nvPr>
        </p:nvSpPr>
        <p:spPr>
          <a:xfrm>
            <a:off x="838200" y="365125"/>
            <a:ext cx="10515600" cy="568325"/>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20000"/>
              </a:lnSpc>
              <a:spcBef>
                <a:spcPts val="0"/>
              </a:spcBef>
              <a:spcAft>
                <a:spcPts val="0"/>
              </a:spcAft>
              <a:buClr>
                <a:srgbClr val="00CB8A"/>
              </a:buClr>
              <a:buSzPct val="100000"/>
              <a:buFont typeface="Arial"/>
              <a:buNone/>
            </a:pPr>
            <a:r>
              <a:rPr lang="en-US"/>
              <a:t>Lưu ý</a:t>
            </a:r>
            <a:endParaRPr/>
          </a:p>
        </p:txBody>
      </p:sp>
      <p:sp>
        <p:nvSpPr>
          <p:cNvPr id="128" name="Google Shape;128;p3"/>
          <p:cNvSpPr txBox="1"/>
          <p:nvPr>
            <p:ph idx="1" type="body"/>
          </p:nvPr>
        </p:nvSpPr>
        <p:spPr>
          <a:xfrm>
            <a:off x="838200" y="1130300"/>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130000"/>
              </a:lnSpc>
              <a:spcBef>
                <a:spcPts val="0"/>
              </a:spcBef>
              <a:spcAft>
                <a:spcPts val="0"/>
              </a:spcAft>
              <a:buClr>
                <a:schemeClr val="dk1"/>
              </a:buClr>
              <a:buSzPts val="2000"/>
              <a:buChar char="•"/>
            </a:pPr>
            <a:r>
              <a:rPr lang="en-US"/>
              <a:t>Toàn bộ tài liệu mục đích để đào tạo nhận thức , không khuyến khích thực hiện theo nội dung, chỉ được phép thử nghiệm trên môi trường TEST.</a:t>
            </a:r>
            <a:endParaRPr/>
          </a:p>
          <a:p>
            <a:pPr indent="-228600" lvl="0" marL="228600" rtl="0" algn="just">
              <a:lnSpc>
                <a:spcPct val="130000"/>
              </a:lnSpc>
              <a:spcBef>
                <a:spcPts val="600"/>
              </a:spcBef>
              <a:spcAft>
                <a:spcPts val="0"/>
              </a:spcAft>
              <a:buClr>
                <a:schemeClr val="dk1"/>
              </a:buClr>
              <a:buSzPts val="2000"/>
              <a:buChar char="•"/>
            </a:pPr>
            <a:r>
              <a:rPr lang="en-US"/>
              <a:t>Nhớ các nội dung , ví dụ trong bài đào tạo để phục vụ 2 vấn đề :</a:t>
            </a:r>
            <a:endParaRPr/>
          </a:p>
          <a:p>
            <a:pPr indent="-228600" lvl="1" marL="685800" rtl="0" algn="just">
              <a:lnSpc>
                <a:spcPct val="130000"/>
              </a:lnSpc>
              <a:spcBef>
                <a:spcPts val="600"/>
              </a:spcBef>
              <a:spcAft>
                <a:spcPts val="0"/>
              </a:spcAft>
              <a:buClr>
                <a:schemeClr val="dk1"/>
              </a:buClr>
              <a:buSzPts val="1800"/>
              <a:buChar char="•"/>
            </a:pPr>
            <a:r>
              <a:rPr lang="en-US"/>
              <a:t>Bài kiểm tra, đánh giá</a:t>
            </a:r>
            <a:endParaRPr/>
          </a:p>
          <a:p>
            <a:pPr indent="-228600" lvl="1" marL="685800" rtl="0" algn="just">
              <a:lnSpc>
                <a:spcPct val="130000"/>
              </a:lnSpc>
              <a:spcBef>
                <a:spcPts val="600"/>
              </a:spcBef>
              <a:spcAft>
                <a:spcPts val="0"/>
              </a:spcAft>
              <a:buClr>
                <a:schemeClr val="dk1"/>
              </a:buClr>
              <a:buSzPts val="1800"/>
              <a:buChar char="•"/>
            </a:pPr>
            <a:r>
              <a:rPr lang="en-US"/>
              <a:t>Nhận biết lỗ hổng khi xử lý reports của đội ANTT, kết quả kiểm thử bảo mật</a:t>
            </a:r>
            <a:endParaRPr/>
          </a:p>
          <a:p>
            <a:pPr indent="-228600" lvl="0" marL="228600" rtl="0" algn="just">
              <a:lnSpc>
                <a:spcPct val="130000"/>
              </a:lnSpc>
              <a:spcBef>
                <a:spcPts val="600"/>
              </a:spcBef>
              <a:spcAft>
                <a:spcPts val="0"/>
              </a:spcAft>
              <a:buClr>
                <a:schemeClr val="dk1"/>
              </a:buClr>
              <a:buSzPts val="2000"/>
              <a:buChar char="•"/>
            </a:pPr>
            <a:r>
              <a:rPr lang="en-US"/>
              <a:t>Các ví dụ chỉ mang tính chất minh họa, không miêu tả hết được mức độ rủi ro thực tế.</a:t>
            </a:r>
            <a:endParaRPr/>
          </a:p>
          <a:p>
            <a:pPr indent="-101600" lvl="0" marL="228600" rtl="0" algn="just">
              <a:lnSpc>
                <a:spcPct val="130000"/>
              </a:lnSpc>
              <a:spcBef>
                <a:spcPts val="600"/>
              </a:spcBef>
              <a:spcAft>
                <a:spcPts val="0"/>
              </a:spcAft>
              <a:buClr>
                <a:schemeClr val="dk1"/>
              </a:buClr>
              <a:buSzPts val="2000"/>
              <a:buNone/>
            </a:pPr>
            <a:r>
              <a:t/>
            </a:r>
            <a:endParaRPr/>
          </a:p>
          <a:p>
            <a:pPr indent="-101600" lvl="0" marL="228600" rtl="0" algn="just">
              <a:lnSpc>
                <a:spcPct val="130000"/>
              </a:lnSpc>
              <a:spcBef>
                <a:spcPts val="600"/>
              </a:spcBef>
              <a:spcAft>
                <a:spcPts val="0"/>
              </a:spcAft>
              <a:buClr>
                <a:schemeClr val="dk1"/>
              </a:buClr>
              <a:buSzPts val="2000"/>
              <a:buNone/>
            </a:pPr>
            <a:r>
              <a:t/>
            </a:r>
            <a:endParaRPr/>
          </a:p>
          <a:p>
            <a:pPr indent="0" lvl="0" marL="0" rtl="0" algn="just">
              <a:lnSpc>
                <a:spcPct val="130000"/>
              </a:lnSpc>
              <a:spcBef>
                <a:spcPts val="600"/>
              </a:spcBef>
              <a:spcAft>
                <a:spcPts val="0"/>
              </a:spcAft>
              <a:buClr>
                <a:schemeClr val="dk1"/>
              </a:buClr>
              <a:buSzPts val="20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4"/>
          <p:cNvSpPr txBox="1"/>
          <p:nvPr>
            <p:ph type="ctrTitle"/>
          </p:nvPr>
        </p:nvSpPr>
        <p:spPr>
          <a:xfrm>
            <a:off x="1723505" y="2401296"/>
            <a:ext cx="9144000" cy="896937"/>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30000"/>
              </a:lnSpc>
              <a:spcBef>
                <a:spcPts val="0"/>
              </a:spcBef>
              <a:spcAft>
                <a:spcPts val="0"/>
              </a:spcAft>
              <a:buClr>
                <a:schemeClr val="lt1"/>
              </a:buClr>
              <a:buSzPct val="100000"/>
              <a:buFont typeface="Arial"/>
              <a:buNone/>
            </a:pPr>
            <a:r>
              <a:rPr lang="en-US"/>
              <a:t>Overview</a:t>
            </a:r>
            <a:endParaRPr/>
          </a:p>
        </p:txBody>
      </p:sp>
      <p:pic>
        <p:nvPicPr>
          <p:cNvPr id="134" name="Google Shape;134;p4"/>
          <p:cNvPicPr preferRelativeResize="0"/>
          <p:nvPr/>
        </p:nvPicPr>
        <p:blipFill rotWithShape="1">
          <a:blip r:embed="rId3">
            <a:alphaModFix/>
          </a:blip>
          <a:srcRect b="0" l="0" r="0" t="0"/>
          <a:stretch/>
        </p:blipFill>
        <p:spPr>
          <a:xfrm>
            <a:off x="3734260" y="-8313"/>
            <a:ext cx="4590476" cy="107619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9" name="Shape 139"/>
        <p:cNvGrpSpPr/>
        <p:nvPr/>
      </p:nvGrpSpPr>
      <p:grpSpPr>
        <a:xfrm>
          <a:off x="0" y="0"/>
          <a:ext cx="0" cy="0"/>
          <a:chOff x="0" y="0"/>
          <a:chExt cx="0" cy="0"/>
        </a:xfrm>
      </p:grpSpPr>
      <p:sp>
        <p:nvSpPr>
          <p:cNvPr id="140" name="Google Shape;140;p5"/>
          <p:cNvSpPr/>
          <p:nvPr/>
        </p:nvSpPr>
        <p:spPr>
          <a:xfrm>
            <a:off x="522064" y="1302824"/>
            <a:ext cx="6727822" cy="4370427"/>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rgbClr val="2F5496"/>
              </a:buClr>
              <a:buSzPts val="1800"/>
              <a:buFont typeface="Arial"/>
              <a:buAutoNum type="arabicPeriod"/>
            </a:pPr>
            <a:r>
              <a:rPr b="1" lang="en-US" sz="1800">
                <a:solidFill>
                  <a:srgbClr val="2F5496"/>
                </a:solidFill>
                <a:latin typeface="Arial"/>
                <a:ea typeface="Arial"/>
                <a:cs typeface="Arial"/>
                <a:sym typeface="Arial"/>
              </a:rPr>
              <a:t>Vấn đề</a:t>
            </a:r>
            <a:endParaRPr b="1" sz="1800">
              <a:solidFill>
                <a:srgbClr val="2F5496"/>
              </a:solidFill>
              <a:latin typeface="Arial"/>
              <a:ea typeface="Arial"/>
              <a:cs typeface="Arial"/>
              <a:sym typeface="Arial"/>
            </a:endParaRPr>
          </a:p>
          <a:p>
            <a:pPr indent="-285750" lvl="0" marL="285750" marR="0" rtl="0" algn="l">
              <a:spcBef>
                <a:spcPts val="1200"/>
              </a:spcBef>
              <a:spcAft>
                <a:spcPts val="0"/>
              </a:spcAft>
              <a:buClr>
                <a:srgbClr val="2F5496"/>
              </a:buClr>
              <a:buSzPts val="1800"/>
              <a:buFont typeface="Arial"/>
              <a:buChar char="-"/>
            </a:pPr>
            <a:r>
              <a:rPr lang="en-US" sz="1800">
                <a:solidFill>
                  <a:srgbClr val="2F5496"/>
                </a:solidFill>
                <a:latin typeface="Arial"/>
                <a:ea typeface="Arial"/>
                <a:cs typeface="Arial"/>
                <a:sym typeface="Arial"/>
              </a:rPr>
              <a:t>Lỗ hổng phần mềm là do lỗ hổng lập trình và nguyên nhân chủ yếu bắt nguồn từ 2 yếu tố: ý thức và kiến thức của người lập trình</a:t>
            </a:r>
            <a:endParaRPr sz="1800">
              <a:solidFill>
                <a:srgbClr val="2F5496"/>
              </a:solidFill>
              <a:latin typeface="Arial"/>
              <a:ea typeface="Arial"/>
              <a:cs typeface="Arial"/>
              <a:sym typeface="Arial"/>
            </a:endParaRPr>
          </a:p>
          <a:p>
            <a:pPr indent="-342900" lvl="0" marL="342900" marR="0" rtl="0" algn="l">
              <a:spcBef>
                <a:spcPts val="1200"/>
              </a:spcBef>
              <a:spcAft>
                <a:spcPts val="0"/>
              </a:spcAft>
              <a:buClr>
                <a:srgbClr val="2F5496"/>
              </a:buClr>
              <a:buSzPts val="1800"/>
              <a:buFont typeface="Calibri"/>
              <a:buAutoNum type="arabicPeriod" startAt="2"/>
            </a:pPr>
            <a:r>
              <a:rPr b="1" lang="en-US" sz="1800">
                <a:solidFill>
                  <a:srgbClr val="2F5496"/>
                </a:solidFill>
                <a:latin typeface="Arial"/>
                <a:ea typeface="Arial"/>
                <a:cs typeface="Arial"/>
                <a:sym typeface="Arial"/>
              </a:rPr>
              <a:t>Hậu quả</a:t>
            </a:r>
            <a:endParaRPr b="1" sz="1800">
              <a:solidFill>
                <a:srgbClr val="2F5496"/>
              </a:solidFill>
              <a:latin typeface="Arial"/>
              <a:ea typeface="Arial"/>
              <a:cs typeface="Arial"/>
              <a:sym typeface="Arial"/>
            </a:endParaRPr>
          </a:p>
          <a:p>
            <a:pPr indent="-285750" lvl="0" marL="285750" marR="0" rtl="0" algn="l">
              <a:spcBef>
                <a:spcPts val="1200"/>
              </a:spcBef>
              <a:spcAft>
                <a:spcPts val="0"/>
              </a:spcAft>
              <a:buClr>
                <a:srgbClr val="2F5496"/>
              </a:buClr>
              <a:buSzPts val="1800"/>
              <a:buFont typeface="Arial"/>
              <a:buChar char="•"/>
            </a:pPr>
            <a:r>
              <a:rPr lang="en-US" sz="1800">
                <a:solidFill>
                  <a:srgbClr val="2F5496"/>
                </a:solidFill>
                <a:latin typeface="Arial"/>
                <a:ea typeface="Arial"/>
                <a:cs typeface="Arial"/>
                <a:sym typeface="Arial"/>
              </a:rPr>
              <a:t>Bị đánh cắp, phá hoại dữ liệu của người dùng và hệ thống</a:t>
            </a:r>
            <a:endParaRPr sz="1800">
              <a:solidFill>
                <a:srgbClr val="2F5496"/>
              </a:solidFill>
              <a:latin typeface="Arial"/>
              <a:ea typeface="Arial"/>
              <a:cs typeface="Arial"/>
              <a:sym typeface="Arial"/>
            </a:endParaRPr>
          </a:p>
          <a:p>
            <a:pPr indent="-285750" lvl="0" marL="285750" marR="0" rtl="0" algn="l">
              <a:spcBef>
                <a:spcPts val="1200"/>
              </a:spcBef>
              <a:spcAft>
                <a:spcPts val="0"/>
              </a:spcAft>
              <a:buClr>
                <a:srgbClr val="2F5496"/>
              </a:buClr>
              <a:buSzPts val="1800"/>
              <a:buFont typeface="Arial"/>
              <a:buChar char="•"/>
            </a:pPr>
            <a:r>
              <a:rPr lang="en-US" sz="1800">
                <a:solidFill>
                  <a:srgbClr val="2F5496"/>
                </a:solidFill>
                <a:latin typeface="Arial"/>
                <a:ea typeface="Arial"/>
                <a:cs typeface="Arial"/>
                <a:sym typeface="Arial"/>
              </a:rPr>
              <a:t>Dịch vụ bị trì trệ</a:t>
            </a:r>
            <a:endParaRPr sz="1800">
              <a:solidFill>
                <a:srgbClr val="2F5496"/>
              </a:solidFill>
              <a:latin typeface="Arial"/>
              <a:ea typeface="Arial"/>
              <a:cs typeface="Arial"/>
              <a:sym typeface="Arial"/>
            </a:endParaRPr>
          </a:p>
          <a:p>
            <a:pPr indent="-285750" lvl="0" marL="285750" marR="0" rtl="0" algn="l">
              <a:spcBef>
                <a:spcPts val="1200"/>
              </a:spcBef>
              <a:spcAft>
                <a:spcPts val="0"/>
              </a:spcAft>
              <a:buClr>
                <a:srgbClr val="2F5496"/>
              </a:buClr>
              <a:buSzPts val="1800"/>
              <a:buFont typeface="Arial"/>
              <a:buChar char="•"/>
            </a:pPr>
            <a:r>
              <a:rPr lang="en-US" sz="1800">
                <a:solidFill>
                  <a:srgbClr val="2F5496"/>
                </a:solidFill>
                <a:latin typeface="Arial"/>
                <a:ea typeface="Arial"/>
                <a:cs typeface="Arial"/>
                <a:sym typeface="Arial"/>
              </a:rPr>
              <a:t>Hacker chiếm quyền điểu khiển hệ thống</a:t>
            </a:r>
            <a:endParaRPr b="1" sz="1800">
              <a:solidFill>
                <a:srgbClr val="2F5496"/>
              </a:solidFill>
              <a:latin typeface="Arial"/>
              <a:ea typeface="Arial"/>
              <a:cs typeface="Arial"/>
              <a:sym typeface="Arial"/>
            </a:endParaRPr>
          </a:p>
          <a:p>
            <a:pPr indent="0" lvl="0" marL="0" marR="0" rtl="0" algn="l">
              <a:spcBef>
                <a:spcPts val="1200"/>
              </a:spcBef>
              <a:spcAft>
                <a:spcPts val="0"/>
              </a:spcAft>
              <a:buNone/>
            </a:pPr>
            <a:r>
              <a:rPr b="1" lang="en-US" sz="1800">
                <a:solidFill>
                  <a:srgbClr val="2F5496"/>
                </a:solidFill>
                <a:latin typeface="Arial"/>
                <a:ea typeface="Arial"/>
                <a:cs typeface="Arial"/>
                <a:sym typeface="Arial"/>
              </a:rPr>
              <a:t>3.  Tác động</a:t>
            </a:r>
            <a:endParaRPr b="1" sz="1800">
              <a:solidFill>
                <a:srgbClr val="2F5496"/>
              </a:solidFill>
              <a:latin typeface="Arial"/>
              <a:ea typeface="Arial"/>
              <a:cs typeface="Arial"/>
              <a:sym typeface="Arial"/>
            </a:endParaRPr>
          </a:p>
          <a:p>
            <a:pPr indent="-285750" lvl="0" marL="285750" marR="0" rtl="0" algn="l">
              <a:spcBef>
                <a:spcPts val="1200"/>
              </a:spcBef>
              <a:spcAft>
                <a:spcPts val="0"/>
              </a:spcAft>
              <a:buClr>
                <a:srgbClr val="2F5496"/>
              </a:buClr>
              <a:buSzPts val="1800"/>
              <a:buFont typeface="Arial"/>
              <a:buChar char="-"/>
            </a:pPr>
            <a:r>
              <a:rPr lang="en-US" sz="1800">
                <a:solidFill>
                  <a:srgbClr val="2F5496"/>
                </a:solidFill>
                <a:latin typeface="Arial"/>
                <a:ea typeface="Arial"/>
                <a:cs typeface="Arial"/>
                <a:sym typeface="Arial"/>
              </a:rPr>
              <a:t>Hệ thống của công ty bị rơi vào  trạng thái nguy hiểm</a:t>
            </a:r>
            <a:endParaRPr sz="1800">
              <a:solidFill>
                <a:srgbClr val="2F5496"/>
              </a:solidFill>
              <a:latin typeface="Arial"/>
              <a:ea typeface="Arial"/>
              <a:cs typeface="Arial"/>
              <a:sym typeface="Arial"/>
            </a:endParaRPr>
          </a:p>
          <a:p>
            <a:pPr indent="-285750" lvl="0" marL="285750" marR="0" rtl="0" algn="l">
              <a:spcBef>
                <a:spcPts val="1200"/>
              </a:spcBef>
              <a:spcAft>
                <a:spcPts val="0"/>
              </a:spcAft>
              <a:buClr>
                <a:srgbClr val="2F5496"/>
              </a:buClr>
              <a:buSzPts val="1800"/>
              <a:buFont typeface="Arial"/>
              <a:buChar char="-"/>
            </a:pPr>
            <a:r>
              <a:rPr lang="en-US" sz="1800">
                <a:solidFill>
                  <a:srgbClr val="2F5496"/>
                </a:solidFill>
                <a:latin typeface="Arial"/>
                <a:ea typeface="Arial"/>
                <a:cs typeface="Arial"/>
                <a:sym typeface="Arial"/>
              </a:rPr>
              <a:t>Hình ảnh của công ty bị giảm sút</a:t>
            </a:r>
            <a:endParaRPr sz="1800">
              <a:solidFill>
                <a:srgbClr val="2F5496"/>
              </a:solidFill>
              <a:latin typeface="Arial"/>
              <a:ea typeface="Arial"/>
              <a:cs typeface="Arial"/>
              <a:sym typeface="Arial"/>
            </a:endParaRPr>
          </a:p>
        </p:txBody>
      </p:sp>
      <p:sp>
        <p:nvSpPr>
          <p:cNvPr id="141" name="Google Shape;141;p5"/>
          <p:cNvSpPr txBox="1"/>
          <p:nvPr/>
        </p:nvSpPr>
        <p:spPr>
          <a:xfrm>
            <a:off x="625049" y="200245"/>
            <a:ext cx="10515600" cy="439208"/>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2E75B5"/>
              </a:buClr>
              <a:buSzPts val="2800"/>
              <a:buFont typeface="Arial"/>
              <a:buNone/>
            </a:pPr>
            <a:r>
              <a:rPr b="1" lang="en-US" sz="2800">
                <a:solidFill>
                  <a:srgbClr val="2E75B5"/>
                </a:solidFill>
                <a:latin typeface="Arial"/>
                <a:ea typeface="Arial"/>
                <a:cs typeface="Arial"/>
                <a:sym typeface="Arial"/>
              </a:rPr>
              <a:t>Tại sao cần đào tạo bảo mật ? </a:t>
            </a:r>
            <a:endParaRPr b="1" sz="2800">
              <a:solidFill>
                <a:srgbClr val="2E75B5"/>
              </a:solidFill>
              <a:latin typeface="Arial"/>
              <a:ea typeface="Arial"/>
              <a:cs typeface="Arial"/>
              <a:sym typeface="Arial"/>
            </a:endParaRPr>
          </a:p>
        </p:txBody>
      </p:sp>
      <p:cxnSp>
        <p:nvCxnSpPr>
          <p:cNvPr id="142" name="Google Shape;142;p5"/>
          <p:cNvCxnSpPr/>
          <p:nvPr/>
        </p:nvCxnSpPr>
        <p:spPr>
          <a:xfrm>
            <a:off x="625049" y="656364"/>
            <a:ext cx="10268238" cy="43977"/>
          </a:xfrm>
          <a:prstGeom prst="straightConnector1">
            <a:avLst/>
          </a:prstGeom>
          <a:noFill/>
          <a:ln cap="flat" cmpd="sng" w="9525">
            <a:solidFill>
              <a:schemeClr val="accent1"/>
            </a:solidFill>
            <a:prstDash val="solid"/>
            <a:miter lim="800000"/>
            <a:headEnd len="sm" w="sm" type="none"/>
            <a:tailEnd len="sm" w="sm" type="none"/>
          </a:ln>
        </p:spPr>
      </p:cxnSp>
      <p:pic>
        <p:nvPicPr>
          <p:cNvPr id="143" name="Google Shape;143;p5"/>
          <p:cNvPicPr preferRelativeResize="0"/>
          <p:nvPr/>
        </p:nvPicPr>
        <p:blipFill rotWithShape="1">
          <a:blip r:embed="rId4">
            <a:alphaModFix/>
          </a:blip>
          <a:srcRect b="0" l="0" r="0" t="0"/>
          <a:stretch/>
        </p:blipFill>
        <p:spPr>
          <a:xfrm>
            <a:off x="10291155" y="155494"/>
            <a:ext cx="1821331" cy="528709"/>
          </a:xfrm>
          <a:prstGeom prst="rect">
            <a:avLst/>
          </a:prstGeom>
          <a:noFill/>
          <a:ln>
            <a:noFill/>
          </a:ln>
        </p:spPr>
      </p:pic>
      <p:pic>
        <p:nvPicPr>
          <p:cNvPr descr="Fostering Secure Coding Practices for Web Applications | Netsparker" id="144" name="Google Shape;144;p5"/>
          <p:cNvPicPr preferRelativeResize="0"/>
          <p:nvPr/>
        </p:nvPicPr>
        <p:blipFill rotWithShape="1">
          <a:blip r:embed="rId5">
            <a:alphaModFix/>
          </a:blip>
          <a:srcRect b="0" l="0" r="48973" t="-329"/>
          <a:stretch/>
        </p:blipFill>
        <p:spPr>
          <a:xfrm>
            <a:off x="7382582" y="1856792"/>
            <a:ext cx="3384945" cy="3494088"/>
          </a:xfrm>
          <a:prstGeom prst="rect">
            <a:avLst/>
          </a:prstGeom>
          <a:noFill/>
          <a:ln>
            <a:noFill/>
          </a:ln>
          <a:effectLst>
            <a:outerShdw blurRad="44450" algn="ctr" dir="5400000" dist="27940">
              <a:srgbClr val="000000">
                <a:alpha val="31764"/>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8" name="Shape 148"/>
        <p:cNvGrpSpPr/>
        <p:nvPr/>
      </p:nvGrpSpPr>
      <p:grpSpPr>
        <a:xfrm>
          <a:off x="0" y="0"/>
          <a:ext cx="0" cy="0"/>
          <a:chOff x="0" y="0"/>
          <a:chExt cx="0" cy="0"/>
        </a:xfrm>
      </p:grpSpPr>
      <p:sp>
        <p:nvSpPr>
          <p:cNvPr id="149" name="Google Shape;149;p6"/>
          <p:cNvSpPr txBox="1"/>
          <p:nvPr/>
        </p:nvSpPr>
        <p:spPr>
          <a:xfrm>
            <a:off x="625049" y="200245"/>
            <a:ext cx="10515600" cy="439208"/>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2E75B5"/>
              </a:buClr>
              <a:buSzPts val="2800"/>
              <a:buFont typeface="Arial"/>
              <a:buNone/>
            </a:pPr>
            <a:r>
              <a:rPr b="1" lang="en-US" sz="2800">
                <a:solidFill>
                  <a:srgbClr val="2E75B5"/>
                </a:solidFill>
                <a:latin typeface="Arial"/>
                <a:ea typeface="Arial"/>
                <a:cs typeface="Arial"/>
                <a:sym typeface="Arial"/>
              </a:rPr>
              <a:t>Thí dụ</a:t>
            </a:r>
            <a:endParaRPr b="1" sz="2800">
              <a:solidFill>
                <a:srgbClr val="2E75B5"/>
              </a:solidFill>
              <a:latin typeface="Arial"/>
              <a:ea typeface="Arial"/>
              <a:cs typeface="Arial"/>
              <a:sym typeface="Arial"/>
            </a:endParaRPr>
          </a:p>
        </p:txBody>
      </p:sp>
      <p:cxnSp>
        <p:nvCxnSpPr>
          <p:cNvPr id="150" name="Google Shape;150;p6"/>
          <p:cNvCxnSpPr/>
          <p:nvPr/>
        </p:nvCxnSpPr>
        <p:spPr>
          <a:xfrm>
            <a:off x="625049" y="656364"/>
            <a:ext cx="10268238" cy="43977"/>
          </a:xfrm>
          <a:prstGeom prst="straightConnector1">
            <a:avLst/>
          </a:prstGeom>
          <a:noFill/>
          <a:ln cap="flat" cmpd="sng" w="9525">
            <a:solidFill>
              <a:schemeClr val="accent1"/>
            </a:solidFill>
            <a:prstDash val="solid"/>
            <a:miter lim="800000"/>
            <a:headEnd len="sm" w="sm" type="none"/>
            <a:tailEnd len="sm" w="sm" type="none"/>
          </a:ln>
        </p:spPr>
      </p:cxnSp>
      <p:pic>
        <p:nvPicPr>
          <p:cNvPr id="151" name="Google Shape;151;p6"/>
          <p:cNvPicPr preferRelativeResize="0"/>
          <p:nvPr/>
        </p:nvPicPr>
        <p:blipFill rotWithShape="1">
          <a:blip r:embed="rId4">
            <a:alphaModFix/>
          </a:blip>
          <a:srcRect b="0" l="0" r="0" t="0"/>
          <a:stretch/>
        </p:blipFill>
        <p:spPr>
          <a:xfrm>
            <a:off x="10291155" y="155494"/>
            <a:ext cx="1821331" cy="528709"/>
          </a:xfrm>
          <a:prstGeom prst="rect">
            <a:avLst/>
          </a:prstGeom>
          <a:noFill/>
          <a:ln>
            <a:noFill/>
          </a:ln>
        </p:spPr>
      </p:pic>
      <p:pic>
        <p:nvPicPr>
          <p:cNvPr descr="Có thể là hình ảnh về đang ngồi" id="152" name="Google Shape;152;p6"/>
          <p:cNvPicPr preferRelativeResize="0"/>
          <p:nvPr/>
        </p:nvPicPr>
        <p:blipFill rotWithShape="1">
          <a:blip r:embed="rId5">
            <a:alphaModFix/>
          </a:blip>
          <a:srcRect b="0" l="0" r="0" t="0"/>
          <a:stretch/>
        </p:blipFill>
        <p:spPr>
          <a:xfrm>
            <a:off x="853518" y="1254705"/>
            <a:ext cx="10627282" cy="3698431"/>
          </a:xfrm>
          <a:prstGeom prst="rect">
            <a:avLst/>
          </a:prstGeom>
          <a:noFill/>
          <a:ln>
            <a:noFill/>
          </a:ln>
        </p:spPr>
      </p:pic>
      <p:pic>
        <p:nvPicPr>
          <p:cNvPr descr="Hacker &amp;quot;báo giá&amp;quot; 290.000 USD cho mã nguồn của BKAV | VTV.VN" id="153" name="Google Shape;153;p6"/>
          <p:cNvPicPr preferRelativeResize="0"/>
          <p:nvPr/>
        </p:nvPicPr>
        <p:blipFill rotWithShape="1">
          <a:blip r:embed="rId6">
            <a:alphaModFix/>
          </a:blip>
          <a:srcRect b="0" l="0" r="0" t="0"/>
          <a:stretch/>
        </p:blipFill>
        <p:spPr>
          <a:xfrm>
            <a:off x="3387622" y="1364723"/>
            <a:ext cx="5664014" cy="3544055"/>
          </a:xfrm>
          <a:prstGeom prst="rect">
            <a:avLst/>
          </a:prstGeom>
          <a:noFill/>
          <a:ln>
            <a:noFill/>
          </a:ln>
        </p:spPr>
      </p:pic>
      <p:pic>
        <p:nvPicPr>
          <p:cNvPr id="154" name="Google Shape;154;p6"/>
          <p:cNvPicPr preferRelativeResize="0"/>
          <p:nvPr/>
        </p:nvPicPr>
        <p:blipFill rotWithShape="1">
          <a:blip r:embed="rId7">
            <a:alphaModFix/>
          </a:blip>
          <a:srcRect b="0" l="0" r="0" t="0"/>
          <a:stretch/>
        </p:blipFill>
        <p:spPr>
          <a:xfrm>
            <a:off x="775855" y="907720"/>
            <a:ext cx="10704945" cy="541065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5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7"/>
          <p:cNvSpPr/>
          <p:nvPr/>
        </p:nvSpPr>
        <p:spPr>
          <a:xfrm>
            <a:off x="397762" y="684202"/>
            <a:ext cx="10970100" cy="510900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rgbClr val="2F5496"/>
              </a:buClr>
              <a:buSzPts val="1800"/>
              <a:buFont typeface="Times New Roman"/>
              <a:buChar char="-"/>
            </a:pPr>
            <a:r>
              <a:rPr b="1" lang="en-US" sz="1800">
                <a:solidFill>
                  <a:srgbClr val="2F5496"/>
                </a:solidFill>
                <a:latin typeface="Times New Roman"/>
                <a:ea typeface="Times New Roman"/>
                <a:cs typeface="Times New Roman"/>
                <a:sym typeface="Times New Roman"/>
              </a:rPr>
              <a:t>Các lỗ hổng phổ biến</a:t>
            </a:r>
            <a:endParaRPr b="1" sz="1800">
              <a:solidFill>
                <a:srgbClr val="2F5496"/>
              </a:solidFill>
              <a:latin typeface="Times New Roman"/>
              <a:ea typeface="Times New Roman"/>
              <a:cs typeface="Times New Roman"/>
              <a:sym typeface="Times New Roman"/>
            </a:endParaRPr>
          </a:p>
          <a:p>
            <a:pPr indent="-171450" lvl="0" marL="285750" marR="0" rtl="0" algn="l">
              <a:spcBef>
                <a:spcPts val="1200"/>
              </a:spcBef>
              <a:spcAft>
                <a:spcPts val="0"/>
              </a:spcAft>
              <a:buClr>
                <a:schemeClr val="dk1"/>
              </a:buClr>
              <a:buSzPts val="1800"/>
              <a:buFont typeface="Calibri"/>
              <a:buNone/>
            </a:pPr>
            <a:r>
              <a:t/>
            </a:r>
            <a:endParaRPr b="1" sz="1800">
              <a:solidFill>
                <a:srgbClr val="2F5496"/>
              </a:solidFill>
              <a:latin typeface="Times New Roman"/>
              <a:ea typeface="Times New Roman"/>
              <a:cs typeface="Times New Roman"/>
              <a:sym typeface="Times New Roman"/>
            </a:endParaRPr>
          </a:p>
          <a:p>
            <a:pPr indent="-171450" lvl="0" marL="285750" marR="0" rtl="0" algn="l">
              <a:spcBef>
                <a:spcPts val="1200"/>
              </a:spcBef>
              <a:spcAft>
                <a:spcPts val="0"/>
              </a:spcAft>
              <a:buClr>
                <a:schemeClr val="dk1"/>
              </a:buClr>
              <a:buSzPts val="1800"/>
              <a:buFont typeface="Calibri"/>
              <a:buNone/>
            </a:pPr>
            <a:r>
              <a:t/>
            </a:r>
            <a:endParaRPr b="1" sz="1800">
              <a:solidFill>
                <a:srgbClr val="2F5496"/>
              </a:solidFill>
              <a:latin typeface="Times New Roman"/>
              <a:ea typeface="Times New Roman"/>
              <a:cs typeface="Times New Roman"/>
              <a:sym typeface="Times New Roman"/>
            </a:endParaRPr>
          </a:p>
          <a:p>
            <a:pPr indent="-171450" lvl="0" marL="285750" marR="0" rtl="0" algn="l">
              <a:spcBef>
                <a:spcPts val="1200"/>
              </a:spcBef>
              <a:spcAft>
                <a:spcPts val="0"/>
              </a:spcAft>
              <a:buClr>
                <a:schemeClr val="dk1"/>
              </a:buClr>
              <a:buSzPts val="1800"/>
              <a:buFont typeface="Calibri"/>
              <a:buNone/>
            </a:pPr>
            <a:r>
              <a:t/>
            </a:r>
            <a:endParaRPr b="1" sz="1800">
              <a:solidFill>
                <a:srgbClr val="2F5496"/>
              </a:solidFill>
              <a:latin typeface="Times New Roman"/>
              <a:ea typeface="Times New Roman"/>
              <a:cs typeface="Times New Roman"/>
              <a:sym typeface="Times New Roman"/>
            </a:endParaRPr>
          </a:p>
          <a:p>
            <a:pPr indent="-171450" lvl="0" marL="285750" marR="0" rtl="0" algn="l">
              <a:spcBef>
                <a:spcPts val="1200"/>
              </a:spcBef>
              <a:spcAft>
                <a:spcPts val="0"/>
              </a:spcAft>
              <a:buClr>
                <a:schemeClr val="dk1"/>
              </a:buClr>
              <a:buSzPts val="1800"/>
              <a:buFont typeface="Calibri"/>
              <a:buNone/>
            </a:pPr>
            <a:r>
              <a:t/>
            </a:r>
            <a:endParaRPr b="1" sz="1800">
              <a:solidFill>
                <a:srgbClr val="2F5496"/>
              </a:solidFill>
              <a:latin typeface="Times New Roman"/>
              <a:ea typeface="Times New Roman"/>
              <a:cs typeface="Times New Roman"/>
              <a:sym typeface="Times New Roman"/>
            </a:endParaRPr>
          </a:p>
          <a:p>
            <a:pPr indent="0" lvl="0" marL="0" marR="0" rtl="0" algn="l">
              <a:spcBef>
                <a:spcPts val="1200"/>
              </a:spcBef>
              <a:spcAft>
                <a:spcPts val="0"/>
              </a:spcAft>
              <a:buNone/>
            </a:pPr>
            <a:r>
              <a:t/>
            </a:r>
            <a:endParaRPr b="1" sz="1800">
              <a:solidFill>
                <a:srgbClr val="2F5496"/>
              </a:solidFill>
              <a:latin typeface="Times New Roman"/>
              <a:ea typeface="Times New Roman"/>
              <a:cs typeface="Times New Roman"/>
              <a:sym typeface="Times New Roman"/>
            </a:endParaRPr>
          </a:p>
          <a:p>
            <a:pPr indent="0" lvl="0" marL="0" marR="0" rtl="0" algn="l">
              <a:spcBef>
                <a:spcPts val="1200"/>
              </a:spcBef>
              <a:spcAft>
                <a:spcPts val="0"/>
              </a:spcAft>
              <a:buNone/>
            </a:pPr>
            <a:r>
              <a:t/>
            </a:r>
            <a:endParaRPr b="1" sz="1800">
              <a:solidFill>
                <a:srgbClr val="2F5496"/>
              </a:solidFill>
              <a:latin typeface="Times New Roman"/>
              <a:ea typeface="Times New Roman"/>
              <a:cs typeface="Times New Roman"/>
              <a:sym typeface="Times New Roman"/>
            </a:endParaRPr>
          </a:p>
          <a:p>
            <a:pPr indent="0" lvl="0" marL="0" marR="0" rtl="0" algn="l">
              <a:spcBef>
                <a:spcPts val="1200"/>
              </a:spcBef>
              <a:spcAft>
                <a:spcPts val="0"/>
              </a:spcAft>
              <a:buNone/>
            </a:pPr>
            <a:r>
              <a:t/>
            </a:r>
            <a:endParaRPr b="1" sz="1800">
              <a:solidFill>
                <a:srgbClr val="2F5496"/>
              </a:solidFill>
              <a:latin typeface="Times New Roman"/>
              <a:ea typeface="Times New Roman"/>
              <a:cs typeface="Times New Roman"/>
              <a:sym typeface="Times New Roman"/>
            </a:endParaRPr>
          </a:p>
          <a:p>
            <a:pPr indent="0" lvl="0" marL="0" marR="0" rtl="0" algn="l">
              <a:spcBef>
                <a:spcPts val="1200"/>
              </a:spcBef>
              <a:spcAft>
                <a:spcPts val="0"/>
              </a:spcAft>
              <a:buNone/>
            </a:pPr>
            <a:r>
              <a:t/>
            </a:r>
            <a:endParaRPr b="1" sz="1800">
              <a:solidFill>
                <a:srgbClr val="2F5496"/>
              </a:solidFill>
              <a:latin typeface="Times New Roman"/>
              <a:ea typeface="Times New Roman"/>
              <a:cs typeface="Times New Roman"/>
              <a:sym typeface="Times New Roman"/>
            </a:endParaRPr>
          </a:p>
          <a:p>
            <a:pPr indent="0" lvl="0" marL="0" marR="0" rtl="0" algn="l">
              <a:spcBef>
                <a:spcPts val="1200"/>
              </a:spcBef>
              <a:spcAft>
                <a:spcPts val="0"/>
              </a:spcAft>
              <a:buNone/>
            </a:pPr>
            <a:r>
              <a:t/>
            </a:r>
            <a:endParaRPr b="1" sz="1800">
              <a:solidFill>
                <a:srgbClr val="2F5496"/>
              </a:solidFill>
              <a:latin typeface="Times New Roman"/>
              <a:ea typeface="Times New Roman"/>
              <a:cs typeface="Times New Roman"/>
              <a:sym typeface="Times New Roman"/>
            </a:endParaRPr>
          </a:p>
          <a:p>
            <a:pPr indent="-285750" lvl="0" marL="285750" marR="0" rtl="0" algn="l">
              <a:spcBef>
                <a:spcPts val="1200"/>
              </a:spcBef>
              <a:spcAft>
                <a:spcPts val="0"/>
              </a:spcAft>
              <a:buClr>
                <a:srgbClr val="2F5496"/>
              </a:buClr>
              <a:buSzPts val="1800"/>
              <a:buFont typeface="Times New Roman"/>
              <a:buChar char="-"/>
            </a:pPr>
            <a:r>
              <a:rPr b="1" lang="en-US" sz="1800">
                <a:solidFill>
                  <a:srgbClr val="2F5496"/>
                </a:solidFill>
                <a:latin typeface="Times New Roman"/>
                <a:ea typeface="Times New Roman"/>
                <a:cs typeface="Times New Roman"/>
                <a:sym typeface="Times New Roman"/>
              </a:rPr>
              <a:t>Các phương pháp khắc phục</a:t>
            </a:r>
            <a:r>
              <a:rPr lang="en-US" sz="1800">
                <a:solidFill>
                  <a:srgbClr val="2F5496"/>
                </a:solidFill>
                <a:latin typeface="Times New Roman"/>
                <a:ea typeface="Times New Roman"/>
                <a:cs typeface="Times New Roman"/>
                <a:sym typeface="Times New Roman"/>
              </a:rPr>
              <a:t>: Mỗi lỗ hổng sẽ có cách khắc phục khác nhau</a:t>
            </a:r>
            <a:endParaRPr sz="1800">
              <a:solidFill>
                <a:srgbClr val="2F5496"/>
              </a:solidFill>
              <a:latin typeface="Times New Roman"/>
              <a:ea typeface="Times New Roman"/>
              <a:cs typeface="Times New Roman"/>
              <a:sym typeface="Times New Roman"/>
            </a:endParaRPr>
          </a:p>
          <a:p>
            <a:pPr indent="-171450" lvl="0" marL="285750" marR="0" rtl="0" algn="l">
              <a:spcBef>
                <a:spcPts val="1200"/>
              </a:spcBef>
              <a:spcAft>
                <a:spcPts val="0"/>
              </a:spcAft>
              <a:buClr>
                <a:schemeClr val="dk1"/>
              </a:buClr>
              <a:buSzPts val="1800"/>
              <a:buFont typeface="Calibri"/>
              <a:buNone/>
            </a:pPr>
            <a:r>
              <a:t/>
            </a:r>
            <a:endParaRPr b="1" sz="1800">
              <a:solidFill>
                <a:srgbClr val="2F5496"/>
              </a:solidFill>
              <a:latin typeface="Times New Roman"/>
              <a:ea typeface="Times New Roman"/>
              <a:cs typeface="Times New Roman"/>
              <a:sym typeface="Times New Roman"/>
            </a:endParaRPr>
          </a:p>
        </p:txBody>
      </p:sp>
      <p:sp>
        <p:nvSpPr>
          <p:cNvPr id="161" name="Google Shape;161;p7"/>
          <p:cNvSpPr txBox="1"/>
          <p:nvPr/>
        </p:nvSpPr>
        <p:spPr>
          <a:xfrm>
            <a:off x="625049" y="200245"/>
            <a:ext cx="10515600" cy="439208"/>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2E75B5"/>
              </a:buClr>
              <a:buSzPts val="2800"/>
              <a:buFont typeface="Arial"/>
              <a:buNone/>
            </a:pPr>
            <a:r>
              <a:rPr b="1" lang="en-US" sz="2800">
                <a:solidFill>
                  <a:srgbClr val="2E75B5"/>
                </a:solidFill>
                <a:latin typeface="Arial"/>
                <a:ea typeface="Arial"/>
                <a:cs typeface="Arial"/>
                <a:sym typeface="Arial"/>
              </a:rPr>
              <a:t>Các vấn đề cần quan tâm</a:t>
            </a:r>
            <a:endParaRPr b="1" sz="2800">
              <a:solidFill>
                <a:srgbClr val="2E75B5"/>
              </a:solidFill>
              <a:latin typeface="Arial"/>
              <a:ea typeface="Arial"/>
              <a:cs typeface="Arial"/>
              <a:sym typeface="Arial"/>
            </a:endParaRPr>
          </a:p>
        </p:txBody>
      </p:sp>
      <p:cxnSp>
        <p:nvCxnSpPr>
          <p:cNvPr id="162" name="Google Shape;162;p7"/>
          <p:cNvCxnSpPr/>
          <p:nvPr/>
        </p:nvCxnSpPr>
        <p:spPr>
          <a:xfrm>
            <a:off x="625049" y="656364"/>
            <a:ext cx="10268238" cy="43977"/>
          </a:xfrm>
          <a:prstGeom prst="straightConnector1">
            <a:avLst/>
          </a:prstGeom>
          <a:noFill/>
          <a:ln cap="flat" cmpd="sng" w="9525">
            <a:solidFill>
              <a:schemeClr val="accent1"/>
            </a:solidFill>
            <a:prstDash val="solid"/>
            <a:miter lim="800000"/>
            <a:headEnd len="sm" w="sm" type="none"/>
            <a:tailEnd len="sm" w="sm" type="none"/>
          </a:ln>
        </p:spPr>
      </p:cxnSp>
      <p:pic>
        <p:nvPicPr>
          <p:cNvPr id="163" name="Google Shape;163;p7"/>
          <p:cNvPicPr preferRelativeResize="0"/>
          <p:nvPr/>
        </p:nvPicPr>
        <p:blipFill rotWithShape="1">
          <a:blip r:embed="rId3">
            <a:alphaModFix/>
          </a:blip>
          <a:srcRect b="0" l="0" r="0" t="0"/>
          <a:stretch/>
        </p:blipFill>
        <p:spPr>
          <a:xfrm>
            <a:off x="10291155" y="155494"/>
            <a:ext cx="1821331" cy="528709"/>
          </a:xfrm>
          <a:prstGeom prst="rect">
            <a:avLst/>
          </a:prstGeom>
          <a:noFill/>
          <a:ln>
            <a:noFill/>
          </a:ln>
        </p:spPr>
      </p:pic>
      <p:pic>
        <p:nvPicPr>
          <p:cNvPr id="164" name="Google Shape;164;p7"/>
          <p:cNvPicPr preferRelativeResize="0"/>
          <p:nvPr/>
        </p:nvPicPr>
        <p:blipFill>
          <a:blip r:embed="rId4">
            <a:alphaModFix/>
          </a:blip>
          <a:stretch>
            <a:fillRect/>
          </a:stretch>
        </p:blipFill>
        <p:spPr>
          <a:xfrm>
            <a:off x="2474250" y="1268500"/>
            <a:ext cx="7369000" cy="3684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8"/>
          <p:cNvSpPr txBox="1"/>
          <p:nvPr/>
        </p:nvSpPr>
        <p:spPr>
          <a:xfrm>
            <a:off x="625049" y="200245"/>
            <a:ext cx="10515600" cy="439208"/>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2E75B5"/>
              </a:buClr>
              <a:buSzPts val="2800"/>
              <a:buFont typeface="Arial"/>
              <a:buNone/>
            </a:pPr>
            <a:r>
              <a:rPr b="1" lang="en-US" sz="2800">
                <a:solidFill>
                  <a:srgbClr val="2E75B5"/>
                </a:solidFill>
                <a:latin typeface="Arial"/>
                <a:ea typeface="Arial"/>
                <a:cs typeface="Arial"/>
                <a:sym typeface="Arial"/>
              </a:rPr>
              <a:t>Lập trình an toàn</a:t>
            </a:r>
            <a:endParaRPr b="1" sz="2800">
              <a:solidFill>
                <a:srgbClr val="2E75B5"/>
              </a:solidFill>
              <a:latin typeface="Arial"/>
              <a:ea typeface="Arial"/>
              <a:cs typeface="Arial"/>
              <a:sym typeface="Arial"/>
            </a:endParaRPr>
          </a:p>
        </p:txBody>
      </p:sp>
      <p:cxnSp>
        <p:nvCxnSpPr>
          <p:cNvPr id="170" name="Google Shape;170;p8"/>
          <p:cNvCxnSpPr/>
          <p:nvPr/>
        </p:nvCxnSpPr>
        <p:spPr>
          <a:xfrm>
            <a:off x="625049" y="656364"/>
            <a:ext cx="10268238" cy="43977"/>
          </a:xfrm>
          <a:prstGeom prst="straightConnector1">
            <a:avLst/>
          </a:prstGeom>
          <a:noFill/>
          <a:ln cap="flat" cmpd="sng" w="9525">
            <a:solidFill>
              <a:schemeClr val="accent1"/>
            </a:solidFill>
            <a:prstDash val="solid"/>
            <a:miter lim="800000"/>
            <a:headEnd len="sm" w="sm" type="none"/>
            <a:tailEnd len="sm" w="sm" type="none"/>
          </a:ln>
        </p:spPr>
      </p:cxnSp>
      <p:grpSp>
        <p:nvGrpSpPr>
          <p:cNvPr id="171" name="Google Shape;171;p8"/>
          <p:cNvGrpSpPr/>
          <p:nvPr/>
        </p:nvGrpSpPr>
        <p:grpSpPr>
          <a:xfrm>
            <a:off x="2050661" y="849407"/>
            <a:ext cx="8034713" cy="4801681"/>
            <a:chOff x="0" y="132155"/>
            <a:chExt cx="8034713" cy="4801681"/>
          </a:xfrm>
        </p:grpSpPr>
        <p:sp>
          <p:nvSpPr>
            <p:cNvPr id="172" name="Google Shape;172;p8"/>
            <p:cNvSpPr/>
            <p:nvPr/>
          </p:nvSpPr>
          <p:spPr>
            <a:xfrm>
              <a:off x="0" y="397835"/>
              <a:ext cx="8034713" cy="453600"/>
            </a:xfrm>
            <a:prstGeom prst="rect">
              <a:avLst/>
            </a:prstGeom>
            <a:solidFill>
              <a:schemeClr val="lt1">
                <a:alpha val="89803"/>
              </a:schemeClr>
            </a:solidFill>
            <a:ln cap="flat" cmpd="sng" w="12700">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8"/>
            <p:cNvSpPr/>
            <p:nvPr/>
          </p:nvSpPr>
          <p:spPr>
            <a:xfrm>
              <a:off x="401735" y="132155"/>
              <a:ext cx="5624299" cy="531360"/>
            </a:xfrm>
            <a:prstGeom prst="roundRect">
              <a:avLst>
                <a:gd fmla="val 16667"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8"/>
            <p:cNvSpPr txBox="1"/>
            <p:nvPr/>
          </p:nvSpPr>
          <p:spPr>
            <a:xfrm>
              <a:off x="427674" y="158094"/>
              <a:ext cx="5572421" cy="479482"/>
            </a:xfrm>
            <a:prstGeom prst="rect">
              <a:avLst/>
            </a:prstGeom>
            <a:noFill/>
            <a:ln>
              <a:noFill/>
            </a:ln>
          </p:spPr>
          <p:txBody>
            <a:bodyPr anchorCtr="0" anchor="ctr" bIns="0" lIns="212575" spcFirstLastPara="1" rIns="212575" wrap="square" tIns="0">
              <a:noAutofit/>
            </a:bodyPr>
            <a:lstStyle/>
            <a:p>
              <a:pPr indent="0" lvl="0" marL="0" marR="0" rtl="0" algn="l">
                <a:lnSpc>
                  <a:spcPct val="90000"/>
                </a:lnSpc>
                <a:spcBef>
                  <a:spcPts val="0"/>
                </a:spcBef>
                <a:spcAft>
                  <a:spcPts val="0"/>
                </a:spcAft>
                <a:buNone/>
              </a:pPr>
              <a:r>
                <a:rPr lang="en-US" sz="1800">
                  <a:solidFill>
                    <a:schemeClr val="lt1"/>
                  </a:solidFill>
                  <a:latin typeface="Calibri"/>
                  <a:ea typeface="Calibri"/>
                  <a:cs typeface="Calibri"/>
                  <a:sym typeface="Calibri"/>
                </a:rPr>
                <a:t>SQL injection</a:t>
              </a:r>
              <a:endParaRPr/>
            </a:p>
          </p:txBody>
        </p:sp>
        <p:sp>
          <p:nvSpPr>
            <p:cNvPr id="175" name="Google Shape;175;p8"/>
            <p:cNvSpPr/>
            <p:nvPr/>
          </p:nvSpPr>
          <p:spPr>
            <a:xfrm>
              <a:off x="0" y="1214315"/>
              <a:ext cx="8034713" cy="453600"/>
            </a:xfrm>
            <a:prstGeom prst="rect">
              <a:avLst/>
            </a:prstGeom>
            <a:solidFill>
              <a:schemeClr val="lt1">
                <a:alpha val="89803"/>
              </a:schemeClr>
            </a:solidFill>
            <a:ln cap="flat" cmpd="sng" w="12700">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8"/>
            <p:cNvSpPr/>
            <p:nvPr/>
          </p:nvSpPr>
          <p:spPr>
            <a:xfrm>
              <a:off x="401735" y="948635"/>
              <a:ext cx="5624299" cy="531360"/>
            </a:xfrm>
            <a:prstGeom prst="roundRect">
              <a:avLst>
                <a:gd fmla="val 16667"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8"/>
            <p:cNvSpPr txBox="1"/>
            <p:nvPr/>
          </p:nvSpPr>
          <p:spPr>
            <a:xfrm>
              <a:off x="427674" y="974574"/>
              <a:ext cx="5572421" cy="479482"/>
            </a:xfrm>
            <a:prstGeom prst="rect">
              <a:avLst/>
            </a:prstGeom>
            <a:noFill/>
            <a:ln>
              <a:noFill/>
            </a:ln>
          </p:spPr>
          <p:txBody>
            <a:bodyPr anchorCtr="0" anchor="ctr" bIns="0" lIns="212575" spcFirstLastPara="1" rIns="212575" wrap="square" tIns="0">
              <a:noAutofit/>
            </a:bodyPr>
            <a:lstStyle/>
            <a:p>
              <a:pPr indent="0" lvl="0" marL="0" marR="0" rtl="0" algn="l">
                <a:lnSpc>
                  <a:spcPct val="90000"/>
                </a:lnSpc>
                <a:spcBef>
                  <a:spcPts val="0"/>
                </a:spcBef>
                <a:spcAft>
                  <a:spcPts val="0"/>
                </a:spcAft>
                <a:buNone/>
              </a:pPr>
              <a:r>
                <a:rPr lang="en-US" sz="1800">
                  <a:solidFill>
                    <a:schemeClr val="lt1"/>
                  </a:solidFill>
                  <a:latin typeface="Calibri"/>
                  <a:ea typeface="Calibri"/>
                  <a:cs typeface="Calibri"/>
                  <a:sym typeface="Calibri"/>
                </a:rPr>
                <a:t>Cross Site Scripting</a:t>
              </a:r>
              <a:endParaRPr/>
            </a:p>
          </p:txBody>
        </p:sp>
        <p:sp>
          <p:nvSpPr>
            <p:cNvPr id="178" name="Google Shape;178;p8"/>
            <p:cNvSpPr/>
            <p:nvPr/>
          </p:nvSpPr>
          <p:spPr>
            <a:xfrm>
              <a:off x="0" y="2030795"/>
              <a:ext cx="8034713" cy="453600"/>
            </a:xfrm>
            <a:prstGeom prst="rect">
              <a:avLst/>
            </a:prstGeom>
            <a:solidFill>
              <a:schemeClr val="lt1">
                <a:alpha val="89803"/>
              </a:schemeClr>
            </a:solidFill>
            <a:ln cap="flat" cmpd="sng" w="12700">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8"/>
            <p:cNvSpPr/>
            <p:nvPr/>
          </p:nvSpPr>
          <p:spPr>
            <a:xfrm>
              <a:off x="401735" y="1765116"/>
              <a:ext cx="5624299" cy="531360"/>
            </a:xfrm>
            <a:prstGeom prst="roundRect">
              <a:avLst>
                <a:gd fmla="val 16667"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8"/>
            <p:cNvSpPr txBox="1"/>
            <p:nvPr/>
          </p:nvSpPr>
          <p:spPr>
            <a:xfrm>
              <a:off x="427674" y="1791055"/>
              <a:ext cx="5572421" cy="479482"/>
            </a:xfrm>
            <a:prstGeom prst="rect">
              <a:avLst/>
            </a:prstGeom>
            <a:noFill/>
            <a:ln>
              <a:noFill/>
            </a:ln>
          </p:spPr>
          <p:txBody>
            <a:bodyPr anchorCtr="0" anchor="ctr" bIns="0" lIns="212575" spcFirstLastPara="1" rIns="212575" wrap="square" tIns="0">
              <a:noAutofit/>
            </a:bodyPr>
            <a:lstStyle/>
            <a:p>
              <a:pPr indent="0" lvl="0" marL="0" marR="0" rtl="0" algn="l">
                <a:lnSpc>
                  <a:spcPct val="90000"/>
                </a:lnSpc>
                <a:spcBef>
                  <a:spcPts val="0"/>
                </a:spcBef>
                <a:spcAft>
                  <a:spcPts val="0"/>
                </a:spcAft>
                <a:buNone/>
              </a:pPr>
              <a:r>
                <a:rPr lang="en-US" sz="1800">
                  <a:solidFill>
                    <a:schemeClr val="lt1"/>
                  </a:solidFill>
                  <a:latin typeface="Arial"/>
                  <a:ea typeface="Arial"/>
                  <a:cs typeface="Arial"/>
                  <a:sym typeface="Arial"/>
                </a:rPr>
                <a:t>Client side request forgery</a:t>
              </a:r>
              <a:endParaRPr/>
            </a:p>
          </p:txBody>
        </p:sp>
        <p:sp>
          <p:nvSpPr>
            <p:cNvPr id="181" name="Google Shape;181;p8"/>
            <p:cNvSpPr/>
            <p:nvPr/>
          </p:nvSpPr>
          <p:spPr>
            <a:xfrm>
              <a:off x="0" y="2847276"/>
              <a:ext cx="8034713" cy="453600"/>
            </a:xfrm>
            <a:prstGeom prst="rect">
              <a:avLst/>
            </a:prstGeom>
            <a:solidFill>
              <a:schemeClr val="lt1">
                <a:alpha val="89803"/>
              </a:schemeClr>
            </a:solidFill>
            <a:ln cap="flat" cmpd="sng" w="12700">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8"/>
            <p:cNvSpPr/>
            <p:nvPr/>
          </p:nvSpPr>
          <p:spPr>
            <a:xfrm>
              <a:off x="401735" y="2581596"/>
              <a:ext cx="5624299" cy="531360"/>
            </a:xfrm>
            <a:prstGeom prst="roundRect">
              <a:avLst>
                <a:gd fmla="val 16667"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8"/>
            <p:cNvSpPr txBox="1"/>
            <p:nvPr/>
          </p:nvSpPr>
          <p:spPr>
            <a:xfrm>
              <a:off x="427674" y="2607535"/>
              <a:ext cx="5572421" cy="479482"/>
            </a:xfrm>
            <a:prstGeom prst="rect">
              <a:avLst/>
            </a:prstGeom>
            <a:noFill/>
            <a:ln>
              <a:noFill/>
            </a:ln>
          </p:spPr>
          <p:txBody>
            <a:bodyPr anchorCtr="0" anchor="ctr" bIns="0" lIns="212575" spcFirstLastPara="1" rIns="212575" wrap="square" tIns="0">
              <a:noAutofit/>
            </a:bodyPr>
            <a:lstStyle/>
            <a:p>
              <a:pPr indent="0" lvl="0" marL="0" marR="0" rtl="0" algn="l">
                <a:lnSpc>
                  <a:spcPct val="90000"/>
                </a:lnSpc>
                <a:spcBef>
                  <a:spcPts val="0"/>
                </a:spcBef>
                <a:spcAft>
                  <a:spcPts val="0"/>
                </a:spcAft>
                <a:buNone/>
              </a:pPr>
              <a:r>
                <a:rPr lang="en-US" sz="1800">
                  <a:solidFill>
                    <a:schemeClr val="lt1"/>
                  </a:solidFill>
                  <a:latin typeface="Calibri"/>
                  <a:ea typeface="Calibri"/>
                  <a:cs typeface="Calibri"/>
                  <a:sym typeface="Calibri"/>
                </a:rPr>
                <a:t>Insecure File Upload </a:t>
              </a:r>
              <a:endParaRPr/>
            </a:p>
          </p:txBody>
        </p:sp>
        <p:sp>
          <p:nvSpPr>
            <p:cNvPr id="184" name="Google Shape;184;p8"/>
            <p:cNvSpPr/>
            <p:nvPr/>
          </p:nvSpPr>
          <p:spPr>
            <a:xfrm>
              <a:off x="0" y="3663756"/>
              <a:ext cx="8034713" cy="453600"/>
            </a:xfrm>
            <a:prstGeom prst="rect">
              <a:avLst/>
            </a:prstGeom>
            <a:solidFill>
              <a:schemeClr val="lt1">
                <a:alpha val="89803"/>
              </a:schemeClr>
            </a:solidFill>
            <a:ln cap="flat" cmpd="sng" w="12700">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8"/>
            <p:cNvSpPr/>
            <p:nvPr/>
          </p:nvSpPr>
          <p:spPr>
            <a:xfrm>
              <a:off x="401735" y="3398076"/>
              <a:ext cx="5624299" cy="531360"/>
            </a:xfrm>
            <a:prstGeom prst="roundRect">
              <a:avLst>
                <a:gd fmla="val 16667"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8"/>
            <p:cNvSpPr txBox="1"/>
            <p:nvPr/>
          </p:nvSpPr>
          <p:spPr>
            <a:xfrm>
              <a:off x="427674" y="3424015"/>
              <a:ext cx="5572421" cy="479482"/>
            </a:xfrm>
            <a:prstGeom prst="rect">
              <a:avLst/>
            </a:prstGeom>
            <a:noFill/>
            <a:ln>
              <a:noFill/>
            </a:ln>
          </p:spPr>
          <p:txBody>
            <a:bodyPr anchorCtr="0" anchor="ctr" bIns="0" lIns="212575" spcFirstLastPara="1" rIns="212575" wrap="square" tIns="0">
              <a:noAutofit/>
            </a:bodyPr>
            <a:lstStyle/>
            <a:p>
              <a:pPr indent="0" lvl="0" marL="0" marR="0" rtl="0" algn="l">
                <a:lnSpc>
                  <a:spcPct val="90000"/>
                </a:lnSpc>
                <a:spcBef>
                  <a:spcPts val="0"/>
                </a:spcBef>
                <a:spcAft>
                  <a:spcPts val="0"/>
                </a:spcAft>
                <a:buNone/>
              </a:pPr>
              <a:r>
                <a:rPr lang="en-US" sz="1800">
                  <a:solidFill>
                    <a:schemeClr val="lt1"/>
                  </a:solidFill>
                  <a:latin typeface="Calibri"/>
                  <a:ea typeface="Calibri"/>
                  <a:cs typeface="Calibri"/>
                  <a:sym typeface="Calibri"/>
                </a:rPr>
                <a:t>Broken Access Control</a:t>
              </a:r>
              <a:endParaRPr sz="1800">
                <a:solidFill>
                  <a:schemeClr val="lt1"/>
                </a:solidFill>
                <a:latin typeface="Calibri"/>
                <a:ea typeface="Calibri"/>
                <a:cs typeface="Calibri"/>
                <a:sym typeface="Calibri"/>
              </a:endParaRPr>
            </a:p>
          </p:txBody>
        </p:sp>
        <p:sp>
          <p:nvSpPr>
            <p:cNvPr id="187" name="Google Shape;187;p8"/>
            <p:cNvSpPr/>
            <p:nvPr/>
          </p:nvSpPr>
          <p:spPr>
            <a:xfrm>
              <a:off x="0" y="4480236"/>
              <a:ext cx="8034713" cy="453600"/>
            </a:xfrm>
            <a:prstGeom prst="rect">
              <a:avLst/>
            </a:prstGeom>
            <a:solidFill>
              <a:schemeClr val="lt1">
                <a:alpha val="89803"/>
              </a:schemeClr>
            </a:solidFill>
            <a:ln cap="flat" cmpd="sng" w="12700">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8"/>
            <p:cNvSpPr/>
            <p:nvPr/>
          </p:nvSpPr>
          <p:spPr>
            <a:xfrm>
              <a:off x="401735" y="4214556"/>
              <a:ext cx="5624299" cy="531360"/>
            </a:xfrm>
            <a:prstGeom prst="roundRect">
              <a:avLst>
                <a:gd fmla="val 16667"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8"/>
            <p:cNvSpPr txBox="1"/>
            <p:nvPr/>
          </p:nvSpPr>
          <p:spPr>
            <a:xfrm>
              <a:off x="427674" y="4240495"/>
              <a:ext cx="5572421" cy="479482"/>
            </a:xfrm>
            <a:prstGeom prst="rect">
              <a:avLst/>
            </a:prstGeom>
            <a:noFill/>
            <a:ln>
              <a:noFill/>
            </a:ln>
          </p:spPr>
          <p:txBody>
            <a:bodyPr anchorCtr="0" anchor="ctr" bIns="0" lIns="212575" spcFirstLastPara="1" rIns="212575" wrap="square" tIns="0">
              <a:noAutofit/>
            </a:bodyPr>
            <a:lstStyle/>
            <a:p>
              <a:pPr indent="0" lvl="0" marL="0" marR="0" rtl="0" algn="l">
                <a:lnSpc>
                  <a:spcPct val="90000"/>
                </a:lnSpc>
                <a:spcBef>
                  <a:spcPts val="0"/>
                </a:spcBef>
                <a:spcAft>
                  <a:spcPts val="0"/>
                </a:spcAft>
                <a:buNone/>
              </a:pPr>
              <a:r>
                <a:rPr lang="en-US" sz="1800">
                  <a:solidFill>
                    <a:schemeClr val="lt1"/>
                  </a:solidFill>
                  <a:latin typeface="Calibri"/>
                  <a:ea typeface="Calibri"/>
                  <a:cs typeface="Calibri"/>
                  <a:sym typeface="Calibri"/>
                </a:rPr>
                <a:t>Sensitive Information Disclosure</a:t>
              </a:r>
              <a:endParaRPr sz="1800">
                <a:solidFill>
                  <a:schemeClr val="lt1"/>
                </a:solidFill>
                <a:latin typeface="Calibri"/>
                <a:ea typeface="Calibri"/>
                <a:cs typeface="Calibri"/>
                <a:sym typeface="Calibri"/>
              </a:endParaRPr>
            </a:p>
          </p:txBody>
        </p:sp>
      </p:grpSp>
      <p:pic>
        <p:nvPicPr>
          <p:cNvPr id="190" name="Google Shape;190;p8"/>
          <p:cNvPicPr preferRelativeResize="0"/>
          <p:nvPr/>
        </p:nvPicPr>
        <p:blipFill rotWithShape="1">
          <a:blip r:embed="rId3">
            <a:alphaModFix/>
          </a:blip>
          <a:srcRect b="0" l="0" r="0" t="0"/>
          <a:stretch/>
        </p:blipFill>
        <p:spPr>
          <a:xfrm>
            <a:off x="10291155" y="155494"/>
            <a:ext cx="1821331" cy="52870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9"/>
          <p:cNvSpPr txBox="1"/>
          <p:nvPr>
            <p:ph type="ctrTitle"/>
          </p:nvPr>
        </p:nvSpPr>
        <p:spPr>
          <a:xfrm>
            <a:off x="407888" y="1067877"/>
            <a:ext cx="4714617" cy="726026"/>
          </a:xfrm>
          <a:prstGeom prst="rect">
            <a:avLst/>
          </a:prstGeom>
          <a:noFill/>
          <a:ln>
            <a:noFill/>
          </a:ln>
        </p:spPr>
        <p:txBody>
          <a:bodyPr anchorCtr="0" anchor="ctr" bIns="45700" lIns="91425" spcFirstLastPara="1" rIns="91425" wrap="square" tIns="45700">
            <a:noAutofit/>
          </a:bodyPr>
          <a:lstStyle/>
          <a:p>
            <a:pPr indent="0" lvl="0" marL="0" rtl="0" algn="ctr">
              <a:lnSpc>
                <a:spcPct val="130000"/>
              </a:lnSpc>
              <a:spcBef>
                <a:spcPts val="0"/>
              </a:spcBef>
              <a:spcAft>
                <a:spcPts val="0"/>
              </a:spcAft>
              <a:buClr>
                <a:schemeClr val="lt1"/>
              </a:buClr>
              <a:buSzPts val="4400"/>
              <a:buFont typeface="Arial"/>
              <a:buNone/>
            </a:pPr>
            <a:r>
              <a:rPr lang="en-US" sz="4400"/>
              <a:t>SQL INJECTION</a:t>
            </a:r>
            <a:endParaRPr sz="4400"/>
          </a:p>
        </p:txBody>
      </p:sp>
      <p:pic>
        <p:nvPicPr>
          <p:cNvPr id="196" name="Google Shape;196;p9"/>
          <p:cNvPicPr preferRelativeResize="0"/>
          <p:nvPr/>
        </p:nvPicPr>
        <p:blipFill rotWithShape="1">
          <a:blip r:embed="rId3">
            <a:alphaModFix/>
          </a:blip>
          <a:srcRect b="0" l="0" r="0" t="0"/>
          <a:stretch/>
        </p:blipFill>
        <p:spPr>
          <a:xfrm>
            <a:off x="3734260" y="-8313"/>
            <a:ext cx="4590476" cy="1076190"/>
          </a:xfrm>
          <a:prstGeom prst="rect">
            <a:avLst/>
          </a:prstGeom>
          <a:noFill/>
          <a:ln>
            <a:noFill/>
          </a:ln>
        </p:spPr>
      </p:pic>
      <p:pic>
        <p:nvPicPr>
          <p:cNvPr descr="SQL Injection là gì? Cách phòng chống tấn công SQL Injection" id="197" name="Google Shape;197;p9"/>
          <p:cNvPicPr preferRelativeResize="0"/>
          <p:nvPr/>
        </p:nvPicPr>
        <p:blipFill rotWithShape="1">
          <a:blip r:embed="rId4">
            <a:alphaModFix/>
          </a:blip>
          <a:srcRect b="0" l="0" r="0" t="0"/>
          <a:stretch/>
        </p:blipFill>
        <p:spPr>
          <a:xfrm>
            <a:off x="2642859" y="2309593"/>
            <a:ext cx="7120838" cy="372731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0"/>
          <p:cNvSpPr txBox="1"/>
          <p:nvPr>
            <p:ph type="title"/>
          </p:nvPr>
        </p:nvSpPr>
        <p:spPr>
          <a:xfrm>
            <a:off x="838200" y="365125"/>
            <a:ext cx="10515600" cy="568325"/>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20000"/>
              </a:lnSpc>
              <a:spcBef>
                <a:spcPts val="0"/>
              </a:spcBef>
              <a:spcAft>
                <a:spcPts val="0"/>
              </a:spcAft>
              <a:buClr>
                <a:srgbClr val="00CB8A"/>
              </a:buClr>
              <a:buSzPct val="100000"/>
              <a:buFont typeface="Arial"/>
              <a:buNone/>
            </a:pPr>
            <a:r>
              <a:rPr lang="en-US"/>
              <a:t>SQL injection là gì ?</a:t>
            </a:r>
            <a:endParaRPr/>
          </a:p>
        </p:txBody>
      </p:sp>
      <p:sp>
        <p:nvSpPr>
          <p:cNvPr id="203" name="Google Shape;203;p10"/>
          <p:cNvSpPr txBox="1"/>
          <p:nvPr>
            <p:ph idx="1" type="body"/>
          </p:nvPr>
        </p:nvSpPr>
        <p:spPr>
          <a:xfrm>
            <a:off x="838200" y="1130300"/>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just">
              <a:lnSpc>
                <a:spcPct val="130000"/>
              </a:lnSpc>
              <a:spcBef>
                <a:spcPts val="0"/>
              </a:spcBef>
              <a:spcAft>
                <a:spcPts val="0"/>
              </a:spcAft>
              <a:buClr>
                <a:schemeClr val="dk1"/>
              </a:buClr>
              <a:buSzPts val="2000"/>
              <a:buChar char="•"/>
            </a:pPr>
            <a:r>
              <a:rPr lang="en-US"/>
              <a:t>SQL Injection là một kỹ thuật lợi dụng những lỗ hổng trong việc kiểm soát dữ liệu đầu vào. Được thực hiện bằng cách chèn thêm một đoạn SQL để làm sai lệnh đi câu truy vấn ban đầu, từ đó có thể khai thác (CRUD) dữ liệu từ database.</a:t>
            </a:r>
            <a:endParaRPr/>
          </a:p>
          <a:p>
            <a:pPr indent="-228600" lvl="0" marL="228600" rtl="0" algn="just">
              <a:lnSpc>
                <a:spcPct val="130000"/>
              </a:lnSpc>
              <a:spcBef>
                <a:spcPts val="600"/>
              </a:spcBef>
              <a:spcAft>
                <a:spcPts val="0"/>
              </a:spcAft>
              <a:buClr>
                <a:schemeClr val="dk1"/>
              </a:buClr>
              <a:buSzPts val="2000"/>
              <a:buChar char="•"/>
            </a:pPr>
            <a:r>
              <a:rPr lang="en-US"/>
              <a:t>Mức độ nguy hiểm: High, critical</a:t>
            </a:r>
            <a:endParaRPr/>
          </a:p>
          <a:p>
            <a:pPr indent="-228600" lvl="0" marL="228600" rtl="0" algn="just">
              <a:lnSpc>
                <a:spcPct val="130000"/>
              </a:lnSpc>
              <a:spcBef>
                <a:spcPts val="600"/>
              </a:spcBef>
              <a:spcAft>
                <a:spcPts val="0"/>
              </a:spcAft>
              <a:buClr>
                <a:schemeClr val="dk1"/>
              </a:buClr>
              <a:buSzPts val="2000"/>
              <a:buChar char="•"/>
            </a:pPr>
            <a:r>
              <a:rPr lang="en-US"/>
              <a:t>Mục tiêu của lỗ hổng :</a:t>
            </a:r>
            <a:endParaRPr/>
          </a:p>
          <a:p>
            <a:pPr indent="-228600" lvl="1" marL="685800" rtl="0" algn="just">
              <a:lnSpc>
                <a:spcPct val="130000"/>
              </a:lnSpc>
              <a:spcBef>
                <a:spcPts val="600"/>
              </a:spcBef>
              <a:spcAft>
                <a:spcPts val="0"/>
              </a:spcAft>
              <a:buClr>
                <a:schemeClr val="dk1"/>
              </a:buClr>
              <a:buSzPts val="1800"/>
              <a:buChar char="•"/>
            </a:pPr>
            <a:r>
              <a:rPr lang="en-US"/>
              <a:t>Bỏ qua cơ chế xác thực</a:t>
            </a:r>
            <a:endParaRPr/>
          </a:p>
          <a:p>
            <a:pPr indent="-228600" lvl="1" marL="685800" rtl="0" algn="just">
              <a:lnSpc>
                <a:spcPct val="130000"/>
              </a:lnSpc>
              <a:spcBef>
                <a:spcPts val="600"/>
              </a:spcBef>
              <a:spcAft>
                <a:spcPts val="0"/>
              </a:spcAft>
              <a:buClr>
                <a:schemeClr val="dk1"/>
              </a:buClr>
              <a:buSzPts val="1800"/>
              <a:buChar char="•"/>
            </a:pPr>
            <a:r>
              <a:rPr lang="en-US"/>
              <a:t>Khai thác cơ sở dữ liệu</a:t>
            </a:r>
            <a:endParaRPr/>
          </a:p>
          <a:p>
            <a:pPr indent="-228600" lvl="1" marL="685800" rtl="0" algn="just">
              <a:lnSpc>
                <a:spcPct val="130000"/>
              </a:lnSpc>
              <a:spcBef>
                <a:spcPts val="600"/>
              </a:spcBef>
              <a:spcAft>
                <a:spcPts val="0"/>
              </a:spcAft>
              <a:buClr>
                <a:schemeClr val="dk1"/>
              </a:buClr>
              <a:buSzPts val="1800"/>
              <a:buChar char="•"/>
            </a:pPr>
            <a:r>
              <a:rPr lang="en-US"/>
              <a:t>Leo thang đặc quyền</a:t>
            </a:r>
            <a:endParaRPr/>
          </a:p>
          <a:p>
            <a:pPr indent="-228600" lvl="0" marL="228600" rtl="0" algn="just">
              <a:lnSpc>
                <a:spcPct val="130000"/>
              </a:lnSpc>
              <a:spcBef>
                <a:spcPts val="600"/>
              </a:spcBef>
              <a:spcAft>
                <a:spcPts val="0"/>
              </a:spcAft>
              <a:buClr>
                <a:schemeClr val="dk1"/>
              </a:buClr>
              <a:buSzPts val="2000"/>
              <a:buChar char="•"/>
            </a:pPr>
            <a:r>
              <a:rPr lang="en-US"/>
              <a:t>Vị trí tấn công: Bất kì đầu vào nào</a:t>
            </a:r>
            <a:endParaRPr/>
          </a:p>
          <a:p>
            <a:pPr indent="0" lvl="0" marL="0" rtl="0" algn="just">
              <a:lnSpc>
                <a:spcPct val="130000"/>
              </a:lnSpc>
              <a:spcBef>
                <a:spcPts val="600"/>
              </a:spcBef>
              <a:spcAft>
                <a:spcPts val="0"/>
              </a:spcAft>
              <a:buClr>
                <a:schemeClr val="dk1"/>
              </a:buClr>
              <a:buSzPts val="2000"/>
              <a:buNone/>
            </a:pPr>
            <a:r>
              <a:rPr lang="en-US"/>
              <a:t> mà client có thể kiểm soát.</a:t>
            </a:r>
            <a:endParaRPr/>
          </a:p>
        </p:txBody>
      </p:sp>
      <p:pic>
        <p:nvPicPr>
          <p:cNvPr descr="What is SQL Injection? | Explanation &amp;amp; Protection | Avast" id="204" name="Google Shape;204;p10"/>
          <p:cNvPicPr preferRelativeResize="0"/>
          <p:nvPr/>
        </p:nvPicPr>
        <p:blipFill rotWithShape="1">
          <a:blip r:embed="rId3">
            <a:alphaModFix/>
          </a:blip>
          <a:srcRect b="0" l="0" r="0" t="0"/>
          <a:stretch/>
        </p:blipFill>
        <p:spPr>
          <a:xfrm>
            <a:off x="5541818" y="2624138"/>
            <a:ext cx="6286500" cy="2857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1"/>
          <p:cNvSpPr txBox="1"/>
          <p:nvPr>
            <p:ph type="title"/>
          </p:nvPr>
        </p:nvSpPr>
        <p:spPr>
          <a:xfrm>
            <a:off x="838200" y="365125"/>
            <a:ext cx="10515600" cy="568325"/>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20000"/>
              </a:lnSpc>
              <a:spcBef>
                <a:spcPts val="0"/>
              </a:spcBef>
              <a:spcAft>
                <a:spcPts val="0"/>
              </a:spcAft>
              <a:buClr>
                <a:srgbClr val="00CB8A"/>
              </a:buClr>
              <a:buSzPct val="100000"/>
              <a:buFont typeface="Arial"/>
              <a:buNone/>
            </a:pPr>
            <a:r>
              <a:rPr lang="en-US"/>
              <a:t>Cách SQL injection  </a:t>
            </a:r>
            <a:endParaRPr/>
          </a:p>
        </p:txBody>
      </p:sp>
      <p:pic>
        <p:nvPicPr>
          <p:cNvPr descr="Hack an Website ? SQL Injection ? Very simple – Swadesh Programming Blog" id="210" name="Google Shape;210;p11"/>
          <p:cNvPicPr preferRelativeResize="0"/>
          <p:nvPr>
            <p:ph idx="1" type="body"/>
          </p:nvPr>
        </p:nvPicPr>
        <p:blipFill rotWithShape="1">
          <a:blip r:embed="rId3">
            <a:alphaModFix/>
          </a:blip>
          <a:srcRect b="0" l="0" r="0" t="0"/>
          <a:stretch/>
        </p:blipFill>
        <p:spPr>
          <a:xfrm>
            <a:off x="3186545" y="1400969"/>
            <a:ext cx="5360555" cy="4166234"/>
          </a:xfrm>
          <a:prstGeom prst="rect">
            <a:avLst/>
          </a:prstGeom>
          <a:noFill/>
          <a:ln>
            <a:noFill/>
          </a:ln>
        </p:spPr>
      </p:pic>
      <p:pic>
        <p:nvPicPr>
          <p:cNvPr descr="SQL normal and SQL injection attack data flow. All subsequent strings... |  Download Scientific Diagram" id="211" name="Google Shape;211;p11"/>
          <p:cNvPicPr preferRelativeResize="0"/>
          <p:nvPr/>
        </p:nvPicPr>
        <p:blipFill rotWithShape="1">
          <a:blip r:embed="rId4">
            <a:alphaModFix/>
          </a:blip>
          <a:srcRect b="0" l="0" r="0" t="0"/>
          <a:stretch/>
        </p:blipFill>
        <p:spPr>
          <a:xfrm>
            <a:off x="1661104" y="933450"/>
            <a:ext cx="8096250" cy="5019676"/>
          </a:xfrm>
          <a:prstGeom prst="rect">
            <a:avLst/>
          </a:prstGeom>
          <a:noFill/>
          <a:ln>
            <a:noFill/>
          </a:ln>
        </p:spPr>
      </p:pic>
      <p:pic>
        <p:nvPicPr>
          <p:cNvPr descr="e​x​a​m​p​l​e​ ​o​f​ ​s​q​l​ ​i​n​j​e​c​t​i​o​n​ ​a​t​t​a​c​k - ZoneAlarm  Results" id="212" name="Google Shape;212;p11"/>
          <p:cNvPicPr preferRelativeResize="0"/>
          <p:nvPr/>
        </p:nvPicPr>
        <p:blipFill rotWithShape="1">
          <a:blip r:embed="rId5">
            <a:alphaModFix/>
          </a:blip>
          <a:srcRect b="506" l="-429" r="46" t="11807"/>
          <a:stretch/>
        </p:blipFill>
        <p:spPr>
          <a:xfrm>
            <a:off x="1543482" y="933450"/>
            <a:ext cx="9179421" cy="511261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2"/>
          <p:cNvSpPr txBox="1"/>
          <p:nvPr>
            <p:ph type="title"/>
          </p:nvPr>
        </p:nvSpPr>
        <p:spPr>
          <a:xfrm>
            <a:off x="838200" y="365125"/>
            <a:ext cx="10515600" cy="568325"/>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20000"/>
              </a:lnSpc>
              <a:spcBef>
                <a:spcPts val="0"/>
              </a:spcBef>
              <a:spcAft>
                <a:spcPts val="0"/>
              </a:spcAft>
              <a:buClr>
                <a:srgbClr val="00CB8A"/>
              </a:buClr>
              <a:buSzPct val="100000"/>
              <a:buFont typeface="Arial"/>
              <a:buNone/>
            </a:pPr>
            <a:r>
              <a:rPr lang="en-US"/>
              <a:t>Nguyên nhân</a:t>
            </a:r>
            <a:endParaRPr/>
          </a:p>
        </p:txBody>
      </p:sp>
      <p:sp>
        <p:nvSpPr>
          <p:cNvPr id="218" name="Google Shape;218;p12"/>
          <p:cNvSpPr txBox="1"/>
          <p:nvPr>
            <p:ph idx="1" type="body"/>
          </p:nvPr>
        </p:nvSpPr>
        <p:spPr>
          <a:xfrm>
            <a:off x="838200" y="1130300"/>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130000"/>
              </a:lnSpc>
              <a:spcBef>
                <a:spcPts val="0"/>
              </a:spcBef>
              <a:spcAft>
                <a:spcPts val="0"/>
              </a:spcAft>
              <a:buClr>
                <a:schemeClr val="dk1"/>
              </a:buClr>
              <a:buSzPts val="2000"/>
              <a:buChar char="•"/>
            </a:pPr>
            <a:r>
              <a:rPr lang="en-US"/>
              <a:t>Không kiểm soát dữ liệu đầu vào.</a:t>
            </a:r>
            <a:endParaRPr/>
          </a:p>
          <a:p>
            <a:pPr indent="0" lvl="0" marL="0" rtl="0" algn="just">
              <a:lnSpc>
                <a:spcPct val="130000"/>
              </a:lnSpc>
              <a:spcBef>
                <a:spcPts val="600"/>
              </a:spcBef>
              <a:spcAft>
                <a:spcPts val="0"/>
              </a:spcAft>
              <a:buClr>
                <a:schemeClr val="dk1"/>
              </a:buClr>
              <a:buSzPts val="2000"/>
              <a:buNone/>
            </a:pPr>
            <a:r>
              <a:t/>
            </a:r>
            <a:endParaRPr/>
          </a:p>
          <a:p>
            <a:pPr indent="0" lvl="0" marL="0" rtl="0" algn="just">
              <a:lnSpc>
                <a:spcPct val="130000"/>
              </a:lnSpc>
              <a:spcBef>
                <a:spcPts val="600"/>
              </a:spcBef>
              <a:spcAft>
                <a:spcPts val="0"/>
              </a:spcAft>
              <a:buClr>
                <a:schemeClr val="dk1"/>
              </a:buClr>
              <a:buSzPts val="2000"/>
              <a:buNone/>
            </a:pPr>
            <a:r>
              <a:t/>
            </a:r>
            <a:endParaRPr/>
          </a:p>
          <a:p>
            <a:pPr indent="0" lvl="0" marL="0" rtl="0" algn="just">
              <a:lnSpc>
                <a:spcPct val="130000"/>
              </a:lnSpc>
              <a:spcBef>
                <a:spcPts val="600"/>
              </a:spcBef>
              <a:spcAft>
                <a:spcPts val="0"/>
              </a:spcAft>
              <a:buClr>
                <a:schemeClr val="dk1"/>
              </a:buClr>
              <a:buSzPts val="2000"/>
              <a:buNone/>
            </a:pPr>
            <a:r>
              <a:t/>
            </a:r>
            <a:endParaRPr/>
          </a:p>
          <a:p>
            <a:pPr indent="-228600" lvl="0" marL="228600" rtl="0" algn="just">
              <a:lnSpc>
                <a:spcPct val="130000"/>
              </a:lnSpc>
              <a:spcBef>
                <a:spcPts val="600"/>
              </a:spcBef>
              <a:spcAft>
                <a:spcPts val="0"/>
              </a:spcAft>
              <a:buClr>
                <a:schemeClr val="dk1"/>
              </a:buClr>
              <a:buSzPts val="2000"/>
              <a:buChar char="•"/>
            </a:pPr>
            <a:r>
              <a:rPr lang="en-US"/>
              <a:t>Không </a:t>
            </a:r>
            <a:r>
              <a:rPr lang="en-US">
                <a:solidFill>
                  <a:srgbClr val="FF0000"/>
                </a:solidFill>
              </a:rPr>
              <a:t>định dạng</a:t>
            </a:r>
            <a:r>
              <a:rPr lang="en-US"/>
              <a:t> dữ liệu đầu vào hay sử dụng </a:t>
            </a:r>
            <a:r>
              <a:rPr lang="en-US">
                <a:solidFill>
                  <a:srgbClr val="FF0000"/>
                </a:solidFill>
              </a:rPr>
              <a:t>cộng chuỗi</a:t>
            </a:r>
            <a:r>
              <a:rPr lang="en-US"/>
              <a:t> tạo câu truy vấn.</a:t>
            </a:r>
            <a:endParaRPr/>
          </a:p>
          <a:p>
            <a:pPr indent="-101600" lvl="0" marL="228600" rtl="0" algn="just">
              <a:lnSpc>
                <a:spcPct val="130000"/>
              </a:lnSpc>
              <a:spcBef>
                <a:spcPts val="600"/>
              </a:spcBef>
              <a:spcAft>
                <a:spcPts val="0"/>
              </a:spcAft>
              <a:buClr>
                <a:schemeClr val="dk1"/>
              </a:buClr>
              <a:buSzPts val="2000"/>
              <a:buNone/>
            </a:pPr>
            <a:r>
              <a:t/>
            </a:r>
            <a:endParaRPr/>
          </a:p>
          <a:p>
            <a:pPr indent="-101600" lvl="0" marL="228600" rtl="0" algn="just">
              <a:lnSpc>
                <a:spcPct val="130000"/>
              </a:lnSpc>
              <a:spcBef>
                <a:spcPts val="600"/>
              </a:spcBef>
              <a:spcAft>
                <a:spcPts val="0"/>
              </a:spcAft>
              <a:buClr>
                <a:schemeClr val="dk1"/>
              </a:buClr>
              <a:buSzPts val="2000"/>
              <a:buNone/>
            </a:pPr>
            <a:r>
              <a:t/>
            </a:r>
            <a:endParaRPr/>
          </a:p>
          <a:p>
            <a:pPr indent="-228600" lvl="0" marL="228600" rtl="0" algn="just">
              <a:lnSpc>
                <a:spcPct val="130000"/>
              </a:lnSpc>
              <a:spcBef>
                <a:spcPts val="600"/>
              </a:spcBef>
              <a:spcAft>
                <a:spcPts val="0"/>
              </a:spcAft>
              <a:buClr>
                <a:schemeClr val="dk1"/>
              </a:buClr>
              <a:buSzPts val="2000"/>
              <a:buChar char="•"/>
            </a:pPr>
            <a:r>
              <a:rPr lang="en-US"/>
              <a:t>Không kiểm soát exception -&gt; phát hiện và khai thác qua error message</a:t>
            </a:r>
            <a:endParaRPr/>
          </a:p>
          <a:p>
            <a:pPr indent="0" lvl="0" marL="0" rtl="0" algn="just">
              <a:lnSpc>
                <a:spcPct val="130000"/>
              </a:lnSpc>
              <a:spcBef>
                <a:spcPts val="600"/>
              </a:spcBef>
              <a:spcAft>
                <a:spcPts val="0"/>
              </a:spcAft>
              <a:buClr>
                <a:schemeClr val="dk1"/>
              </a:buClr>
              <a:buSzPts val="2000"/>
              <a:buNone/>
            </a:pPr>
            <a:r>
              <a:t/>
            </a:r>
            <a:endParaRPr/>
          </a:p>
          <a:p>
            <a:pPr indent="0" lvl="0" marL="0" rtl="0" algn="just">
              <a:lnSpc>
                <a:spcPct val="130000"/>
              </a:lnSpc>
              <a:spcBef>
                <a:spcPts val="600"/>
              </a:spcBef>
              <a:spcAft>
                <a:spcPts val="0"/>
              </a:spcAft>
              <a:buClr>
                <a:schemeClr val="dk1"/>
              </a:buClr>
              <a:buSzPts val="2000"/>
              <a:buNone/>
            </a:pPr>
            <a:r>
              <a:t/>
            </a:r>
            <a:endParaRPr/>
          </a:p>
          <a:p>
            <a:pPr indent="0" lvl="0" marL="0" rtl="0" algn="just">
              <a:lnSpc>
                <a:spcPct val="130000"/>
              </a:lnSpc>
              <a:spcBef>
                <a:spcPts val="600"/>
              </a:spcBef>
              <a:spcAft>
                <a:spcPts val="0"/>
              </a:spcAft>
              <a:buClr>
                <a:schemeClr val="dk1"/>
              </a:buClr>
              <a:buSzPts val="2000"/>
              <a:buNone/>
            </a:pPr>
            <a:r>
              <a:t/>
            </a:r>
            <a:endParaRPr/>
          </a:p>
          <a:p>
            <a:pPr indent="-101600" lvl="0" marL="228600" rtl="0" algn="just">
              <a:lnSpc>
                <a:spcPct val="130000"/>
              </a:lnSpc>
              <a:spcBef>
                <a:spcPts val="600"/>
              </a:spcBef>
              <a:spcAft>
                <a:spcPts val="0"/>
              </a:spcAft>
              <a:buClr>
                <a:schemeClr val="dk1"/>
              </a:buClr>
              <a:buSzPts val="2000"/>
              <a:buNone/>
            </a:pPr>
            <a:r>
              <a:t/>
            </a:r>
            <a:endParaRPr/>
          </a:p>
        </p:txBody>
      </p:sp>
      <p:pic>
        <p:nvPicPr>
          <p:cNvPr descr="Tìm hiểu SQL Injection qua ví dụ cụ thể năm 2016" id="219" name="Google Shape;219;p12"/>
          <p:cNvPicPr preferRelativeResize="0"/>
          <p:nvPr/>
        </p:nvPicPr>
        <p:blipFill rotWithShape="1">
          <a:blip r:embed="rId3">
            <a:alphaModFix/>
          </a:blip>
          <a:srcRect b="25814" l="4263" r="7457" t="9119"/>
          <a:stretch/>
        </p:blipFill>
        <p:spPr>
          <a:xfrm>
            <a:off x="5477162" y="1570182"/>
            <a:ext cx="4045527" cy="1182256"/>
          </a:xfrm>
          <a:prstGeom prst="rect">
            <a:avLst/>
          </a:prstGeom>
          <a:noFill/>
          <a:ln>
            <a:noFill/>
          </a:ln>
        </p:spPr>
      </p:pic>
      <p:pic>
        <p:nvPicPr>
          <p:cNvPr id="220" name="Google Shape;220;p12"/>
          <p:cNvPicPr preferRelativeResize="0"/>
          <p:nvPr/>
        </p:nvPicPr>
        <p:blipFill rotWithShape="1">
          <a:blip r:embed="rId4">
            <a:alphaModFix/>
          </a:blip>
          <a:srcRect b="15118" l="0" r="851" t="18859"/>
          <a:stretch/>
        </p:blipFill>
        <p:spPr>
          <a:xfrm>
            <a:off x="4696831" y="3586434"/>
            <a:ext cx="4825858" cy="295563"/>
          </a:xfrm>
          <a:prstGeom prst="rect">
            <a:avLst/>
          </a:prstGeom>
          <a:noFill/>
          <a:ln>
            <a:noFill/>
          </a:ln>
        </p:spPr>
      </p:pic>
      <p:pic>
        <p:nvPicPr>
          <p:cNvPr id="221" name="Google Shape;221;p12"/>
          <p:cNvPicPr preferRelativeResize="0"/>
          <p:nvPr/>
        </p:nvPicPr>
        <p:blipFill rotWithShape="1">
          <a:blip r:embed="rId5">
            <a:alphaModFix/>
          </a:blip>
          <a:srcRect b="0" l="27744" r="0" t="-1059"/>
          <a:stretch/>
        </p:blipFill>
        <p:spPr>
          <a:xfrm>
            <a:off x="2805544" y="4046510"/>
            <a:ext cx="6717145" cy="423538"/>
          </a:xfrm>
          <a:prstGeom prst="rect">
            <a:avLst/>
          </a:prstGeom>
          <a:noFill/>
          <a:ln>
            <a:noFill/>
          </a:ln>
        </p:spPr>
      </p:pic>
      <p:pic>
        <p:nvPicPr>
          <p:cNvPr descr="Troy Hunt: Everything you wanted to know about SQL injection (but were  afraid to ask)" id="222" name="Google Shape;222;p12"/>
          <p:cNvPicPr preferRelativeResize="0"/>
          <p:nvPr/>
        </p:nvPicPr>
        <p:blipFill rotWithShape="1">
          <a:blip r:embed="rId6">
            <a:alphaModFix/>
          </a:blip>
          <a:srcRect b="0" l="0" r="0" t="0"/>
          <a:stretch/>
        </p:blipFill>
        <p:spPr>
          <a:xfrm>
            <a:off x="4210337" y="5058471"/>
            <a:ext cx="5312352" cy="117535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13"/>
          <p:cNvSpPr txBox="1"/>
          <p:nvPr>
            <p:ph type="title"/>
          </p:nvPr>
        </p:nvSpPr>
        <p:spPr>
          <a:xfrm>
            <a:off x="838200" y="365125"/>
            <a:ext cx="10515600" cy="568325"/>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20000"/>
              </a:lnSpc>
              <a:spcBef>
                <a:spcPts val="0"/>
              </a:spcBef>
              <a:spcAft>
                <a:spcPts val="0"/>
              </a:spcAft>
              <a:buClr>
                <a:srgbClr val="00CB8A"/>
              </a:buClr>
              <a:buSzPct val="100000"/>
              <a:buFont typeface="Arial"/>
              <a:buNone/>
            </a:pPr>
            <a:r>
              <a:rPr lang="en-US"/>
              <a:t>Cách phòng chống</a:t>
            </a:r>
            <a:endParaRPr/>
          </a:p>
        </p:txBody>
      </p:sp>
      <p:sp>
        <p:nvSpPr>
          <p:cNvPr id="228" name="Google Shape;228;p13"/>
          <p:cNvSpPr txBox="1"/>
          <p:nvPr>
            <p:ph idx="1" type="body"/>
          </p:nvPr>
        </p:nvSpPr>
        <p:spPr>
          <a:xfrm>
            <a:off x="554182" y="1130299"/>
            <a:ext cx="10799618" cy="5095009"/>
          </a:xfrm>
          <a:prstGeom prst="rect">
            <a:avLst/>
          </a:prstGeom>
          <a:noFill/>
          <a:ln>
            <a:noFill/>
          </a:ln>
        </p:spPr>
        <p:txBody>
          <a:bodyPr anchorCtr="0" anchor="t" bIns="45700" lIns="91425" spcFirstLastPara="1" rIns="91425" wrap="square" tIns="45700">
            <a:normAutofit/>
          </a:bodyPr>
          <a:lstStyle/>
          <a:p>
            <a:pPr indent="-228600" lvl="0" marL="228600" rtl="0" algn="just">
              <a:lnSpc>
                <a:spcPct val="130000"/>
              </a:lnSpc>
              <a:spcBef>
                <a:spcPts val="0"/>
              </a:spcBef>
              <a:spcAft>
                <a:spcPts val="0"/>
              </a:spcAft>
              <a:buClr>
                <a:schemeClr val="dk1"/>
              </a:buClr>
              <a:buSzPts val="2000"/>
              <a:buChar char="•"/>
            </a:pPr>
            <a:r>
              <a:rPr lang="en-US"/>
              <a:t>Xử lí dữ liệu đầu vào :Sanitize ,Regex, chỉ định kiểu dữ liệu (numeric, string, ..)</a:t>
            </a:r>
            <a:endParaRPr/>
          </a:p>
          <a:p>
            <a:pPr indent="-228600" lvl="1" marL="685800" rtl="0" algn="just">
              <a:lnSpc>
                <a:spcPct val="130000"/>
              </a:lnSpc>
              <a:spcBef>
                <a:spcPts val="600"/>
              </a:spcBef>
              <a:spcAft>
                <a:spcPts val="0"/>
              </a:spcAft>
              <a:buClr>
                <a:schemeClr val="dk1"/>
              </a:buClr>
              <a:buSzPts val="1800"/>
              <a:buChar char="•"/>
            </a:pPr>
            <a:r>
              <a:rPr lang="en-US"/>
              <a:t>Sử dụng library của JETPAY phía server</a:t>
            </a:r>
            <a:endParaRPr/>
          </a:p>
          <a:p>
            <a:pPr indent="-114300" lvl="1" marL="685800" rtl="0" algn="just">
              <a:lnSpc>
                <a:spcPct val="130000"/>
              </a:lnSpc>
              <a:spcBef>
                <a:spcPts val="600"/>
              </a:spcBef>
              <a:spcAft>
                <a:spcPts val="0"/>
              </a:spcAft>
              <a:buClr>
                <a:schemeClr val="dk1"/>
              </a:buClr>
              <a:buSzPts val="1800"/>
              <a:buNone/>
            </a:pPr>
            <a:r>
              <a:t/>
            </a:r>
            <a:endParaRPr/>
          </a:p>
          <a:p>
            <a:pPr indent="-114300" lvl="1" marL="685800" rtl="0" algn="just">
              <a:lnSpc>
                <a:spcPct val="130000"/>
              </a:lnSpc>
              <a:spcBef>
                <a:spcPts val="600"/>
              </a:spcBef>
              <a:spcAft>
                <a:spcPts val="0"/>
              </a:spcAft>
              <a:buClr>
                <a:schemeClr val="dk1"/>
              </a:buClr>
              <a:buSzPts val="1800"/>
              <a:buNone/>
            </a:pPr>
            <a:r>
              <a:t/>
            </a:r>
            <a:endParaRPr/>
          </a:p>
          <a:p>
            <a:pPr indent="-114300" lvl="1" marL="685800" rtl="0" algn="just">
              <a:lnSpc>
                <a:spcPct val="130000"/>
              </a:lnSpc>
              <a:spcBef>
                <a:spcPts val="600"/>
              </a:spcBef>
              <a:spcAft>
                <a:spcPts val="0"/>
              </a:spcAft>
              <a:buClr>
                <a:schemeClr val="dk1"/>
              </a:buClr>
              <a:buSzPts val="1800"/>
              <a:buNone/>
            </a:pPr>
            <a:r>
              <a:t/>
            </a:r>
            <a:endParaRPr/>
          </a:p>
          <a:p>
            <a:pPr indent="-228600" lvl="0" marL="228600" rtl="0" algn="just">
              <a:lnSpc>
                <a:spcPct val="130000"/>
              </a:lnSpc>
              <a:spcBef>
                <a:spcPts val="600"/>
              </a:spcBef>
              <a:spcAft>
                <a:spcPts val="0"/>
              </a:spcAft>
              <a:buClr>
                <a:srgbClr val="FF0000"/>
              </a:buClr>
              <a:buSzPts val="2000"/>
              <a:buChar char="•"/>
            </a:pPr>
            <a:r>
              <a:rPr lang="en-US">
                <a:solidFill>
                  <a:srgbClr val="FF0000"/>
                </a:solidFill>
              </a:rPr>
              <a:t>Sử dụng lệnh tham số hóa (Parameterized statements)</a:t>
            </a:r>
            <a:endParaRPr/>
          </a:p>
          <a:p>
            <a:pPr indent="-228600" lvl="0" marL="228600" rtl="0" algn="just">
              <a:lnSpc>
                <a:spcPct val="130000"/>
              </a:lnSpc>
              <a:spcBef>
                <a:spcPts val="600"/>
              </a:spcBef>
              <a:spcAft>
                <a:spcPts val="0"/>
              </a:spcAft>
              <a:buClr>
                <a:srgbClr val="FF0000"/>
              </a:buClr>
              <a:buSzPts val="2000"/>
              <a:buChar char="•"/>
            </a:pPr>
            <a:r>
              <a:rPr lang="en-US">
                <a:solidFill>
                  <a:srgbClr val="FF0000"/>
                </a:solidFill>
              </a:rPr>
              <a:t>Sử dụng thủ tục lưu trữ (stored procedures )</a:t>
            </a:r>
            <a:endParaRPr/>
          </a:p>
          <a:p>
            <a:pPr indent="-101600" lvl="0" marL="228600" rtl="0" algn="just">
              <a:lnSpc>
                <a:spcPct val="130000"/>
              </a:lnSpc>
              <a:spcBef>
                <a:spcPts val="600"/>
              </a:spcBef>
              <a:spcAft>
                <a:spcPts val="0"/>
              </a:spcAft>
              <a:buClr>
                <a:schemeClr val="dk1"/>
              </a:buClr>
              <a:buSzPts val="2000"/>
              <a:buNone/>
            </a:pPr>
            <a:r>
              <a:t/>
            </a:r>
            <a:endParaRPr/>
          </a:p>
          <a:p>
            <a:pPr indent="-101600" lvl="0" marL="228600" rtl="0" algn="just">
              <a:lnSpc>
                <a:spcPct val="130000"/>
              </a:lnSpc>
              <a:spcBef>
                <a:spcPts val="600"/>
              </a:spcBef>
              <a:spcAft>
                <a:spcPts val="0"/>
              </a:spcAft>
              <a:buClr>
                <a:schemeClr val="dk1"/>
              </a:buClr>
              <a:buSzPts val="2000"/>
              <a:buNone/>
            </a:pPr>
            <a:r>
              <a:t/>
            </a:r>
            <a:endParaRPr/>
          </a:p>
          <a:p>
            <a:pPr indent="-228600" lvl="0" marL="228600" rtl="0" algn="just">
              <a:lnSpc>
                <a:spcPct val="130000"/>
              </a:lnSpc>
              <a:spcBef>
                <a:spcPts val="600"/>
              </a:spcBef>
              <a:spcAft>
                <a:spcPts val="0"/>
              </a:spcAft>
              <a:buClr>
                <a:schemeClr val="dk1"/>
              </a:buClr>
              <a:buSzPts val="2000"/>
              <a:buChar char="•"/>
            </a:pPr>
            <a:r>
              <a:rPr lang="en-US"/>
              <a:t>Tuân thủ nguyên tắc đặc quyền tối thiểu</a:t>
            </a:r>
            <a:endParaRPr/>
          </a:p>
          <a:p>
            <a:pPr indent="-228600" lvl="0" marL="228600" rtl="0" algn="just">
              <a:lnSpc>
                <a:spcPct val="130000"/>
              </a:lnSpc>
              <a:spcBef>
                <a:spcPts val="600"/>
              </a:spcBef>
              <a:spcAft>
                <a:spcPts val="0"/>
              </a:spcAft>
              <a:buClr>
                <a:srgbClr val="FF0000"/>
              </a:buClr>
              <a:buSzPts val="2000"/>
              <a:buChar char="•"/>
            </a:pPr>
            <a:r>
              <a:rPr lang="en-US">
                <a:solidFill>
                  <a:srgbClr val="FF0000"/>
                </a:solidFill>
              </a:rPr>
              <a:t>Mã hóa dữ liệu quan trọng trong DB : Password, CVV,CCV</a:t>
            </a:r>
            <a:endParaRPr>
              <a:solidFill>
                <a:srgbClr val="FF0000"/>
              </a:solidFill>
            </a:endParaRPr>
          </a:p>
          <a:p>
            <a:pPr indent="-101600" lvl="0" marL="228600" rtl="0" algn="just">
              <a:lnSpc>
                <a:spcPct val="130000"/>
              </a:lnSpc>
              <a:spcBef>
                <a:spcPts val="600"/>
              </a:spcBef>
              <a:spcAft>
                <a:spcPts val="0"/>
              </a:spcAft>
              <a:buClr>
                <a:schemeClr val="dk1"/>
              </a:buClr>
              <a:buSzPts val="2000"/>
              <a:buNone/>
            </a:pPr>
            <a:r>
              <a:t/>
            </a:r>
            <a:endParaRPr/>
          </a:p>
          <a:p>
            <a:pPr indent="0" lvl="0" marL="0" rtl="0" algn="just">
              <a:lnSpc>
                <a:spcPct val="130000"/>
              </a:lnSpc>
              <a:spcBef>
                <a:spcPts val="600"/>
              </a:spcBef>
              <a:spcAft>
                <a:spcPts val="0"/>
              </a:spcAft>
              <a:buClr>
                <a:schemeClr val="dk1"/>
              </a:buClr>
              <a:buSzPts val="2000"/>
              <a:buNone/>
            </a:pPr>
            <a:r>
              <a:t/>
            </a:r>
            <a:endParaRPr/>
          </a:p>
          <a:p>
            <a:pPr indent="0" lvl="0" marL="0" rtl="0" algn="just">
              <a:lnSpc>
                <a:spcPct val="130000"/>
              </a:lnSpc>
              <a:spcBef>
                <a:spcPts val="600"/>
              </a:spcBef>
              <a:spcAft>
                <a:spcPts val="0"/>
              </a:spcAft>
              <a:buClr>
                <a:schemeClr val="dk1"/>
              </a:buClr>
              <a:buSzPts val="2000"/>
              <a:buNone/>
            </a:pPr>
            <a:r>
              <a:t/>
            </a:r>
            <a:endParaRPr/>
          </a:p>
          <a:p>
            <a:pPr indent="0" lvl="0" marL="0" rtl="0" algn="just">
              <a:lnSpc>
                <a:spcPct val="130000"/>
              </a:lnSpc>
              <a:spcBef>
                <a:spcPts val="600"/>
              </a:spcBef>
              <a:spcAft>
                <a:spcPts val="0"/>
              </a:spcAft>
              <a:buClr>
                <a:schemeClr val="dk1"/>
              </a:buClr>
              <a:buSzPts val="2000"/>
              <a:buNone/>
            </a:pPr>
            <a:r>
              <a:t/>
            </a:r>
            <a:endParaRPr/>
          </a:p>
          <a:p>
            <a:pPr indent="0" lvl="0" marL="0" rtl="0" algn="just">
              <a:lnSpc>
                <a:spcPct val="130000"/>
              </a:lnSpc>
              <a:spcBef>
                <a:spcPts val="600"/>
              </a:spcBef>
              <a:spcAft>
                <a:spcPts val="0"/>
              </a:spcAft>
              <a:buClr>
                <a:schemeClr val="dk1"/>
              </a:buClr>
              <a:buSzPts val="2000"/>
              <a:buNone/>
            </a:pPr>
            <a:r>
              <a:t/>
            </a:r>
            <a:endParaRPr/>
          </a:p>
          <a:p>
            <a:pPr indent="0" lvl="0" marL="0" rtl="0" algn="just">
              <a:lnSpc>
                <a:spcPct val="130000"/>
              </a:lnSpc>
              <a:spcBef>
                <a:spcPts val="600"/>
              </a:spcBef>
              <a:spcAft>
                <a:spcPts val="0"/>
              </a:spcAft>
              <a:buClr>
                <a:schemeClr val="dk1"/>
              </a:buClr>
              <a:buSzPts val="2000"/>
              <a:buNone/>
            </a:pPr>
            <a:r>
              <a:t/>
            </a:r>
            <a:endParaRPr/>
          </a:p>
        </p:txBody>
      </p:sp>
      <p:pic>
        <p:nvPicPr>
          <p:cNvPr descr="SQL Injection: Detection and prevention" id="229" name="Google Shape;229;p13"/>
          <p:cNvPicPr preferRelativeResize="0"/>
          <p:nvPr/>
        </p:nvPicPr>
        <p:blipFill rotWithShape="1">
          <a:blip r:embed="rId3">
            <a:alphaModFix/>
          </a:blip>
          <a:srcRect b="39495" l="10636" r="769" t="10192"/>
          <a:stretch/>
        </p:blipFill>
        <p:spPr>
          <a:xfrm>
            <a:off x="6431394" y="1642379"/>
            <a:ext cx="4655126" cy="1715617"/>
          </a:xfrm>
          <a:prstGeom prst="rect">
            <a:avLst/>
          </a:prstGeom>
          <a:noFill/>
          <a:ln>
            <a:noFill/>
          </a:ln>
        </p:spPr>
      </p:pic>
      <p:pic>
        <p:nvPicPr>
          <p:cNvPr id="230" name="Google Shape;230;p13"/>
          <p:cNvPicPr preferRelativeResize="0"/>
          <p:nvPr/>
        </p:nvPicPr>
        <p:blipFill rotWithShape="1">
          <a:blip r:embed="rId4">
            <a:alphaModFix/>
          </a:blip>
          <a:srcRect b="0" l="0" r="0" t="3198"/>
          <a:stretch/>
        </p:blipFill>
        <p:spPr>
          <a:xfrm>
            <a:off x="6431394" y="3756314"/>
            <a:ext cx="4922406" cy="196783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4"/>
          <p:cNvSpPr txBox="1"/>
          <p:nvPr>
            <p:ph type="ctrTitle"/>
          </p:nvPr>
        </p:nvSpPr>
        <p:spPr>
          <a:xfrm>
            <a:off x="315331" y="1067877"/>
            <a:ext cx="5376342" cy="106907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4200"/>
              <a:buFont typeface="Arial"/>
              <a:buNone/>
            </a:pPr>
            <a:r>
              <a:rPr lang="en-US"/>
              <a:t>Cross Site Scripting</a:t>
            </a:r>
            <a:endParaRPr/>
          </a:p>
        </p:txBody>
      </p:sp>
      <p:pic>
        <p:nvPicPr>
          <p:cNvPr id="236" name="Google Shape;236;p14"/>
          <p:cNvPicPr preferRelativeResize="0"/>
          <p:nvPr/>
        </p:nvPicPr>
        <p:blipFill rotWithShape="1">
          <a:blip r:embed="rId3">
            <a:alphaModFix/>
          </a:blip>
          <a:srcRect b="0" l="0" r="0" t="0"/>
          <a:stretch/>
        </p:blipFill>
        <p:spPr>
          <a:xfrm>
            <a:off x="3734260" y="-8313"/>
            <a:ext cx="4590476" cy="1076190"/>
          </a:xfrm>
          <a:prstGeom prst="rect">
            <a:avLst/>
          </a:prstGeom>
          <a:noFill/>
          <a:ln>
            <a:noFill/>
          </a:ln>
        </p:spPr>
      </p:pic>
      <p:pic>
        <p:nvPicPr>
          <p:cNvPr descr="Tipos de XSS." id="237" name="Google Shape;237;p14"/>
          <p:cNvPicPr preferRelativeResize="0"/>
          <p:nvPr/>
        </p:nvPicPr>
        <p:blipFill rotWithShape="1">
          <a:blip r:embed="rId4">
            <a:alphaModFix/>
          </a:blip>
          <a:srcRect b="0" l="0" r="0" t="0"/>
          <a:stretch/>
        </p:blipFill>
        <p:spPr>
          <a:xfrm>
            <a:off x="2230545" y="2500603"/>
            <a:ext cx="7095110" cy="36576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5"/>
          <p:cNvSpPr txBox="1"/>
          <p:nvPr>
            <p:ph type="title"/>
          </p:nvPr>
        </p:nvSpPr>
        <p:spPr>
          <a:xfrm>
            <a:off x="838200" y="365125"/>
            <a:ext cx="10515600" cy="568325"/>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20000"/>
              </a:lnSpc>
              <a:spcBef>
                <a:spcPts val="0"/>
              </a:spcBef>
              <a:spcAft>
                <a:spcPts val="0"/>
              </a:spcAft>
              <a:buClr>
                <a:srgbClr val="00CB8A"/>
              </a:buClr>
              <a:buSzPct val="100000"/>
              <a:buFont typeface="Arial"/>
              <a:buNone/>
            </a:pPr>
            <a:r>
              <a:rPr lang="en-US"/>
              <a:t>XSS là gì ?</a:t>
            </a:r>
            <a:endParaRPr/>
          </a:p>
        </p:txBody>
      </p:sp>
      <p:sp>
        <p:nvSpPr>
          <p:cNvPr id="243" name="Google Shape;243;p15"/>
          <p:cNvSpPr txBox="1"/>
          <p:nvPr>
            <p:ph idx="1" type="body"/>
          </p:nvPr>
        </p:nvSpPr>
        <p:spPr>
          <a:xfrm>
            <a:off x="838200" y="1130300"/>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130000"/>
              </a:lnSpc>
              <a:spcBef>
                <a:spcPts val="0"/>
              </a:spcBef>
              <a:spcAft>
                <a:spcPts val="0"/>
              </a:spcAft>
              <a:buClr>
                <a:schemeClr val="dk1"/>
              </a:buClr>
              <a:buSzPts val="2000"/>
              <a:buChar char="•"/>
            </a:pPr>
            <a:r>
              <a:rPr lang="en-US"/>
              <a:t>Cross site scripting (XSS) là lỗ hổng , kỹ thuật tấn công code injection vào nội dung trang web để thực thi ở phía client </a:t>
            </a:r>
            <a:endParaRPr/>
          </a:p>
          <a:p>
            <a:pPr indent="-228600" lvl="0" marL="228600" rtl="0" algn="just">
              <a:lnSpc>
                <a:spcPct val="130000"/>
              </a:lnSpc>
              <a:spcBef>
                <a:spcPts val="600"/>
              </a:spcBef>
              <a:spcAft>
                <a:spcPts val="0"/>
              </a:spcAft>
              <a:buClr>
                <a:schemeClr val="dk1"/>
              </a:buClr>
              <a:buSzPts val="2000"/>
              <a:buChar char="•"/>
            </a:pPr>
            <a:r>
              <a:rPr lang="en-US"/>
              <a:t>Mức độ nguy hiểm : Trung bình, Cao</a:t>
            </a:r>
            <a:endParaRPr/>
          </a:p>
          <a:p>
            <a:pPr indent="-228600" lvl="0" marL="228600" rtl="0" algn="just">
              <a:lnSpc>
                <a:spcPct val="130000"/>
              </a:lnSpc>
              <a:spcBef>
                <a:spcPts val="600"/>
              </a:spcBef>
              <a:spcAft>
                <a:spcPts val="0"/>
              </a:spcAft>
              <a:buClr>
                <a:schemeClr val="dk1"/>
              </a:buClr>
              <a:buSzPts val="2000"/>
              <a:buChar char="•"/>
            </a:pPr>
            <a:r>
              <a:rPr lang="en-US"/>
              <a:t>Mục tiêu</a:t>
            </a:r>
            <a:endParaRPr/>
          </a:p>
          <a:p>
            <a:pPr indent="-228600" lvl="1" marL="685800" rtl="0" algn="just">
              <a:lnSpc>
                <a:spcPct val="130000"/>
              </a:lnSpc>
              <a:spcBef>
                <a:spcPts val="600"/>
              </a:spcBef>
              <a:spcAft>
                <a:spcPts val="0"/>
              </a:spcAft>
              <a:buClr>
                <a:schemeClr val="dk1"/>
              </a:buClr>
              <a:buSzPts val="1800"/>
              <a:buChar char="•"/>
            </a:pPr>
            <a:r>
              <a:rPr lang="en-US"/>
              <a:t>Đánh cắp cookie của người dùng: session, token</a:t>
            </a:r>
            <a:endParaRPr/>
          </a:p>
          <a:p>
            <a:pPr indent="-228600" lvl="1" marL="685800" rtl="0" algn="just">
              <a:lnSpc>
                <a:spcPct val="130000"/>
              </a:lnSpc>
              <a:spcBef>
                <a:spcPts val="600"/>
              </a:spcBef>
              <a:spcAft>
                <a:spcPts val="0"/>
              </a:spcAft>
              <a:buClr>
                <a:schemeClr val="dk1"/>
              </a:buClr>
              <a:buSzPts val="1800"/>
              <a:buChar char="•"/>
            </a:pPr>
            <a:r>
              <a:rPr lang="en-US"/>
              <a:t>Lấy thông tin trên trình duyệt của người dùng</a:t>
            </a:r>
            <a:endParaRPr/>
          </a:p>
          <a:p>
            <a:pPr indent="-228600" lvl="1" marL="685800" rtl="0" algn="just">
              <a:lnSpc>
                <a:spcPct val="130000"/>
              </a:lnSpc>
              <a:spcBef>
                <a:spcPts val="600"/>
              </a:spcBef>
              <a:spcAft>
                <a:spcPts val="0"/>
              </a:spcAft>
              <a:buClr>
                <a:schemeClr val="dk1"/>
              </a:buClr>
              <a:buSzPts val="1800"/>
              <a:buChar char="•"/>
            </a:pPr>
            <a:r>
              <a:rPr lang="en-US"/>
              <a:t>Có thể lợi dụng CORS để ăn cắp thông tin account</a:t>
            </a:r>
            <a:endParaRPr/>
          </a:p>
        </p:txBody>
      </p:sp>
      <p:pic>
        <p:nvPicPr>
          <p:cNvPr descr="Kiến thức cơ bản về Cross-Site Scripting (XSS): lỗ hổng thú vị mới của  hacker" id="244" name="Google Shape;244;p15"/>
          <p:cNvPicPr preferRelativeResize="0"/>
          <p:nvPr/>
        </p:nvPicPr>
        <p:blipFill rotWithShape="1">
          <a:blip r:embed="rId3">
            <a:alphaModFix/>
          </a:blip>
          <a:srcRect b="0" l="0" r="0" t="0"/>
          <a:stretch/>
        </p:blipFill>
        <p:spPr>
          <a:xfrm>
            <a:off x="7284563" y="3048000"/>
            <a:ext cx="4327304" cy="2265074"/>
          </a:xfrm>
          <a:prstGeom prst="rect">
            <a:avLst/>
          </a:prstGeom>
          <a:noFill/>
          <a:ln>
            <a:noFill/>
          </a:ln>
          <a:effectLst>
            <a:outerShdw blurRad="149987" algn="ctr" dir="8460000" dist="250190">
              <a:srgbClr val="000000">
                <a:alpha val="27843"/>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16"/>
          <p:cNvSpPr txBox="1"/>
          <p:nvPr>
            <p:ph type="title"/>
          </p:nvPr>
        </p:nvSpPr>
        <p:spPr>
          <a:xfrm>
            <a:off x="838200" y="365125"/>
            <a:ext cx="10515600" cy="568325"/>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20000"/>
              </a:lnSpc>
              <a:spcBef>
                <a:spcPts val="0"/>
              </a:spcBef>
              <a:spcAft>
                <a:spcPts val="0"/>
              </a:spcAft>
              <a:buClr>
                <a:srgbClr val="00CB8A"/>
              </a:buClr>
              <a:buSzPct val="100000"/>
              <a:buFont typeface="Arial"/>
              <a:buNone/>
            </a:pPr>
            <a:r>
              <a:rPr lang="en-US"/>
              <a:t>Cách thức tấn công</a:t>
            </a:r>
            <a:endParaRPr/>
          </a:p>
        </p:txBody>
      </p:sp>
      <p:pic>
        <p:nvPicPr>
          <p:cNvPr descr="Protecting Your Cookies from Cross Site Scripting (XSS) Vulnerabilities –  How XSS Works" id="250" name="Google Shape;250;p16"/>
          <p:cNvPicPr preferRelativeResize="0"/>
          <p:nvPr>
            <p:ph idx="1" type="body"/>
          </p:nvPr>
        </p:nvPicPr>
        <p:blipFill rotWithShape="1">
          <a:blip r:embed="rId3">
            <a:alphaModFix/>
          </a:blip>
          <a:srcRect b="10100" l="0" r="0" t="0"/>
          <a:stretch/>
        </p:blipFill>
        <p:spPr>
          <a:xfrm>
            <a:off x="1993772" y="1279164"/>
            <a:ext cx="8204455" cy="441043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17"/>
          <p:cNvSpPr txBox="1"/>
          <p:nvPr>
            <p:ph type="title"/>
          </p:nvPr>
        </p:nvSpPr>
        <p:spPr>
          <a:xfrm>
            <a:off x="838200" y="365125"/>
            <a:ext cx="10515600" cy="568325"/>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20000"/>
              </a:lnSpc>
              <a:spcBef>
                <a:spcPts val="0"/>
              </a:spcBef>
              <a:spcAft>
                <a:spcPts val="0"/>
              </a:spcAft>
              <a:buClr>
                <a:srgbClr val="00CB8A"/>
              </a:buClr>
              <a:buSzPct val="100000"/>
              <a:buFont typeface="Arial"/>
              <a:buNone/>
            </a:pPr>
            <a:r>
              <a:rPr lang="en-US"/>
              <a:t>Nguyên nhân</a:t>
            </a:r>
            <a:endParaRPr/>
          </a:p>
        </p:txBody>
      </p:sp>
      <p:sp>
        <p:nvSpPr>
          <p:cNvPr id="256" name="Google Shape;256;p17"/>
          <p:cNvSpPr txBox="1"/>
          <p:nvPr>
            <p:ph idx="1" type="body"/>
          </p:nvPr>
        </p:nvSpPr>
        <p:spPr>
          <a:xfrm>
            <a:off x="838200" y="1130300"/>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130000"/>
              </a:lnSpc>
              <a:spcBef>
                <a:spcPts val="0"/>
              </a:spcBef>
              <a:spcAft>
                <a:spcPts val="0"/>
              </a:spcAft>
              <a:buClr>
                <a:schemeClr val="dk1"/>
              </a:buClr>
              <a:buSzPts val="2000"/>
              <a:buChar char="•"/>
            </a:pPr>
            <a:r>
              <a:rPr lang="en-US"/>
              <a:t>Không kiểm soát dữ liệu đầu vào.</a:t>
            </a:r>
            <a:endParaRPr/>
          </a:p>
          <a:p>
            <a:pPr indent="-101600" lvl="0" marL="228600" rtl="0" algn="just">
              <a:lnSpc>
                <a:spcPct val="130000"/>
              </a:lnSpc>
              <a:spcBef>
                <a:spcPts val="600"/>
              </a:spcBef>
              <a:spcAft>
                <a:spcPts val="0"/>
              </a:spcAft>
              <a:buClr>
                <a:schemeClr val="dk1"/>
              </a:buClr>
              <a:buSzPts val="2000"/>
              <a:buNone/>
            </a:pPr>
            <a:r>
              <a:t/>
            </a:r>
            <a:endParaRPr/>
          </a:p>
          <a:p>
            <a:pPr indent="-101600" lvl="0" marL="228600" rtl="0" algn="just">
              <a:lnSpc>
                <a:spcPct val="130000"/>
              </a:lnSpc>
              <a:spcBef>
                <a:spcPts val="600"/>
              </a:spcBef>
              <a:spcAft>
                <a:spcPts val="0"/>
              </a:spcAft>
              <a:buClr>
                <a:schemeClr val="dk1"/>
              </a:buClr>
              <a:buSzPts val="2000"/>
              <a:buNone/>
            </a:pPr>
            <a:r>
              <a:t/>
            </a:r>
            <a:endParaRPr/>
          </a:p>
          <a:p>
            <a:pPr indent="0" lvl="0" marL="0" rtl="0" algn="just">
              <a:lnSpc>
                <a:spcPct val="130000"/>
              </a:lnSpc>
              <a:spcBef>
                <a:spcPts val="600"/>
              </a:spcBef>
              <a:spcAft>
                <a:spcPts val="0"/>
              </a:spcAft>
              <a:buClr>
                <a:schemeClr val="dk1"/>
              </a:buClr>
              <a:buSzPts val="2000"/>
              <a:buNone/>
            </a:pPr>
            <a:r>
              <a:t/>
            </a:r>
            <a:endParaRPr/>
          </a:p>
          <a:p>
            <a:pPr indent="0" lvl="0" marL="0" rtl="0" algn="just">
              <a:lnSpc>
                <a:spcPct val="130000"/>
              </a:lnSpc>
              <a:spcBef>
                <a:spcPts val="600"/>
              </a:spcBef>
              <a:spcAft>
                <a:spcPts val="0"/>
              </a:spcAft>
              <a:buClr>
                <a:schemeClr val="dk1"/>
              </a:buClr>
              <a:buSzPts val="2000"/>
              <a:buNone/>
            </a:pPr>
            <a:r>
              <a:t/>
            </a:r>
            <a:endParaRPr/>
          </a:p>
          <a:p>
            <a:pPr indent="-228600" lvl="0" marL="228600" rtl="0" algn="just">
              <a:lnSpc>
                <a:spcPct val="130000"/>
              </a:lnSpc>
              <a:spcBef>
                <a:spcPts val="600"/>
              </a:spcBef>
              <a:spcAft>
                <a:spcPts val="0"/>
              </a:spcAft>
              <a:buClr>
                <a:srgbClr val="FF0000"/>
              </a:buClr>
              <a:buSzPts val="2000"/>
              <a:buChar char="•"/>
            </a:pPr>
            <a:r>
              <a:rPr lang="en-US">
                <a:solidFill>
                  <a:srgbClr val="FF0000"/>
                </a:solidFill>
              </a:rPr>
              <a:t>Xử lý dữ liệu đầu ra không an toàn</a:t>
            </a:r>
            <a:endParaRPr>
              <a:solidFill>
                <a:srgbClr val="FF0000"/>
              </a:solidFill>
            </a:endParaRPr>
          </a:p>
          <a:p>
            <a:pPr indent="-101600" lvl="0" marL="228600" rtl="0" algn="just">
              <a:lnSpc>
                <a:spcPct val="130000"/>
              </a:lnSpc>
              <a:spcBef>
                <a:spcPts val="600"/>
              </a:spcBef>
              <a:spcAft>
                <a:spcPts val="0"/>
              </a:spcAft>
              <a:buClr>
                <a:schemeClr val="dk1"/>
              </a:buClr>
              <a:buSzPts val="2000"/>
              <a:buNone/>
            </a:pPr>
            <a:r>
              <a:t/>
            </a:r>
            <a:endParaRPr/>
          </a:p>
          <a:p>
            <a:pPr indent="0" lvl="0" marL="0" rtl="0" algn="just">
              <a:lnSpc>
                <a:spcPct val="130000"/>
              </a:lnSpc>
              <a:spcBef>
                <a:spcPts val="600"/>
              </a:spcBef>
              <a:spcAft>
                <a:spcPts val="0"/>
              </a:spcAft>
              <a:buClr>
                <a:schemeClr val="dk1"/>
              </a:buClr>
              <a:buSzPts val="2000"/>
              <a:buNone/>
            </a:pPr>
            <a:r>
              <a:t/>
            </a:r>
            <a:endParaRPr/>
          </a:p>
        </p:txBody>
      </p:sp>
      <p:pic>
        <p:nvPicPr>
          <p:cNvPr descr="XSS on Google Search - Sanitizing HTML in The Client? - YouTube" id="257" name="Google Shape;257;p17"/>
          <p:cNvPicPr preferRelativeResize="0"/>
          <p:nvPr/>
        </p:nvPicPr>
        <p:blipFill rotWithShape="1">
          <a:blip r:embed="rId3">
            <a:alphaModFix/>
          </a:blip>
          <a:srcRect b="0" l="0" r="0" t="0"/>
          <a:stretch/>
        </p:blipFill>
        <p:spPr>
          <a:xfrm>
            <a:off x="5153891" y="1130300"/>
            <a:ext cx="3980873" cy="2239241"/>
          </a:xfrm>
          <a:prstGeom prst="rect">
            <a:avLst/>
          </a:prstGeom>
          <a:noFill/>
          <a:ln>
            <a:noFill/>
          </a:ln>
        </p:spPr>
      </p:pic>
      <p:pic>
        <p:nvPicPr>
          <p:cNvPr descr="Cross-Site Scripting (XSS) - PERITUM - Consultoria e Treinamento LTDA" id="258" name="Google Shape;258;p17"/>
          <p:cNvPicPr preferRelativeResize="0"/>
          <p:nvPr/>
        </p:nvPicPr>
        <p:blipFill rotWithShape="1">
          <a:blip r:embed="rId4">
            <a:alphaModFix/>
          </a:blip>
          <a:srcRect b="0" l="0" r="0" t="0"/>
          <a:stretch/>
        </p:blipFill>
        <p:spPr>
          <a:xfrm>
            <a:off x="4996873" y="3947210"/>
            <a:ext cx="3831388" cy="172698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18"/>
          <p:cNvSpPr txBox="1"/>
          <p:nvPr>
            <p:ph type="title"/>
          </p:nvPr>
        </p:nvSpPr>
        <p:spPr>
          <a:xfrm>
            <a:off x="838200" y="365125"/>
            <a:ext cx="10515600" cy="568325"/>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20000"/>
              </a:lnSpc>
              <a:spcBef>
                <a:spcPts val="0"/>
              </a:spcBef>
              <a:spcAft>
                <a:spcPts val="0"/>
              </a:spcAft>
              <a:buClr>
                <a:srgbClr val="00CB8A"/>
              </a:buClr>
              <a:buSzPct val="100000"/>
              <a:buFont typeface="Arial"/>
              <a:buNone/>
            </a:pPr>
            <a:r>
              <a:rPr lang="en-US"/>
              <a:t>Cách phòng chống</a:t>
            </a:r>
            <a:endParaRPr/>
          </a:p>
        </p:txBody>
      </p:sp>
      <p:sp>
        <p:nvSpPr>
          <p:cNvPr id="265" name="Google Shape;265;p18"/>
          <p:cNvSpPr txBox="1"/>
          <p:nvPr>
            <p:ph idx="1" type="body"/>
          </p:nvPr>
        </p:nvSpPr>
        <p:spPr>
          <a:xfrm>
            <a:off x="838200" y="1130299"/>
            <a:ext cx="11196782" cy="5196609"/>
          </a:xfrm>
          <a:prstGeom prst="rect">
            <a:avLst/>
          </a:prstGeom>
          <a:noFill/>
          <a:ln>
            <a:noFill/>
          </a:ln>
        </p:spPr>
        <p:txBody>
          <a:bodyPr anchorCtr="0" anchor="t" bIns="45700" lIns="91425" spcFirstLastPara="1" rIns="91425" wrap="square" tIns="45700">
            <a:normAutofit/>
          </a:bodyPr>
          <a:lstStyle/>
          <a:p>
            <a:pPr indent="-228600" lvl="0" marL="228600" rtl="0" algn="just">
              <a:lnSpc>
                <a:spcPct val="130000"/>
              </a:lnSpc>
              <a:spcBef>
                <a:spcPts val="0"/>
              </a:spcBef>
              <a:spcAft>
                <a:spcPts val="0"/>
              </a:spcAft>
              <a:buClr>
                <a:schemeClr val="dk1"/>
              </a:buClr>
              <a:buSzPts val="2000"/>
              <a:buChar char="•"/>
            </a:pPr>
            <a:r>
              <a:rPr lang="en-US"/>
              <a:t>Lọc dữ liệu đầu vào : Regex, HtmlSanitizer</a:t>
            </a:r>
            <a:endParaRPr/>
          </a:p>
          <a:p>
            <a:pPr indent="-228600" lvl="1" marL="685800" rtl="0" algn="just">
              <a:lnSpc>
                <a:spcPct val="130000"/>
              </a:lnSpc>
              <a:spcBef>
                <a:spcPts val="600"/>
              </a:spcBef>
              <a:spcAft>
                <a:spcPts val="0"/>
              </a:spcAft>
              <a:buClr>
                <a:schemeClr val="dk1"/>
              </a:buClr>
              <a:buSzPts val="1800"/>
              <a:buChar char="•"/>
            </a:pPr>
            <a:r>
              <a:rPr lang="en-US"/>
              <a:t>&lt;script&gt;alert(1)&lt;/script&gt; -&gt; alert(1)</a:t>
            </a:r>
            <a:endParaRPr/>
          </a:p>
          <a:p>
            <a:pPr indent="-228600" lvl="0" marL="228600" rtl="0" algn="just">
              <a:lnSpc>
                <a:spcPct val="130000"/>
              </a:lnSpc>
              <a:spcBef>
                <a:spcPts val="600"/>
              </a:spcBef>
              <a:spcAft>
                <a:spcPts val="0"/>
              </a:spcAft>
              <a:buClr>
                <a:schemeClr val="dk1"/>
              </a:buClr>
              <a:buSzPts val="2000"/>
              <a:buChar char="•"/>
            </a:pPr>
            <a:r>
              <a:rPr lang="en-US"/>
              <a:t>Xử lý đầu dữ liệu đầu ra an toàn:</a:t>
            </a:r>
            <a:endParaRPr/>
          </a:p>
          <a:p>
            <a:pPr indent="-228600" lvl="1" marL="685800" rtl="0" algn="just">
              <a:lnSpc>
                <a:spcPct val="130000"/>
              </a:lnSpc>
              <a:spcBef>
                <a:spcPts val="600"/>
              </a:spcBef>
              <a:spcAft>
                <a:spcPts val="0"/>
              </a:spcAft>
              <a:buClr>
                <a:schemeClr val="dk1"/>
              </a:buClr>
              <a:buSzPts val="1800"/>
              <a:buChar char="•"/>
            </a:pPr>
            <a:r>
              <a:rPr lang="en-US"/>
              <a:t>Mã hóa html_encode, urlencode, JavaScript Encode</a:t>
            </a:r>
            <a:endParaRPr/>
          </a:p>
          <a:p>
            <a:pPr indent="-228600" lvl="1" marL="685800" rtl="0" algn="just">
              <a:lnSpc>
                <a:spcPct val="130000"/>
              </a:lnSpc>
              <a:spcBef>
                <a:spcPts val="600"/>
              </a:spcBef>
              <a:spcAft>
                <a:spcPts val="0"/>
              </a:spcAft>
              <a:buClr>
                <a:schemeClr val="dk1"/>
              </a:buClr>
              <a:buSzPts val="1800"/>
              <a:buChar char="•"/>
            </a:pPr>
            <a:r>
              <a:rPr lang="en-US"/>
              <a:t>Chỉ định json format</a:t>
            </a:r>
            <a:endParaRPr/>
          </a:p>
          <a:p>
            <a:pPr indent="-228600" lvl="0" marL="228600" rtl="0" algn="just">
              <a:lnSpc>
                <a:spcPct val="130000"/>
              </a:lnSpc>
              <a:spcBef>
                <a:spcPts val="600"/>
              </a:spcBef>
              <a:spcAft>
                <a:spcPts val="0"/>
              </a:spcAft>
              <a:buClr>
                <a:schemeClr val="dk1"/>
              </a:buClr>
              <a:buSzPts val="2000"/>
              <a:buChar char="•"/>
            </a:pPr>
            <a:r>
              <a:rPr lang="en-US"/>
              <a:t>Chỉ định sử dụng header response thích hợp</a:t>
            </a:r>
            <a:endParaRPr/>
          </a:p>
          <a:p>
            <a:pPr indent="-228600" lvl="1" marL="685800" rtl="0" algn="just">
              <a:lnSpc>
                <a:spcPct val="130000"/>
              </a:lnSpc>
              <a:spcBef>
                <a:spcPts val="600"/>
              </a:spcBef>
              <a:spcAft>
                <a:spcPts val="0"/>
              </a:spcAft>
              <a:buClr>
                <a:schemeClr val="dk1"/>
              </a:buClr>
              <a:buSzPts val="1800"/>
              <a:buChar char="•"/>
            </a:pPr>
            <a:r>
              <a:rPr lang="en-US"/>
              <a:t>Content-type</a:t>
            </a:r>
            <a:endParaRPr/>
          </a:p>
          <a:p>
            <a:pPr indent="-228600" lvl="1" marL="685800" rtl="0" algn="just">
              <a:lnSpc>
                <a:spcPct val="130000"/>
              </a:lnSpc>
              <a:spcBef>
                <a:spcPts val="600"/>
              </a:spcBef>
              <a:spcAft>
                <a:spcPts val="0"/>
              </a:spcAft>
              <a:buClr>
                <a:schemeClr val="dk1"/>
              </a:buClr>
              <a:buSzPts val="1800"/>
              <a:buChar char="•"/>
            </a:pPr>
            <a:r>
              <a:rPr lang="en-US"/>
              <a:t>X-XSS-Protection</a:t>
            </a:r>
            <a:endParaRPr/>
          </a:p>
          <a:p>
            <a:pPr indent="-228600" lvl="1" marL="685800" rtl="0" algn="just">
              <a:lnSpc>
                <a:spcPct val="130000"/>
              </a:lnSpc>
              <a:spcBef>
                <a:spcPts val="600"/>
              </a:spcBef>
              <a:spcAft>
                <a:spcPts val="0"/>
              </a:spcAft>
              <a:buClr>
                <a:schemeClr val="dk1"/>
              </a:buClr>
              <a:buSzPts val="1800"/>
              <a:buChar char="•"/>
            </a:pPr>
            <a:r>
              <a:rPr lang="en-US"/>
              <a:t>…</a:t>
            </a:r>
            <a:endParaRPr/>
          </a:p>
          <a:p>
            <a:pPr indent="-228600" lvl="0" marL="228600" rtl="0" algn="just">
              <a:lnSpc>
                <a:spcPct val="130000"/>
              </a:lnSpc>
              <a:spcBef>
                <a:spcPts val="600"/>
              </a:spcBef>
              <a:spcAft>
                <a:spcPts val="0"/>
              </a:spcAft>
              <a:buClr>
                <a:schemeClr val="dk1"/>
              </a:buClr>
              <a:buSzPts val="2000"/>
              <a:buChar char="•"/>
            </a:pPr>
            <a:r>
              <a:rPr lang="en-US"/>
              <a:t>Sử dụng Content Security Policy (CSP)</a:t>
            </a:r>
            <a:endParaRPr/>
          </a:p>
          <a:p>
            <a:pPr indent="-228600" lvl="0" marL="228600" rtl="0" algn="just">
              <a:lnSpc>
                <a:spcPct val="130000"/>
              </a:lnSpc>
              <a:spcBef>
                <a:spcPts val="600"/>
              </a:spcBef>
              <a:spcAft>
                <a:spcPts val="0"/>
              </a:spcAft>
              <a:buClr>
                <a:schemeClr val="dk1"/>
              </a:buClr>
              <a:buSzPts val="2000"/>
              <a:buChar char="•"/>
            </a:pPr>
            <a:r>
              <a:rPr lang="en-US"/>
              <a:t>Thiết lập cờ HTTPOnly và Secure Flag cho cookie</a:t>
            </a:r>
            <a:endParaRPr/>
          </a:p>
          <a:p>
            <a:pPr indent="-101600" lvl="0" marL="228600" rtl="0" algn="just">
              <a:lnSpc>
                <a:spcPct val="130000"/>
              </a:lnSpc>
              <a:spcBef>
                <a:spcPts val="600"/>
              </a:spcBef>
              <a:spcAft>
                <a:spcPts val="0"/>
              </a:spcAft>
              <a:buClr>
                <a:schemeClr val="dk1"/>
              </a:buClr>
              <a:buSzPts val="2000"/>
              <a:buNone/>
            </a:pPr>
            <a:r>
              <a:t/>
            </a:r>
            <a:endParaRPr/>
          </a:p>
        </p:txBody>
      </p:sp>
      <p:pic>
        <p:nvPicPr>
          <p:cNvPr descr="How to Prevent XSS: Why Base64 is Not Enough | we45" id="266" name="Google Shape;266;p18"/>
          <p:cNvPicPr preferRelativeResize="0"/>
          <p:nvPr/>
        </p:nvPicPr>
        <p:blipFill rotWithShape="1">
          <a:blip r:embed="rId3">
            <a:alphaModFix/>
          </a:blip>
          <a:srcRect b="0" l="11727" r="9632" t="0"/>
          <a:stretch/>
        </p:blipFill>
        <p:spPr>
          <a:xfrm>
            <a:off x="7505059" y="3288144"/>
            <a:ext cx="3744834" cy="2678547"/>
          </a:xfrm>
          <a:prstGeom prst="rect">
            <a:avLst/>
          </a:prstGeom>
          <a:noFill/>
          <a:ln>
            <a:noFill/>
          </a:ln>
          <a:effectLst>
            <a:outerShdw blurRad="149987" algn="ctr" dir="8460000" dist="250190">
              <a:srgbClr val="000000">
                <a:alpha val="27843"/>
              </a:srgbClr>
            </a:outerShdw>
          </a:effectLst>
        </p:spPr>
      </p:pic>
      <p:pic>
        <p:nvPicPr>
          <p:cNvPr descr="Security - Avoiding Cross-site Scripting (XSS)" id="267" name="Google Shape;267;p18"/>
          <p:cNvPicPr preferRelativeResize="0"/>
          <p:nvPr/>
        </p:nvPicPr>
        <p:blipFill rotWithShape="1">
          <a:blip r:embed="rId4">
            <a:alphaModFix/>
          </a:blip>
          <a:srcRect b="0" l="0" r="0" t="0"/>
          <a:stretch/>
        </p:blipFill>
        <p:spPr>
          <a:xfrm>
            <a:off x="7015172" y="1241678"/>
            <a:ext cx="4338628" cy="115054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19"/>
          <p:cNvSpPr txBox="1"/>
          <p:nvPr>
            <p:ph type="ctrTitle"/>
          </p:nvPr>
        </p:nvSpPr>
        <p:spPr>
          <a:xfrm>
            <a:off x="490848" y="1067877"/>
            <a:ext cx="7318876" cy="1255687"/>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400"/>
              <a:buFont typeface="Arial"/>
              <a:buNone/>
            </a:pPr>
            <a:r>
              <a:rPr lang="en-US" sz="4400"/>
              <a:t>Cross side request forgery</a:t>
            </a:r>
            <a:endParaRPr/>
          </a:p>
        </p:txBody>
      </p:sp>
      <p:pic>
        <p:nvPicPr>
          <p:cNvPr id="273" name="Google Shape;273;p19"/>
          <p:cNvPicPr preferRelativeResize="0"/>
          <p:nvPr/>
        </p:nvPicPr>
        <p:blipFill rotWithShape="1">
          <a:blip r:embed="rId3">
            <a:alphaModFix/>
          </a:blip>
          <a:srcRect b="0" l="0" r="0" t="0"/>
          <a:stretch/>
        </p:blipFill>
        <p:spPr>
          <a:xfrm>
            <a:off x="3734260" y="-8313"/>
            <a:ext cx="4590476" cy="1076190"/>
          </a:xfrm>
          <a:prstGeom prst="rect">
            <a:avLst/>
          </a:prstGeom>
          <a:noFill/>
          <a:ln>
            <a:noFill/>
          </a:ln>
        </p:spPr>
      </p:pic>
      <p:pic>
        <p:nvPicPr>
          <p:cNvPr descr="A Tale of Cross Site Request Forgery (CSRF) - Security Souls" id="274" name="Google Shape;274;p19"/>
          <p:cNvPicPr preferRelativeResize="0"/>
          <p:nvPr/>
        </p:nvPicPr>
        <p:blipFill rotWithShape="1">
          <a:blip r:embed="rId4">
            <a:alphaModFix/>
          </a:blip>
          <a:srcRect b="0" l="0" r="0" t="0"/>
          <a:stretch/>
        </p:blipFill>
        <p:spPr>
          <a:xfrm>
            <a:off x="2183364" y="2412683"/>
            <a:ext cx="7375146" cy="382585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20"/>
          <p:cNvSpPr txBox="1"/>
          <p:nvPr>
            <p:ph type="title"/>
          </p:nvPr>
        </p:nvSpPr>
        <p:spPr>
          <a:xfrm>
            <a:off x="838200" y="365125"/>
            <a:ext cx="10515600" cy="568325"/>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20000"/>
              </a:lnSpc>
              <a:spcBef>
                <a:spcPts val="0"/>
              </a:spcBef>
              <a:spcAft>
                <a:spcPts val="0"/>
              </a:spcAft>
              <a:buClr>
                <a:srgbClr val="00CB8A"/>
              </a:buClr>
              <a:buSzPct val="100000"/>
              <a:buFont typeface="Arial"/>
              <a:buNone/>
            </a:pPr>
            <a:r>
              <a:rPr lang="en-US"/>
              <a:t>CSRF là gì ?</a:t>
            </a:r>
            <a:endParaRPr/>
          </a:p>
        </p:txBody>
      </p:sp>
      <p:sp>
        <p:nvSpPr>
          <p:cNvPr id="280" name="Google Shape;280;p20"/>
          <p:cNvSpPr txBox="1"/>
          <p:nvPr>
            <p:ph idx="1" type="body"/>
          </p:nvPr>
        </p:nvSpPr>
        <p:spPr>
          <a:xfrm>
            <a:off x="563418" y="1130300"/>
            <a:ext cx="10790382" cy="5058064"/>
          </a:xfrm>
          <a:prstGeom prst="rect">
            <a:avLst/>
          </a:prstGeom>
          <a:noFill/>
          <a:ln>
            <a:noFill/>
          </a:ln>
        </p:spPr>
        <p:txBody>
          <a:bodyPr anchorCtr="0" anchor="t" bIns="45700" lIns="91425" spcFirstLastPara="1" rIns="91425" wrap="square" tIns="45700">
            <a:normAutofit/>
          </a:bodyPr>
          <a:lstStyle/>
          <a:p>
            <a:pPr indent="-228600" lvl="0" marL="228600" rtl="0" algn="just">
              <a:lnSpc>
                <a:spcPct val="130000"/>
              </a:lnSpc>
              <a:spcBef>
                <a:spcPts val="0"/>
              </a:spcBef>
              <a:spcAft>
                <a:spcPts val="0"/>
              </a:spcAft>
              <a:buClr>
                <a:schemeClr val="dk1"/>
              </a:buClr>
              <a:buSzPts val="2000"/>
              <a:buChar char="•"/>
            </a:pPr>
            <a:r>
              <a:rPr lang="en-US"/>
              <a:t>Cross-site Request Forgery (CSRF) nghĩa là kỹ thuật tấn công giả mạo chính chủ thể của nó. CSRF nói đến việc tấn công vào chứng thực request thông qua việc sử dụng Cookies trên trình duyệt.</a:t>
            </a:r>
            <a:endParaRPr/>
          </a:p>
          <a:p>
            <a:pPr indent="-228600" lvl="0" marL="228600" rtl="0" algn="just">
              <a:lnSpc>
                <a:spcPct val="130000"/>
              </a:lnSpc>
              <a:spcBef>
                <a:spcPts val="600"/>
              </a:spcBef>
              <a:spcAft>
                <a:spcPts val="0"/>
              </a:spcAft>
              <a:buClr>
                <a:schemeClr val="dk1"/>
              </a:buClr>
              <a:buSzPts val="2000"/>
              <a:buChar char="•"/>
            </a:pPr>
            <a:r>
              <a:rPr lang="en-US"/>
              <a:t>Mức độ: Medium, Cao</a:t>
            </a:r>
            <a:endParaRPr/>
          </a:p>
          <a:p>
            <a:pPr indent="-101600" lvl="0" marL="228600" rtl="0" algn="just">
              <a:lnSpc>
                <a:spcPct val="130000"/>
              </a:lnSpc>
              <a:spcBef>
                <a:spcPts val="600"/>
              </a:spcBef>
              <a:spcAft>
                <a:spcPts val="0"/>
              </a:spcAft>
              <a:buClr>
                <a:schemeClr val="dk1"/>
              </a:buClr>
              <a:buSzPts val="2000"/>
              <a:buNone/>
            </a:pPr>
            <a:r>
              <a:t/>
            </a:r>
            <a:endParaRPr/>
          </a:p>
          <a:p>
            <a:pPr indent="-101600" lvl="0" marL="228600" rtl="0" algn="just">
              <a:lnSpc>
                <a:spcPct val="130000"/>
              </a:lnSpc>
              <a:spcBef>
                <a:spcPts val="600"/>
              </a:spcBef>
              <a:spcAft>
                <a:spcPts val="0"/>
              </a:spcAft>
              <a:buClr>
                <a:schemeClr val="dk1"/>
              </a:buClr>
              <a:buSzPts val="2000"/>
              <a:buNone/>
            </a:pPr>
            <a:r>
              <a:t/>
            </a:r>
            <a:endParaRPr/>
          </a:p>
          <a:p>
            <a:pPr indent="-228600" lvl="0" marL="228600" rtl="0" algn="just">
              <a:lnSpc>
                <a:spcPct val="130000"/>
              </a:lnSpc>
              <a:spcBef>
                <a:spcPts val="600"/>
              </a:spcBef>
              <a:spcAft>
                <a:spcPts val="0"/>
              </a:spcAft>
              <a:buClr>
                <a:schemeClr val="dk1"/>
              </a:buClr>
              <a:buSzPts val="2000"/>
              <a:buChar char="•"/>
            </a:pPr>
            <a:r>
              <a:rPr lang="en-US"/>
              <a:t>Mục tiêu:</a:t>
            </a:r>
            <a:endParaRPr/>
          </a:p>
          <a:p>
            <a:pPr indent="-228600" lvl="1" marL="685800" rtl="0" algn="just">
              <a:lnSpc>
                <a:spcPct val="130000"/>
              </a:lnSpc>
              <a:spcBef>
                <a:spcPts val="600"/>
              </a:spcBef>
              <a:spcAft>
                <a:spcPts val="0"/>
              </a:spcAft>
              <a:buClr>
                <a:schemeClr val="dk1"/>
              </a:buClr>
              <a:buSzPts val="1800"/>
              <a:buChar char="•"/>
            </a:pPr>
            <a:r>
              <a:rPr lang="en-US"/>
              <a:t>Lừa người dùng thực hiện request mà hacker </a:t>
            </a:r>
            <a:endParaRPr/>
          </a:p>
          <a:p>
            <a:pPr indent="0" lvl="1" marL="457200" rtl="0" algn="just">
              <a:lnSpc>
                <a:spcPct val="130000"/>
              </a:lnSpc>
              <a:spcBef>
                <a:spcPts val="600"/>
              </a:spcBef>
              <a:spcAft>
                <a:spcPts val="0"/>
              </a:spcAft>
              <a:buClr>
                <a:schemeClr val="dk1"/>
              </a:buClr>
              <a:buSzPts val="1800"/>
              <a:buNone/>
            </a:pPr>
            <a:r>
              <a:rPr lang="en-US"/>
              <a:t>    muốn</a:t>
            </a:r>
            <a:endParaRPr/>
          </a:p>
          <a:p>
            <a:pPr indent="0" lvl="1" marL="457200" rtl="0" algn="just">
              <a:lnSpc>
                <a:spcPct val="130000"/>
              </a:lnSpc>
              <a:spcBef>
                <a:spcPts val="600"/>
              </a:spcBef>
              <a:spcAft>
                <a:spcPts val="0"/>
              </a:spcAft>
              <a:buClr>
                <a:schemeClr val="dk1"/>
              </a:buClr>
              <a:buSzPts val="1800"/>
              <a:buNone/>
            </a:pPr>
            <a:r>
              <a:rPr lang="en-US"/>
              <a:t> -&gt; Chính người dùng thay đổi thông tin, mất tài khoản </a:t>
            </a:r>
            <a:endParaRPr/>
          </a:p>
          <a:p>
            <a:pPr indent="0" lvl="1" marL="457200" rtl="0" algn="just">
              <a:lnSpc>
                <a:spcPct val="130000"/>
              </a:lnSpc>
              <a:spcBef>
                <a:spcPts val="600"/>
              </a:spcBef>
              <a:spcAft>
                <a:spcPts val="0"/>
              </a:spcAft>
              <a:buClr>
                <a:schemeClr val="dk1"/>
              </a:buClr>
              <a:buSzPts val="1800"/>
              <a:buNone/>
            </a:pPr>
            <a:r>
              <a:rPr lang="en-US"/>
              <a:t>   mà người dùng không hay biết</a:t>
            </a:r>
            <a:endParaRPr/>
          </a:p>
        </p:txBody>
      </p:sp>
      <p:pic>
        <p:nvPicPr>
          <p:cNvPr descr="CSRF Attacks: Anatomy, Prevention, and XSRF Tokens | Acunetix" id="281" name="Google Shape;281;p20"/>
          <p:cNvPicPr preferRelativeResize="0"/>
          <p:nvPr/>
        </p:nvPicPr>
        <p:blipFill rotWithShape="1">
          <a:blip r:embed="rId3">
            <a:alphaModFix/>
          </a:blip>
          <a:srcRect b="0" l="0" r="0" t="0"/>
          <a:stretch/>
        </p:blipFill>
        <p:spPr>
          <a:xfrm>
            <a:off x="4663197" y="2488046"/>
            <a:ext cx="6599682" cy="140046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21"/>
          <p:cNvSpPr txBox="1"/>
          <p:nvPr>
            <p:ph type="title"/>
          </p:nvPr>
        </p:nvSpPr>
        <p:spPr>
          <a:xfrm>
            <a:off x="838200" y="365125"/>
            <a:ext cx="10515600" cy="568325"/>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20000"/>
              </a:lnSpc>
              <a:spcBef>
                <a:spcPts val="0"/>
              </a:spcBef>
              <a:spcAft>
                <a:spcPts val="0"/>
              </a:spcAft>
              <a:buClr>
                <a:srgbClr val="00CB8A"/>
              </a:buClr>
              <a:buSzPct val="100000"/>
              <a:buFont typeface="Arial"/>
              <a:buNone/>
            </a:pPr>
            <a:r>
              <a:rPr lang="en-US"/>
              <a:t>Cách tấn công</a:t>
            </a:r>
            <a:endParaRPr/>
          </a:p>
        </p:txBody>
      </p:sp>
      <p:pic>
        <p:nvPicPr>
          <p:cNvPr descr="cross-site-request-forgery-example | Spanning" id="287" name="Google Shape;287;p21"/>
          <p:cNvPicPr preferRelativeResize="0"/>
          <p:nvPr>
            <p:ph idx="1" type="body"/>
          </p:nvPr>
        </p:nvPicPr>
        <p:blipFill rotWithShape="1">
          <a:blip r:embed="rId3">
            <a:alphaModFix/>
          </a:blip>
          <a:srcRect b="0" l="0" r="0" t="0"/>
          <a:stretch/>
        </p:blipFill>
        <p:spPr>
          <a:xfrm>
            <a:off x="3057236" y="1130300"/>
            <a:ext cx="5588000" cy="5087818"/>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22"/>
          <p:cNvSpPr txBox="1"/>
          <p:nvPr>
            <p:ph type="title"/>
          </p:nvPr>
        </p:nvSpPr>
        <p:spPr>
          <a:xfrm>
            <a:off x="838200" y="365125"/>
            <a:ext cx="10515600" cy="568325"/>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20000"/>
              </a:lnSpc>
              <a:spcBef>
                <a:spcPts val="0"/>
              </a:spcBef>
              <a:spcAft>
                <a:spcPts val="0"/>
              </a:spcAft>
              <a:buClr>
                <a:srgbClr val="00CB8A"/>
              </a:buClr>
              <a:buSzPct val="100000"/>
              <a:buFont typeface="Arial"/>
              <a:buNone/>
            </a:pPr>
            <a:r>
              <a:rPr lang="en-US"/>
              <a:t>Nguyên nhân</a:t>
            </a:r>
            <a:endParaRPr/>
          </a:p>
        </p:txBody>
      </p:sp>
      <p:sp>
        <p:nvSpPr>
          <p:cNvPr id="293" name="Google Shape;293;p22"/>
          <p:cNvSpPr txBox="1"/>
          <p:nvPr>
            <p:ph idx="1" type="body"/>
          </p:nvPr>
        </p:nvSpPr>
        <p:spPr>
          <a:xfrm>
            <a:off x="838200" y="1130300"/>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130000"/>
              </a:lnSpc>
              <a:spcBef>
                <a:spcPts val="0"/>
              </a:spcBef>
              <a:spcAft>
                <a:spcPts val="0"/>
              </a:spcAft>
              <a:buClr>
                <a:schemeClr val="dk1"/>
              </a:buClr>
              <a:buSzPts val="2000"/>
              <a:buChar char="•"/>
            </a:pPr>
            <a:r>
              <a:rPr lang="en-US"/>
              <a:t>Chỉ xác thực người dùng bằng cookie mà không có ràng buộc khác với phiên của người dùng. </a:t>
            </a:r>
            <a:endParaRPr/>
          </a:p>
        </p:txBody>
      </p:sp>
      <p:pic>
        <p:nvPicPr>
          <p:cNvPr descr="WSTG - Latest | OWASP" id="294" name="Google Shape;294;p22"/>
          <p:cNvPicPr preferRelativeResize="0"/>
          <p:nvPr/>
        </p:nvPicPr>
        <p:blipFill rotWithShape="1">
          <a:blip r:embed="rId3">
            <a:alphaModFix/>
          </a:blip>
          <a:srcRect b="0" l="0" r="0" t="0"/>
          <a:stretch/>
        </p:blipFill>
        <p:spPr>
          <a:xfrm>
            <a:off x="838200" y="1976582"/>
            <a:ext cx="10439400" cy="415290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23"/>
          <p:cNvSpPr txBox="1"/>
          <p:nvPr>
            <p:ph type="title"/>
          </p:nvPr>
        </p:nvSpPr>
        <p:spPr>
          <a:xfrm>
            <a:off x="838200" y="365125"/>
            <a:ext cx="10515600" cy="568325"/>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20000"/>
              </a:lnSpc>
              <a:spcBef>
                <a:spcPts val="0"/>
              </a:spcBef>
              <a:spcAft>
                <a:spcPts val="0"/>
              </a:spcAft>
              <a:buClr>
                <a:srgbClr val="00CB8A"/>
              </a:buClr>
              <a:buSzPct val="100000"/>
              <a:buFont typeface="Arial"/>
              <a:buNone/>
            </a:pPr>
            <a:r>
              <a:rPr lang="en-US"/>
              <a:t>	Cách phòng chống</a:t>
            </a:r>
            <a:endParaRPr/>
          </a:p>
        </p:txBody>
      </p:sp>
      <p:sp>
        <p:nvSpPr>
          <p:cNvPr id="300" name="Google Shape;300;p23"/>
          <p:cNvSpPr txBox="1"/>
          <p:nvPr>
            <p:ph idx="1" type="body"/>
          </p:nvPr>
        </p:nvSpPr>
        <p:spPr>
          <a:xfrm>
            <a:off x="838200" y="1130300"/>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130000"/>
              </a:lnSpc>
              <a:spcBef>
                <a:spcPts val="0"/>
              </a:spcBef>
              <a:spcAft>
                <a:spcPts val="0"/>
              </a:spcAft>
              <a:buClr>
                <a:schemeClr val="dk1"/>
              </a:buClr>
              <a:buSzPts val="2000"/>
              <a:buChar char="•"/>
            </a:pPr>
            <a:r>
              <a:rPr lang="en-US"/>
              <a:t>Sử dụng CSRF token validation</a:t>
            </a:r>
            <a:endParaRPr/>
          </a:p>
          <a:p>
            <a:pPr indent="0" lvl="0" marL="0" rtl="0" algn="just">
              <a:lnSpc>
                <a:spcPct val="130000"/>
              </a:lnSpc>
              <a:spcBef>
                <a:spcPts val="600"/>
              </a:spcBef>
              <a:spcAft>
                <a:spcPts val="0"/>
              </a:spcAft>
              <a:buClr>
                <a:schemeClr val="dk1"/>
              </a:buClr>
              <a:buSzPts val="2000"/>
              <a:buNone/>
            </a:pPr>
            <a:r>
              <a:t/>
            </a:r>
            <a:endParaRPr/>
          </a:p>
        </p:txBody>
      </p:sp>
      <p:pic>
        <p:nvPicPr>
          <p:cNvPr descr="Django form structure and workflow" id="301" name="Google Shape;301;p23"/>
          <p:cNvPicPr preferRelativeResize="0"/>
          <p:nvPr/>
        </p:nvPicPr>
        <p:blipFill rotWithShape="1">
          <a:blip r:embed="rId3">
            <a:alphaModFix/>
          </a:blip>
          <a:srcRect b="0" l="0" r="0" t="0"/>
          <a:stretch/>
        </p:blipFill>
        <p:spPr>
          <a:xfrm>
            <a:off x="1337541" y="1501198"/>
            <a:ext cx="8286750" cy="454342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24"/>
          <p:cNvSpPr txBox="1"/>
          <p:nvPr>
            <p:ph type="ctrTitle"/>
          </p:nvPr>
        </p:nvSpPr>
        <p:spPr>
          <a:xfrm>
            <a:off x="540577" y="1139349"/>
            <a:ext cx="6000182" cy="896937"/>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4200"/>
              <a:buFont typeface="Arial"/>
              <a:buNone/>
            </a:pPr>
            <a:r>
              <a:rPr lang="en-US"/>
              <a:t>Insecure File Upload</a:t>
            </a:r>
            <a:endParaRPr/>
          </a:p>
        </p:txBody>
      </p:sp>
      <p:pic>
        <p:nvPicPr>
          <p:cNvPr id="307" name="Google Shape;307;p24"/>
          <p:cNvPicPr preferRelativeResize="0"/>
          <p:nvPr/>
        </p:nvPicPr>
        <p:blipFill rotWithShape="1">
          <a:blip r:embed="rId3">
            <a:alphaModFix/>
          </a:blip>
          <a:srcRect b="0" l="0" r="0" t="0"/>
          <a:stretch/>
        </p:blipFill>
        <p:spPr>
          <a:xfrm>
            <a:off x="3734260" y="-8313"/>
            <a:ext cx="4590476" cy="1076190"/>
          </a:xfrm>
          <a:prstGeom prst="rect">
            <a:avLst/>
          </a:prstGeom>
          <a:noFill/>
          <a:ln>
            <a:noFill/>
          </a:ln>
        </p:spPr>
      </p:pic>
      <p:pic>
        <p:nvPicPr>
          <p:cNvPr descr="File Upload - Intigriti" id="308" name="Google Shape;308;p24"/>
          <p:cNvPicPr preferRelativeResize="0"/>
          <p:nvPr/>
        </p:nvPicPr>
        <p:blipFill rotWithShape="1">
          <a:blip r:embed="rId4">
            <a:alphaModFix/>
          </a:blip>
          <a:srcRect b="0" l="0" r="0" t="0"/>
          <a:stretch/>
        </p:blipFill>
        <p:spPr>
          <a:xfrm>
            <a:off x="2690651" y="2144067"/>
            <a:ext cx="7373095" cy="434087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25"/>
          <p:cNvSpPr txBox="1"/>
          <p:nvPr>
            <p:ph type="title"/>
          </p:nvPr>
        </p:nvSpPr>
        <p:spPr>
          <a:xfrm>
            <a:off x="838200" y="365125"/>
            <a:ext cx="10515600" cy="568325"/>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20000"/>
              </a:lnSpc>
              <a:spcBef>
                <a:spcPts val="0"/>
              </a:spcBef>
              <a:spcAft>
                <a:spcPts val="0"/>
              </a:spcAft>
              <a:buClr>
                <a:srgbClr val="00CB8A"/>
              </a:buClr>
              <a:buSzPct val="100000"/>
              <a:buFont typeface="Arial"/>
              <a:buNone/>
            </a:pPr>
            <a:r>
              <a:rPr lang="en-US"/>
              <a:t>Insecure File Upload</a:t>
            </a:r>
            <a:endParaRPr/>
          </a:p>
        </p:txBody>
      </p:sp>
      <p:sp>
        <p:nvSpPr>
          <p:cNvPr id="314" name="Google Shape;314;p25"/>
          <p:cNvSpPr txBox="1"/>
          <p:nvPr>
            <p:ph idx="1" type="body"/>
          </p:nvPr>
        </p:nvSpPr>
        <p:spPr>
          <a:xfrm>
            <a:off x="838200" y="1130300"/>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130000"/>
              </a:lnSpc>
              <a:spcBef>
                <a:spcPts val="0"/>
              </a:spcBef>
              <a:spcAft>
                <a:spcPts val="0"/>
              </a:spcAft>
              <a:buClr>
                <a:schemeClr val="dk1"/>
              </a:buClr>
              <a:buSzPts val="2000"/>
              <a:buChar char="•"/>
            </a:pPr>
            <a:r>
              <a:rPr lang="en-US"/>
              <a:t>Insecure File Upload là việc cho phép upload các file không hợp lệ, độc hại lên phía server .</a:t>
            </a:r>
            <a:endParaRPr/>
          </a:p>
          <a:p>
            <a:pPr indent="-228600" lvl="0" marL="228600" rtl="0" algn="just">
              <a:lnSpc>
                <a:spcPct val="130000"/>
              </a:lnSpc>
              <a:spcBef>
                <a:spcPts val="600"/>
              </a:spcBef>
              <a:spcAft>
                <a:spcPts val="0"/>
              </a:spcAft>
              <a:buClr>
                <a:schemeClr val="dk1"/>
              </a:buClr>
              <a:buSzPts val="2000"/>
              <a:buChar char="•"/>
            </a:pPr>
            <a:r>
              <a:rPr lang="en-US"/>
              <a:t>Mức độ nguy hiểm : High, Critical</a:t>
            </a:r>
            <a:endParaRPr/>
          </a:p>
          <a:p>
            <a:pPr indent="-228600" lvl="0" marL="228600" rtl="0" algn="just">
              <a:lnSpc>
                <a:spcPct val="130000"/>
              </a:lnSpc>
              <a:spcBef>
                <a:spcPts val="600"/>
              </a:spcBef>
              <a:spcAft>
                <a:spcPts val="0"/>
              </a:spcAft>
              <a:buClr>
                <a:schemeClr val="dk1"/>
              </a:buClr>
              <a:buSzPts val="2000"/>
              <a:buChar char="•"/>
            </a:pPr>
            <a:r>
              <a:rPr lang="en-US"/>
              <a:t>Mục tiêu:</a:t>
            </a:r>
            <a:endParaRPr/>
          </a:p>
          <a:p>
            <a:pPr indent="-228600" lvl="1" marL="685800" rtl="0" algn="just">
              <a:lnSpc>
                <a:spcPct val="130000"/>
              </a:lnSpc>
              <a:spcBef>
                <a:spcPts val="600"/>
              </a:spcBef>
              <a:spcAft>
                <a:spcPts val="0"/>
              </a:spcAft>
              <a:buClr>
                <a:schemeClr val="dk1"/>
              </a:buClr>
              <a:buSzPts val="1800"/>
              <a:buChar char="•"/>
            </a:pPr>
            <a:r>
              <a:rPr lang="en-US"/>
              <a:t>Upload shell, exe,sh … .</a:t>
            </a:r>
            <a:endParaRPr/>
          </a:p>
          <a:p>
            <a:pPr indent="0" lvl="1" marL="457200" rtl="0" algn="just">
              <a:lnSpc>
                <a:spcPct val="130000"/>
              </a:lnSpc>
              <a:spcBef>
                <a:spcPts val="600"/>
              </a:spcBef>
              <a:spcAft>
                <a:spcPts val="0"/>
              </a:spcAft>
              <a:buClr>
                <a:schemeClr val="dk1"/>
              </a:buClr>
              <a:buSzPts val="1800"/>
              <a:buNone/>
            </a:pPr>
            <a:r>
              <a:rPr lang="en-US"/>
              <a:t>-&gt; Phát tán với nguồn tin cậy,</a:t>
            </a:r>
            <a:endParaRPr/>
          </a:p>
          <a:p>
            <a:pPr indent="0" lvl="1" marL="457200" rtl="0" algn="just">
              <a:lnSpc>
                <a:spcPct val="130000"/>
              </a:lnSpc>
              <a:spcBef>
                <a:spcPts val="600"/>
              </a:spcBef>
              <a:spcAft>
                <a:spcPts val="0"/>
              </a:spcAft>
              <a:buClr>
                <a:schemeClr val="dk1"/>
              </a:buClr>
              <a:buSzPts val="1800"/>
              <a:buNone/>
            </a:pPr>
            <a:r>
              <a:rPr lang="en-US"/>
              <a:t>Chiếm quyền điều khiển máy chủ</a:t>
            </a:r>
            <a:endParaRPr/>
          </a:p>
        </p:txBody>
      </p:sp>
      <p:pic>
        <p:nvPicPr>
          <p:cNvPr descr="Comprehensive Guide on Unrestricted File Upload" id="315" name="Google Shape;315;p25"/>
          <p:cNvPicPr preferRelativeResize="0"/>
          <p:nvPr/>
        </p:nvPicPr>
        <p:blipFill rotWithShape="1">
          <a:blip r:embed="rId3">
            <a:alphaModFix/>
          </a:blip>
          <a:srcRect b="0" l="0" r="0" t="0"/>
          <a:stretch/>
        </p:blipFill>
        <p:spPr>
          <a:xfrm>
            <a:off x="5355648" y="2673638"/>
            <a:ext cx="5295900" cy="20383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26"/>
          <p:cNvSpPr txBox="1"/>
          <p:nvPr>
            <p:ph type="title"/>
          </p:nvPr>
        </p:nvSpPr>
        <p:spPr>
          <a:xfrm>
            <a:off x="838200" y="365125"/>
            <a:ext cx="10515600" cy="568325"/>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20000"/>
              </a:lnSpc>
              <a:spcBef>
                <a:spcPts val="0"/>
              </a:spcBef>
              <a:spcAft>
                <a:spcPts val="0"/>
              </a:spcAft>
              <a:buClr>
                <a:srgbClr val="00CB8A"/>
              </a:buClr>
              <a:buSzPct val="100000"/>
              <a:buFont typeface="Arial"/>
              <a:buNone/>
            </a:pPr>
            <a:r>
              <a:rPr lang="en-US"/>
              <a:t>Cách tấn công</a:t>
            </a:r>
            <a:endParaRPr/>
          </a:p>
        </p:txBody>
      </p:sp>
      <p:sp>
        <p:nvSpPr>
          <p:cNvPr id="321" name="Google Shape;321;p26"/>
          <p:cNvSpPr txBox="1"/>
          <p:nvPr>
            <p:ph idx="1" type="body"/>
          </p:nvPr>
        </p:nvSpPr>
        <p:spPr>
          <a:xfrm>
            <a:off x="838200" y="1130300"/>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130000"/>
              </a:lnSpc>
              <a:spcBef>
                <a:spcPts val="0"/>
              </a:spcBef>
              <a:spcAft>
                <a:spcPts val="0"/>
              </a:spcAft>
              <a:buClr>
                <a:schemeClr val="dk1"/>
              </a:buClr>
              <a:buSzPts val="2000"/>
              <a:buChar char="•"/>
            </a:pPr>
            <a:r>
              <a:rPr lang="en-US"/>
              <a:t>Thực hiện upload bằng chức năng upload của ứng dụng. Hacker sẽ cố gắng upload các file độc hại lên server. </a:t>
            </a:r>
            <a:endParaRPr/>
          </a:p>
          <a:p>
            <a:pPr indent="-228600" lvl="0" marL="228600" rtl="0" algn="just">
              <a:lnSpc>
                <a:spcPct val="130000"/>
              </a:lnSpc>
              <a:spcBef>
                <a:spcPts val="600"/>
              </a:spcBef>
              <a:spcAft>
                <a:spcPts val="0"/>
              </a:spcAft>
              <a:buClr>
                <a:schemeClr val="dk1"/>
              </a:buClr>
              <a:buSzPts val="2000"/>
              <a:buChar char="•"/>
            </a:pPr>
            <a:r>
              <a:rPr lang="en-US"/>
              <a:t>Trong trương hợp bị chặn thì hacker sẽ tìm cách bypass để file được lưu trên server phải theo định dạng mong muốn.</a:t>
            </a:r>
            <a:endParaRPr/>
          </a:p>
        </p:txBody>
      </p:sp>
      <p:pic>
        <p:nvPicPr>
          <p:cNvPr descr="Future Internet | Free Full-Text | Mitigating Webshell Attacks through  Machine Learning Techniques | HTML" id="322" name="Google Shape;322;p26"/>
          <p:cNvPicPr preferRelativeResize="0"/>
          <p:nvPr/>
        </p:nvPicPr>
        <p:blipFill rotWithShape="1">
          <a:blip r:embed="rId3">
            <a:alphaModFix/>
          </a:blip>
          <a:srcRect b="0" l="0" r="0" t="0"/>
          <a:stretch/>
        </p:blipFill>
        <p:spPr>
          <a:xfrm>
            <a:off x="2932594" y="3074013"/>
            <a:ext cx="5703405" cy="314205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27"/>
          <p:cNvSpPr txBox="1"/>
          <p:nvPr>
            <p:ph type="title"/>
          </p:nvPr>
        </p:nvSpPr>
        <p:spPr>
          <a:xfrm>
            <a:off x="838200" y="365125"/>
            <a:ext cx="10515600" cy="568325"/>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20000"/>
              </a:lnSpc>
              <a:spcBef>
                <a:spcPts val="0"/>
              </a:spcBef>
              <a:spcAft>
                <a:spcPts val="0"/>
              </a:spcAft>
              <a:buClr>
                <a:srgbClr val="00CB8A"/>
              </a:buClr>
              <a:buSzPct val="100000"/>
              <a:buFont typeface="Arial"/>
              <a:buNone/>
            </a:pPr>
            <a:r>
              <a:rPr lang="en-US"/>
              <a:t>Cách phòng chống</a:t>
            </a:r>
            <a:endParaRPr/>
          </a:p>
        </p:txBody>
      </p:sp>
      <p:sp>
        <p:nvSpPr>
          <p:cNvPr id="328" name="Google Shape;328;p27"/>
          <p:cNvSpPr txBox="1"/>
          <p:nvPr>
            <p:ph idx="1" type="body"/>
          </p:nvPr>
        </p:nvSpPr>
        <p:spPr>
          <a:xfrm>
            <a:off x="838200" y="1130300"/>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130000"/>
              </a:lnSpc>
              <a:spcBef>
                <a:spcPts val="0"/>
              </a:spcBef>
              <a:spcAft>
                <a:spcPts val="0"/>
              </a:spcAft>
              <a:buClr>
                <a:schemeClr val="dk1"/>
              </a:buClr>
              <a:buSzPts val="2000"/>
              <a:buChar char="•"/>
            </a:pPr>
            <a:r>
              <a:rPr lang="en-US"/>
              <a:t>Xây dựng tính năng upload file an toàn</a:t>
            </a:r>
            <a:endParaRPr/>
          </a:p>
          <a:p>
            <a:pPr indent="-228600" lvl="1" marL="685800" rtl="0" algn="just">
              <a:lnSpc>
                <a:spcPct val="130000"/>
              </a:lnSpc>
              <a:spcBef>
                <a:spcPts val="600"/>
              </a:spcBef>
              <a:spcAft>
                <a:spcPts val="0"/>
              </a:spcAft>
              <a:buClr>
                <a:schemeClr val="dk1"/>
              </a:buClr>
              <a:buSzPts val="1800"/>
              <a:buChar char="•"/>
            </a:pPr>
            <a:r>
              <a:rPr lang="en-US"/>
              <a:t>Kiểm tra đuôi file (extention) hợp lệ</a:t>
            </a:r>
            <a:endParaRPr/>
          </a:p>
          <a:p>
            <a:pPr indent="-228600" lvl="1" marL="685800" rtl="0" algn="just">
              <a:lnSpc>
                <a:spcPct val="130000"/>
              </a:lnSpc>
              <a:spcBef>
                <a:spcPts val="600"/>
              </a:spcBef>
              <a:spcAft>
                <a:spcPts val="0"/>
              </a:spcAft>
              <a:buClr>
                <a:schemeClr val="dk1"/>
              </a:buClr>
              <a:buSzPts val="1800"/>
              <a:buChar char="•"/>
            </a:pPr>
            <a:r>
              <a:rPr lang="en-US"/>
              <a:t>Kiểm tra file signatures</a:t>
            </a:r>
            <a:endParaRPr/>
          </a:p>
          <a:p>
            <a:pPr indent="-228600" lvl="1" marL="685800" rtl="0" algn="just">
              <a:lnSpc>
                <a:spcPct val="130000"/>
              </a:lnSpc>
              <a:spcBef>
                <a:spcPts val="600"/>
              </a:spcBef>
              <a:spcAft>
                <a:spcPts val="0"/>
              </a:spcAft>
              <a:buClr>
                <a:schemeClr val="dk1"/>
              </a:buClr>
              <a:buSzPts val="1800"/>
              <a:buChar char="•"/>
            </a:pPr>
            <a:r>
              <a:rPr lang="en-US"/>
              <a:t>Kiểm tra file content</a:t>
            </a:r>
            <a:endParaRPr/>
          </a:p>
          <a:p>
            <a:pPr indent="-114300" lvl="1" marL="685800" rtl="0" algn="just">
              <a:lnSpc>
                <a:spcPct val="130000"/>
              </a:lnSpc>
              <a:spcBef>
                <a:spcPts val="600"/>
              </a:spcBef>
              <a:spcAft>
                <a:spcPts val="0"/>
              </a:spcAft>
              <a:buClr>
                <a:schemeClr val="dk1"/>
              </a:buClr>
              <a:buSzPts val="1800"/>
              <a:buNone/>
            </a:pPr>
            <a:r>
              <a:t/>
            </a:r>
            <a:endParaRPr/>
          </a:p>
          <a:p>
            <a:pPr indent="0" lvl="1" marL="457200" rtl="0" algn="just">
              <a:lnSpc>
                <a:spcPct val="130000"/>
              </a:lnSpc>
              <a:spcBef>
                <a:spcPts val="600"/>
              </a:spcBef>
              <a:spcAft>
                <a:spcPts val="0"/>
              </a:spcAft>
              <a:buClr>
                <a:schemeClr val="dk1"/>
              </a:buClr>
              <a:buSzPts val="1800"/>
              <a:buNone/>
            </a:pPr>
            <a:r>
              <a:t/>
            </a:r>
            <a:endParaRPr/>
          </a:p>
          <a:p>
            <a:pPr indent="-228600" lvl="0" marL="228600" rtl="0" algn="just">
              <a:lnSpc>
                <a:spcPct val="130000"/>
              </a:lnSpc>
              <a:spcBef>
                <a:spcPts val="600"/>
              </a:spcBef>
              <a:spcAft>
                <a:spcPts val="0"/>
              </a:spcAft>
              <a:buClr>
                <a:schemeClr val="dk1"/>
              </a:buClr>
              <a:buSzPts val="2000"/>
              <a:buChar char="•"/>
            </a:pPr>
            <a:r>
              <a:rPr lang="en-US"/>
              <a:t>File upload lên phải được đổi tên khác</a:t>
            </a:r>
            <a:endParaRPr/>
          </a:p>
          <a:p>
            <a:pPr indent="-228600" lvl="0" marL="228600" rtl="0" algn="just">
              <a:lnSpc>
                <a:spcPct val="130000"/>
              </a:lnSpc>
              <a:spcBef>
                <a:spcPts val="600"/>
              </a:spcBef>
              <a:spcAft>
                <a:spcPts val="0"/>
              </a:spcAft>
              <a:buClr>
                <a:schemeClr val="dk1"/>
              </a:buClr>
              <a:buSzPts val="2000"/>
              <a:buChar char="•"/>
            </a:pPr>
            <a:r>
              <a:rPr lang="en-US"/>
              <a:t>File upload lên phải được lưu trong thư</a:t>
            </a:r>
            <a:endParaRPr/>
          </a:p>
          <a:p>
            <a:pPr indent="0" lvl="0" marL="0" rtl="0" algn="just">
              <a:lnSpc>
                <a:spcPct val="130000"/>
              </a:lnSpc>
              <a:spcBef>
                <a:spcPts val="600"/>
              </a:spcBef>
              <a:spcAft>
                <a:spcPts val="0"/>
              </a:spcAft>
              <a:buClr>
                <a:schemeClr val="dk1"/>
              </a:buClr>
              <a:buSzPts val="2000"/>
              <a:buNone/>
            </a:pPr>
            <a:r>
              <a:rPr lang="en-US"/>
              <a:t>    mục không có quyền thực thi</a:t>
            </a:r>
            <a:endParaRPr/>
          </a:p>
        </p:txBody>
      </p:sp>
      <p:pic>
        <p:nvPicPr>
          <p:cNvPr descr="List of Filename Extension and Signature to be utilized | Download Table" id="329" name="Google Shape;329;p27"/>
          <p:cNvPicPr preferRelativeResize="0"/>
          <p:nvPr/>
        </p:nvPicPr>
        <p:blipFill rotWithShape="1">
          <a:blip r:embed="rId3">
            <a:alphaModFix/>
          </a:blip>
          <a:srcRect b="0" l="0" r="0" t="0"/>
          <a:stretch/>
        </p:blipFill>
        <p:spPr>
          <a:xfrm>
            <a:off x="6982691" y="1210685"/>
            <a:ext cx="4102276" cy="2400733"/>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28"/>
          <p:cNvSpPr txBox="1"/>
          <p:nvPr>
            <p:ph type="ctrTitle"/>
          </p:nvPr>
        </p:nvSpPr>
        <p:spPr>
          <a:xfrm>
            <a:off x="192085" y="1067877"/>
            <a:ext cx="5837413" cy="896937"/>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lt1"/>
              </a:buClr>
              <a:buSzPct val="100000"/>
              <a:buFont typeface="Arial"/>
              <a:buNone/>
            </a:pPr>
            <a:r>
              <a:rPr lang="en-US"/>
              <a:t>Broken Access Control</a:t>
            </a:r>
            <a:endParaRPr/>
          </a:p>
        </p:txBody>
      </p:sp>
      <p:pic>
        <p:nvPicPr>
          <p:cNvPr id="335" name="Google Shape;335;p28"/>
          <p:cNvPicPr preferRelativeResize="0"/>
          <p:nvPr/>
        </p:nvPicPr>
        <p:blipFill rotWithShape="1">
          <a:blip r:embed="rId3">
            <a:alphaModFix/>
          </a:blip>
          <a:srcRect b="0" l="0" r="0" t="0"/>
          <a:stretch/>
        </p:blipFill>
        <p:spPr>
          <a:xfrm>
            <a:off x="3734260" y="-8313"/>
            <a:ext cx="4590476" cy="1076190"/>
          </a:xfrm>
          <a:prstGeom prst="rect">
            <a:avLst/>
          </a:prstGeom>
          <a:noFill/>
          <a:ln>
            <a:noFill/>
          </a:ln>
        </p:spPr>
      </p:pic>
      <p:pic>
        <p:nvPicPr>
          <p:cNvPr descr="OWASP Top 10: #5 Broken Access Control and #6 Security Misconfiguration  Online Class | LinkedIn Learning, formerly Lynda.com" id="336" name="Google Shape;336;p28"/>
          <p:cNvPicPr preferRelativeResize="0"/>
          <p:nvPr/>
        </p:nvPicPr>
        <p:blipFill rotWithShape="1">
          <a:blip r:embed="rId4">
            <a:alphaModFix/>
          </a:blip>
          <a:srcRect b="0" l="0" r="0" t="0"/>
          <a:stretch/>
        </p:blipFill>
        <p:spPr>
          <a:xfrm>
            <a:off x="2391852" y="2144067"/>
            <a:ext cx="7246670" cy="4342618"/>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29"/>
          <p:cNvSpPr txBox="1"/>
          <p:nvPr>
            <p:ph type="title"/>
          </p:nvPr>
        </p:nvSpPr>
        <p:spPr>
          <a:xfrm>
            <a:off x="838200" y="365125"/>
            <a:ext cx="10515600" cy="568325"/>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20000"/>
              </a:lnSpc>
              <a:spcBef>
                <a:spcPts val="0"/>
              </a:spcBef>
              <a:spcAft>
                <a:spcPts val="0"/>
              </a:spcAft>
              <a:buClr>
                <a:srgbClr val="00CB8A"/>
              </a:buClr>
              <a:buSzPct val="100000"/>
              <a:buFont typeface="Arial"/>
              <a:buNone/>
            </a:pPr>
            <a:r>
              <a:rPr lang="en-US"/>
              <a:t>Broken Access Control</a:t>
            </a:r>
            <a:endParaRPr/>
          </a:p>
        </p:txBody>
      </p:sp>
      <p:sp>
        <p:nvSpPr>
          <p:cNvPr id="342" name="Google Shape;342;p29"/>
          <p:cNvSpPr txBox="1"/>
          <p:nvPr>
            <p:ph idx="1" type="body"/>
          </p:nvPr>
        </p:nvSpPr>
        <p:spPr>
          <a:xfrm>
            <a:off x="838200" y="1130300"/>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130000"/>
              </a:lnSpc>
              <a:spcBef>
                <a:spcPts val="0"/>
              </a:spcBef>
              <a:spcAft>
                <a:spcPts val="0"/>
              </a:spcAft>
              <a:buClr>
                <a:schemeClr val="dk1"/>
              </a:buClr>
              <a:buSzPts val="2000"/>
              <a:buChar char="•"/>
            </a:pPr>
            <a:r>
              <a:rPr lang="en-US"/>
              <a:t>Access Control chứa lỗ hổng cho phép kẻ tấn công bỏ qua ủy quyền (authorization) và thực hiện các tác vụ như thể là người dùng có đặc quyền, chẳng hạn như quản trị viên (admin) hay truy cập vào nội dung không được phép của bất kì user khác.</a:t>
            </a:r>
            <a:endParaRPr/>
          </a:p>
          <a:p>
            <a:pPr indent="-228600" lvl="0" marL="228600" rtl="0" algn="just">
              <a:lnSpc>
                <a:spcPct val="130000"/>
              </a:lnSpc>
              <a:spcBef>
                <a:spcPts val="600"/>
              </a:spcBef>
              <a:spcAft>
                <a:spcPts val="0"/>
              </a:spcAft>
              <a:buClr>
                <a:schemeClr val="dk1"/>
              </a:buClr>
              <a:buSzPts val="2000"/>
              <a:buChar char="•"/>
            </a:pPr>
            <a:r>
              <a:rPr lang="en-US"/>
              <a:t>Mức độ : High, Critical</a:t>
            </a:r>
            <a:endParaRPr/>
          </a:p>
          <a:p>
            <a:pPr indent="-228600" lvl="0" marL="228600" rtl="0" algn="just">
              <a:lnSpc>
                <a:spcPct val="130000"/>
              </a:lnSpc>
              <a:spcBef>
                <a:spcPts val="600"/>
              </a:spcBef>
              <a:spcAft>
                <a:spcPts val="0"/>
              </a:spcAft>
              <a:buClr>
                <a:schemeClr val="dk1"/>
              </a:buClr>
              <a:buSzPts val="2000"/>
              <a:buChar char="•"/>
            </a:pPr>
            <a:r>
              <a:rPr lang="en-US"/>
              <a:t>Tác động :</a:t>
            </a:r>
            <a:endParaRPr/>
          </a:p>
          <a:p>
            <a:pPr indent="-228600" lvl="1" marL="685800" rtl="0" algn="just">
              <a:lnSpc>
                <a:spcPct val="130000"/>
              </a:lnSpc>
              <a:spcBef>
                <a:spcPts val="600"/>
              </a:spcBef>
              <a:spcAft>
                <a:spcPts val="0"/>
              </a:spcAft>
              <a:buClr>
                <a:schemeClr val="dk1"/>
              </a:buClr>
              <a:buSzPts val="1800"/>
              <a:buChar char="•"/>
            </a:pPr>
            <a:r>
              <a:rPr lang="en-US"/>
              <a:t>Thực thi chức năng không được phép</a:t>
            </a:r>
            <a:endParaRPr/>
          </a:p>
          <a:p>
            <a:pPr indent="-228600" lvl="1" marL="685800" rtl="0" algn="just">
              <a:lnSpc>
                <a:spcPct val="130000"/>
              </a:lnSpc>
              <a:spcBef>
                <a:spcPts val="600"/>
              </a:spcBef>
              <a:spcAft>
                <a:spcPts val="0"/>
              </a:spcAft>
              <a:buClr>
                <a:schemeClr val="dk1"/>
              </a:buClr>
              <a:buSzPts val="1800"/>
              <a:buChar char="•"/>
            </a:pPr>
            <a:r>
              <a:rPr lang="en-US"/>
              <a:t>Đọc nội dung không được phép</a:t>
            </a:r>
            <a:endParaRPr/>
          </a:p>
          <a:p>
            <a:pPr indent="-228600" lvl="1" marL="685800" rtl="0" algn="just">
              <a:lnSpc>
                <a:spcPct val="130000"/>
              </a:lnSpc>
              <a:spcBef>
                <a:spcPts val="600"/>
              </a:spcBef>
              <a:spcAft>
                <a:spcPts val="0"/>
              </a:spcAft>
              <a:buClr>
                <a:schemeClr val="dk1"/>
              </a:buClr>
              <a:buSzPts val="1800"/>
              <a:buChar char="•"/>
            </a:pPr>
            <a:r>
              <a:rPr lang="en-US"/>
              <a:t>Leo thang đặc quyền</a:t>
            </a:r>
            <a:endParaRPr/>
          </a:p>
        </p:txBody>
      </p:sp>
      <p:pic>
        <p:nvPicPr>
          <p:cNvPr id="343" name="Google Shape;343;p29"/>
          <p:cNvPicPr preferRelativeResize="0"/>
          <p:nvPr/>
        </p:nvPicPr>
        <p:blipFill rotWithShape="1">
          <a:blip r:embed="rId3">
            <a:alphaModFix/>
          </a:blip>
          <a:srcRect b="0" l="0" r="0" t="0"/>
          <a:stretch/>
        </p:blipFill>
        <p:spPr>
          <a:xfrm>
            <a:off x="6645475" y="3305969"/>
            <a:ext cx="4939234" cy="2759797"/>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30"/>
          <p:cNvSpPr txBox="1"/>
          <p:nvPr>
            <p:ph type="title"/>
          </p:nvPr>
        </p:nvSpPr>
        <p:spPr>
          <a:xfrm>
            <a:off x="838200" y="365125"/>
            <a:ext cx="10515600" cy="568325"/>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20000"/>
              </a:lnSpc>
              <a:spcBef>
                <a:spcPts val="0"/>
              </a:spcBef>
              <a:spcAft>
                <a:spcPts val="0"/>
              </a:spcAft>
              <a:buClr>
                <a:srgbClr val="00CB8A"/>
              </a:buClr>
              <a:buSzPct val="100000"/>
              <a:buFont typeface="Arial"/>
              <a:buNone/>
            </a:pPr>
            <a:r>
              <a:rPr lang="en-US"/>
              <a:t>Cách tấn công</a:t>
            </a:r>
            <a:endParaRPr/>
          </a:p>
        </p:txBody>
      </p:sp>
      <p:sp>
        <p:nvSpPr>
          <p:cNvPr id="350" name="Google Shape;350;p30"/>
          <p:cNvSpPr txBox="1"/>
          <p:nvPr>
            <p:ph idx="1" type="body"/>
          </p:nvPr>
        </p:nvSpPr>
        <p:spPr>
          <a:xfrm>
            <a:off x="838200" y="1130300"/>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130000"/>
              </a:lnSpc>
              <a:spcBef>
                <a:spcPts val="0"/>
              </a:spcBef>
              <a:spcAft>
                <a:spcPts val="0"/>
              </a:spcAft>
              <a:buClr>
                <a:schemeClr val="dk1"/>
              </a:buClr>
              <a:buSzPts val="2000"/>
              <a:buChar char="•"/>
            </a:pPr>
            <a:r>
              <a:rPr lang="en-US"/>
              <a:t>Broken Object level Authorization</a:t>
            </a:r>
            <a:endParaRPr/>
          </a:p>
          <a:p>
            <a:pPr indent="-101600" lvl="0" marL="228600" rtl="0" algn="just">
              <a:lnSpc>
                <a:spcPct val="130000"/>
              </a:lnSpc>
              <a:spcBef>
                <a:spcPts val="600"/>
              </a:spcBef>
              <a:spcAft>
                <a:spcPts val="0"/>
              </a:spcAft>
              <a:buClr>
                <a:schemeClr val="dk1"/>
              </a:buClr>
              <a:buSzPts val="2000"/>
              <a:buNone/>
            </a:pPr>
            <a:r>
              <a:t/>
            </a:r>
            <a:endParaRPr/>
          </a:p>
          <a:p>
            <a:pPr indent="0" lvl="0" marL="0" rtl="0" algn="just">
              <a:lnSpc>
                <a:spcPct val="130000"/>
              </a:lnSpc>
              <a:spcBef>
                <a:spcPts val="600"/>
              </a:spcBef>
              <a:spcAft>
                <a:spcPts val="0"/>
              </a:spcAft>
              <a:buClr>
                <a:schemeClr val="dk1"/>
              </a:buClr>
              <a:buSzPts val="2000"/>
              <a:buNone/>
            </a:pPr>
            <a:r>
              <a:t/>
            </a:r>
            <a:endParaRPr/>
          </a:p>
          <a:p>
            <a:pPr indent="0" lvl="0" marL="0" rtl="0" algn="just">
              <a:lnSpc>
                <a:spcPct val="130000"/>
              </a:lnSpc>
              <a:spcBef>
                <a:spcPts val="600"/>
              </a:spcBef>
              <a:spcAft>
                <a:spcPts val="0"/>
              </a:spcAft>
              <a:buClr>
                <a:schemeClr val="dk1"/>
              </a:buClr>
              <a:buSzPts val="2000"/>
              <a:buNone/>
            </a:pPr>
            <a:r>
              <a:t/>
            </a:r>
            <a:endParaRPr/>
          </a:p>
          <a:p>
            <a:pPr indent="-228600" lvl="0" marL="228600" rtl="0" algn="just">
              <a:lnSpc>
                <a:spcPct val="130000"/>
              </a:lnSpc>
              <a:spcBef>
                <a:spcPts val="600"/>
              </a:spcBef>
              <a:spcAft>
                <a:spcPts val="0"/>
              </a:spcAft>
              <a:buClr>
                <a:schemeClr val="dk1"/>
              </a:buClr>
              <a:buSzPts val="2000"/>
              <a:buChar char="•"/>
            </a:pPr>
            <a:r>
              <a:rPr lang="en-US"/>
              <a:t>Broken Function level Authorization</a:t>
            </a:r>
            <a:endParaRPr/>
          </a:p>
          <a:p>
            <a:pPr indent="-101600" lvl="0" marL="228600" rtl="0" algn="just">
              <a:lnSpc>
                <a:spcPct val="130000"/>
              </a:lnSpc>
              <a:spcBef>
                <a:spcPts val="600"/>
              </a:spcBef>
              <a:spcAft>
                <a:spcPts val="0"/>
              </a:spcAft>
              <a:buClr>
                <a:schemeClr val="dk1"/>
              </a:buClr>
              <a:buSzPts val="2000"/>
              <a:buNone/>
            </a:pPr>
            <a:r>
              <a:t/>
            </a:r>
            <a:endParaRPr/>
          </a:p>
          <a:p>
            <a:pPr indent="0" lvl="0" marL="0" rtl="0" algn="just">
              <a:lnSpc>
                <a:spcPct val="130000"/>
              </a:lnSpc>
              <a:spcBef>
                <a:spcPts val="600"/>
              </a:spcBef>
              <a:spcAft>
                <a:spcPts val="0"/>
              </a:spcAft>
              <a:buClr>
                <a:schemeClr val="dk1"/>
              </a:buClr>
              <a:buSzPts val="2000"/>
              <a:buNone/>
            </a:pPr>
            <a:r>
              <a:t/>
            </a:r>
            <a:endParaRPr/>
          </a:p>
          <a:p>
            <a:pPr indent="0" lvl="0" marL="0" rtl="0" algn="just">
              <a:lnSpc>
                <a:spcPct val="130000"/>
              </a:lnSpc>
              <a:spcBef>
                <a:spcPts val="600"/>
              </a:spcBef>
              <a:spcAft>
                <a:spcPts val="0"/>
              </a:spcAft>
              <a:buClr>
                <a:schemeClr val="dk1"/>
              </a:buClr>
              <a:buSzPts val="2000"/>
              <a:buNone/>
            </a:pPr>
            <a:r>
              <a:t/>
            </a:r>
            <a:endParaRPr/>
          </a:p>
          <a:p>
            <a:pPr indent="-228600" lvl="0" marL="228600" rtl="0" algn="just">
              <a:lnSpc>
                <a:spcPct val="130000"/>
              </a:lnSpc>
              <a:spcBef>
                <a:spcPts val="600"/>
              </a:spcBef>
              <a:spcAft>
                <a:spcPts val="0"/>
              </a:spcAft>
              <a:buClr>
                <a:schemeClr val="dk1"/>
              </a:buClr>
              <a:buSzPts val="2000"/>
              <a:buChar char="•"/>
            </a:pPr>
            <a:r>
              <a:rPr lang="en-US"/>
              <a:t>Lack of Authorization</a:t>
            </a:r>
            <a:endParaRPr/>
          </a:p>
          <a:p>
            <a:pPr indent="-101600" lvl="0" marL="228600" rtl="0" algn="just">
              <a:lnSpc>
                <a:spcPct val="130000"/>
              </a:lnSpc>
              <a:spcBef>
                <a:spcPts val="600"/>
              </a:spcBef>
              <a:spcAft>
                <a:spcPts val="0"/>
              </a:spcAft>
              <a:buClr>
                <a:schemeClr val="dk1"/>
              </a:buClr>
              <a:buSzPts val="2000"/>
              <a:buNone/>
            </a:pPr>
            <a:r>
              <a:t/>
            </a:r>
            <a:endParaRPr/>
          </a:p>
        </p:txBody>
      </p:sp>
      <p:pic>
        <p:nvPicPr>
          <p:cNvPr descr="OWASP Broken access control attack ~ The Cybersploit" id="351" name="Google Shape;351;p30"/>
          <p:cNvPicPr preferRelativeResize="0"/>
          <p:nvPr/>
        </p:nvPicPr>
        <p:blipFill rotWithShape="1">
          <a:blip r:embed="rId3">
            <a:alphaModFix/>
          </a:blip>
          <a:srcRect b="0" l="0" r="0" t="0"/>
          <a:stretch/>
        </p:blipFill>
        <p:spPr>
          <a:xfrm>
            <a:off x="5465764" y="1271358"/>
            <a:ext cx="5109151" cy="1393801"/>
          </a:xfrm>
          <a:prstGeom prst="rect">
            <a:avLst/>
          </a:prstGeom>
          <a:noFill/>
          <a:ln>
            <a:noFill/>
          </a:ln>
        </p:spPr>
      </p:pic>
      <p:pic>
        <p:nvPicPr>
          <p:cNvPr descr="Checkmarx meetup API Security - API Security top 10 - Erez Yalon" id="352" name="Google Shape;352;p30"/>
          <p:cNvPicPr preferRelativeResize="0"/>
          <p:nvPr/>
        </p:nvPicPr>
        <p:blipFill rotWithShape="1">
          <a:blip r:embed="rId4">
            <a:alphaModFix/>
          </a:blip>
          <a:srcRect b="7556" l="0" r="0" t="20926"/>
          <a:stretch/>
        </p:blipFill>
        <p:spPr>
          <a:xfrm>
            <a:off x="5845897" y="2965676"/>
            <a:ext cx="4729018" cy="1784701"/>
          </a:xfrm>
          <a:prstGeom prst="rect">
            <a:avLst/>
          </a:prstGeom>
          <a:noFill/>
          <a:ln>
            <a:noFill/>
          </a:ln>
        </p:spPr>
      </p:pic>
      <p:pic>
        <p:nvPicPr>
          <p:cNvPr descr="The Authorization header is missing - Stack Overflow" id="353" name="Google Shape;353;p30"/>
          <p:cNvPicPr preferRelativeResize="0"/>
          <p:nvPr/>
        </p:nvPicPr>
        <p:blipFill rotWithShape="1">
          <a:blip r:embed="rId5">
            <a:alphaModFix/>
          </a:blip>
          <a:srcRect b="23912" l="2313" r="21439" t="17049"/>
          <a:stretch/>
        </p:blipFill>
        <p:spPr>
          <a:xfrm>
            <a:off x="6225310" y="5059345"/>
            <a:ext cx="4349605" cy="1041436"/>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31"/>
          <p:cNvSpPr txBox="1"/>
          <p:nvPr>
            <p:ph type="title"/>
          </p:nvPr>
        </p:nvSpPr>
        <p:spPr>
          <a:xfrm>
            <a:off x="838200" y="365125"/>
            <a:ext cx="10515600" cy="568325"/>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20000"/>
              </a:lnSpc>
              <a:spcBef>
                <a:spcPts val="0"/>
              </a:spcBef>
              <a:spcAft>
                <a:spcPts val="0"/>
              </a:spcAft>
              <a:buClr>
                <a:srgbClr val="00CB8A"/>
              </a:buClr>
              <a:buSzPct val="100000"/>
              <a:buFont typeface="Arial"/>
              <a:buNone/>
            </a:pPr>
            <a:r>
              <a:rPr lang="en-US"/>
              <a:t>Nguyên nhân</a:t>
            </a:r>
            <a:endParaRPr/>
          </a:p>
        </p:txBody>
      </p:sp>
      <p:sp>
        <p:nvSpPr>
          <p:cNvPr id="359" name="Google Shape;359;p31"/>
          <p:cNvSpPr txBox="1"/>
          <p:nvPr>
            <p:ph idx="1" type="body"/>
          </p:nvPr>
        </p:nvSpPr>
        <p:spPr>
          <a:xfrm>
            <a:off x="838200" y="1130300"/>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130000"/>
              </a:lnSpc>
              <a:spcBef>
                <a:spcPts val="0"/>
              </a:spcBef>
              <a:spcAft>
                <a:spcPts val="0"/>
              </a:spcAft>
              <a:buClr>
                <a:schemeClr val="dk1"/>
              </a:buClr>
              <a:buSzPts val="2000"/>
              <a:buChar char="•"/>
            </a:pPr>
            <a:r>
              <a:rPr lang="en-US"/>
              <a:t>Kiểm soát truy cập bị lỗi là một lỗ hổng bảo mật thường gặp và thường nghiêm trọng. Thiết kế và quản lý các biện pháp kiểm soát truy cập là một vấn đề phức tạp và năng động áp dụng các ràng buộc kinh doanh, tổ chức và pháp lý đối với việc triển khai kỹ thuật</a:t>
            </a:r>
            <a:endParaRPr/>
          </a:p>
          <a:p>
            <a:pPr indent="-228600" lvl="0" marL="228600" rtl="0" algn="just">
              <a:lnSpc>
                <a:spcPct val="130000"/>
              </a:lnSpc>
              <a:spcBef>
                <a:spcPts val="600"/>
              </a:spcBef>
              <a:spcAft>
                <a:spcPts val="0"/>
              </a:spcAft>
              <a:buClr>
                <a:schemeClr val="dk1"/>
              </a:buClr>
              <a:buSzPts val="2000"/>
              <a:buChar char="•"/>
            </a:pPr>
            <a:r>
              <a:rPr lang="en-US"/>
              <a:t>Các quyết định thiết kế kiểm soát truy cập phải được thực hiện bởi con người chứ không phải công nghệ và khả năng xảy ra sai sót là rất cao..</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32"/>
          <p:cNvSpPr txBox="1"/>
          <p:nvPr>
            <p:ph type="title"/>
          </p:nvPr>
        </p:nvSpPr>
        <p:spPr>
          <a:xfrm>
            <a:off x="838200" y="365125"/>
            <a:ext cx="10515600" cy="568325"/>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20000"/>
              </a:lnSpc>
              <a:spcBef>
                <a:spcPts val="0"/>
              </a:spcBef>
              <a:spcAft>
                <a:spcPts val="0"/>
              </a:spcAft>
              <a:buClr>
                <a:srgbClr val="00CB8A"/>
              </a:buClr>
              <a:buSzPct val="100000"/>
              <a:buFont typeface="Arial"/>
              <a:buNone/>
            </a:pPr>
            <a:r>
              <a:rPr lang="en-US"/>
              <a:t>Các khắc phục</a:t>
            </a:r>
            <a:endParaRPr/>
          </a:p>
        </p:txBody>
      </p:sp>
      <p:sp>
        <p:nvSpPr>
          <p:cNvPr id="365" name="Google Shape;365;p32"/>
          <p:cNvSpPr txBox="1"/>
          <p:nvPr>
            <p:ph idx="1" type="body"/>
          </p:nvPr>
        </p:nvSpPr>
        <p:spPr>
          <a:xfrm>
            <a:off x="838200" y="1130300"/>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130000"/>
              </a:lnSpc>
              <a:spcBef>
                <a:spcPts val="0"/>
              </a:spcBef>
              <a:spcAft>
                <a:spcPts val="0"/>
              </a:spcAft>
              <a:buClr>
                <a:schemeClr val="dk1"/>
              </a:buClr>
              <a:buSzPts val="2000"/>
              <a:buChar char="•"/>
            </a:pPr>
            <a:r>
              <a:rPr lang="en-US"/>
              <a:t>Trừ khi một tài nguyên được thiết kế để có thể truy cập công khai, hãy từ chối quyền truy cập theo mặc định.(Đặc quyền tối thiểu)</a:t>
            </a:r>
            <a:endParaRPr/>
          </a:p>
          <a:p>
            <a:pPr indent="-228600" lvl="0" marL="228600" rtl="0" algn="just">
              <a:lnSpc>
                <a:spcPct val="130000"/>
              </a:lnSpc>
              <a:spcBef>
                <a:spcPts val="600"/>
              </a:spcBef>
              <a:spcAft>
                <a:spcPts val="0"/>
              </a:spcAft>
              <a:buClr>
                <a:schemeClr val="dk1"/>
              </a:buClr>
              <a:buSzPts val="2000"/>
              <a:buChar char="•"/>
            </a:pPr>
            <a:r>
              <a:rPr lang="en-US"/>
              <a:t>Bất cứ khi nào có thể, hãy sử dụng một cơ chế toàn ứng dụng để thực thi các biện pháp kiểm soát truy cập.</a:t>
            </a:r>
            <a:endParaRPr/>
          </a:p>
          <a:p>
            <a:pPr indent="-228600" lvl="0" marL="228600" rtl="0" algn="just">
              <a:lnSpc>
                <a:spcPct val="130000"/>
              </a:lnSpc>
              <a:spcBef>
                <a:spcPts val="600"/>
              </a:spcBef>
              <a:spcAft>
                <a:spcPts val="0"/>
              </a:spcAft>
              <a:buClr>
                <a:schemeClr val="dk1"/>
              </a:buClr>
              <a:buSzPts val="2000"/>
              <a:buChar char="•"/>
            </a:pPr>
            <a:r>
              <a:rPr lang="en-US"/>
              <a:t>Kiểm tra kỹ lưỡng và kiểm tra các biện pháp kiểm soát truy cập để đảm bảo chúng đang hoạt động như thiết kế.</a:t>
            </a:r>
            <a:endParaRPr/>
          </a:p>
          <a:p>
            <a:pPr indent="0" lvl="0" marL="0" rtl="0" algn="just">
              <a:lnSpc>
                <a:spcPct val="130000"/>
              </a:lnSpc>
              <a:spcBef>
                <a:spcPts val="600"/>
              </a:spcBef>
              <a:spcAft>
                <a:spcPts val="0"/>
              </a:spcAft>
              <a:buClr>
                <a:schemeClr val="dk1"/>
              </a:buClr>
              <a:buSzPts val="2000"/>
              <a:buNone/>
            </a:pPr>
            <a:r>
              <a:t/>
            </a:r>
            <a:endParaRPr/>
          </a:p>
        </p:txBody>
      </p:sp>
      <p:pic>
        <p:nvPicPr>
          <p:cNvPr descr="Web App Cybersecurity Basics: The OWASP Top 10 Critical Security Risks" id="366" name="Google Shape;366;p32"/>
          <p:cNvPicPr preferRelativeResize="0"/>
          <p:nvPr/>
        </p:nvPicPr>
        <p:blipFill rotWithShape="1">
          <a:blip r:embed="rId3">
            <a:alphaModFix/>
          </a:blip>
          <a:srcRect b="0" l="0" r="0" t="0"/>
          <a:stretch/>
        </p:blipFill>
        <p:spPr>
          <a:xfrm>
            <a:off x="4378544" y="3936272"/>
            <a:ext cx="4456226" cy="1895258"/>
          </a:xfrm>
          <a:prstGeom prst="rect">
            <a:avLst/>
          </a:prstGeom>
          <a:noFill/>
          <a:ln cap="flat" cmpd="sng" w="34925">
            <a:solidFill>
              <a:srgbClr val="FFFFFF"/>
            </a:solidFill>
            <a:prstDash val="solid"/>
            <a:round/>
            <a:headEnd len="sm" w="sm" type="none"/>
            <a:tailEnd len="sm" w="sm" type="none"/>
          </a:ln>
          <a:effectLst>
            <a:outerShdw blurRad="317500" algn="ctr">
              <a:srgbClr val="000000">
                <a:alpha val="42745"/>
              </a:srgbClr>
            </a:outerShdw>
          </a:effectLst>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33"/>
          <p:cNvSpPr txBox="1"/>
          <p:nvPr>
            <p:ph type="ctrTitle"/>
          </p:nvPr>
        </p:nvSpPr>
        <p:spPr>
          <a:xfrm>
            <a:off x="124849" y="1174701"/>
            <a:ext cx="8627265" cy="896937"/>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lt1"/>
              </a:buClr>
              <a:buSzPts val="4200"/>
              <a:buFont typeface="Arial"/>
              <a:buNone/>
            </a:pPr>
            <a:r>
              <a:rPr lang="en-US"/>
              <a:t>Sensitive Information Disclosure</a:t>
            </a:r>
            <a:endParaRPr/>
          </a:p>
        </p:txBody>
      </p:sp>
      <p:pic>
        <p:nvPicPr>
          <p:cNvPr id="372" name="Google Shape;372;p33"/>
          <p:cNvPicPr preferRelativeResize="0"/>
          <p:nvPr/>
        </p:nvPicPr>
        <p:blipFill rotWithShape="1">
          <a:blip r:embed="rId3">
            <a:alphaModFix/>
          </a:blip>
          <a:srcRect b="0" l="0" r="0" t="0"/>
          <a:stretch/>
        </p:blipFill>
        <p:spPr>
          <a:xfrm>
            <a:off x="3734260" y="-8313"/>
            <a:ext cx="4590476" cy="1076190"/>
          </a:xfrm>
          <a:prstGeom prst="rect">
            <a:avLst/>
          </a:prstGeom>
          <a:noFill/>
          <a:ln>
            <a:noFill/>
          </a:ln>
        </p:spPr>
      </p:pic>
      <p:pic>
        <p:nvPicPr>
          <p:cNvPr descr="10 tips for protecting sensitive information" id="373" name="Google Shape;373;p33"/>
          <p:cNvPicPr preferRelativeResize="0"/>
          <p:nvPr/>
        </p:nvPicPr>
        <p:blipFill rotWithShape="1">
          <a:blip r:embed="rId4">
            <a:alphaModFix/>
          </a:blip>
          <a:srcRect b="0" l="0" r="0" t="0"/>
          <a:stretch/>
        </p:blipFill>
        <p:spPr>
          <a:xfrm>
            <a:off x="2850370" y="2575249"/>
            <a:ext cx="7059470" cy="3769567"/>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34"/>
          <p:cNvSpPr txBox="1"/>
          <p:nvPr>
            <p:ph type="title"/>
          </p:nvPr>
        </p:nvSpPr>
        <p:spPr>
          <a:xfrm>
            <a:off x="838200" y="365125"/>
            <a:ext cx="10515600" cy="568325"/>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20000"/>
              </a:lnSpc>
              <a:spcBef>
                <a:spcPts val="0"/>
              </a:spcBef>
              <a:spcAft>
                <a:spcPts val="0"/>
              </a:spcAft>
              <a:buClr>
                <a:srgbClr val="00CB8A"/>
              </a:buClr>
              <a:buSzPct val="100000"/>
              <a:buFont typeface="Arial"/>
              <a:buNone/>
            </a:pPr>
            <a:r>
              <a:rPr lang="en-US"/>
              <a:t>Sensitive Information Disclosure</a:t>
            </a:r>
            <a:endParaRPr/>
          </a:p>
        </p:txBody>
      </p:sp>
      <p:sp>
        <p:nvSpPr>
          <p:cNvPr id="379" name="Google Shape;379;p34"/>
          <p:cNvSpPr txBox="1"/>
          <p:nvPr>
            <p:ph idx="1" type="body"/>
          </p:nvPr>
        </p:nvSpPr>
        <p:spPr>
          <a:xfrm>
            <a:off x="838200" y="1130300"/>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130000"/>
              </a:lnSpc>
              <a:spcBef>
                <a:spcPts val="0"/>
              </a:spcBef>
              <a:spcAft>
                <a:spcPts val="0"/>
              </a:spcAft>
              <a:buClr>
                <a:schemeClr val="dk1"/>
              </a:buClr>
              <a:buSzPts val="2000"/>
              <a:buChar char="•"/>
            </a:pPr>
            <a:r>
              <a:rPr lang="en-US"/>
              <a:t>Sensitive Information Disclosure là lỗ hổng để lộ thông tin nhạy cảm của người dùng hoặc của hệ thống trong phản hồi về phía client.</a:t>
            </a:r>
            <a:endParaRPr/>
          </a:p>
          <a:p>
            <a:pPr indent="-228600" lvl="0" marL="228600" rtl="0" algn="just">
              <a:lnSpc>
                <a:spcPct val="130000"/>
              </a:lnSpc>
              <a:spcBef>
                <a:spcPts val="600"/>
              </a:spcBef>
              <a:spcAft>
                <a:spcPts val="0"/>
              </a:spcAft>
              <a:buClr>
                <a:schemeClr val="dk1"/>
              </a:buClr>
              <a:buSzPts val="2000"/>
              <a:buChar char="•"/>
            </a:pPr>
            <a:r>
              <a:rPr lang="en-US"/>
              <a:t>Mức độ: Tùy thuộc vào dữ liệu</a:t>
            </a:r>
            <a:endParaRPr/>
          </a:p>
          <a:p>
            <a:pPr indent="-228600" lvl="0" marL="228600" rtl="0" algn="just">
              <a:lnSpc>
                <a:spcPct val="130000"/>
              </a:lnSpc>
              <a:spcBef>
                <a:spcPts val="600"/>
              </a:spcBef>
              <a:spcAft>
                <a:spcPts val="0"/>
              </a:spcAft>
              <a:buClr>
                <a:schemeClr val="dk1"/>
              </a:buClr>
              <a:buSzPts val="2000"/>
              <a:buChar char="•"/>
            </a:pPr>
            <a:r>
              <a:rPr lang="en-US"/>
              <a:t>Tác động :</a:t>
            </a:r>
            <a:endParaRPr/>
          </a:p>
          <a:p>
            <a:pPr indent="-228600" lvl="1" marL="685800" rtl="0" algn="just">
              <a:lnSpc>
                <a:spcPct val="130000"/>
              </a:lnSpc>
              <a:spcBef>
                <a:spcPts val="600"/>
              </a:spcBef>
              <a:spcAft>
                <a:spcPts val="0"/>
              </a:spcAft>
              <a:buClr>
                <a:schemeClr val="dk1"/>
              </a:buClr>
              <a:buSzPts val="1800"/>
              <a:buChar char="•"/>
            </a:pPr>
            <a:r>
              <a:rPr lang="en-US"/>
              <a:t>Rò rỉ dữ liệu : user information, source code, config, ip private, apikey …</a:t>
            </a:r>
            <a:endParaRPr/>
          </a:p>
        </p:txBody>
      </p:sp>
      <p:pic>
        <p:nvPicPr>
          <p:cNvPr descr="500 Million Yahoo Users Affected by Data Breach – Password Change  Recommended - Security News" id="380" name="Google Shape;380;p34"/>
          <p:cNvPicPr preferRelativeResize="0"/>
          <p:nvPr/>
        </p:nvPicPr>
        <p:blipFill rotWithShape="1">
          <a:blip r:embed="rId3">
            <a:alphaModFix/>
          </a:blip>
          <a:srcRect b="0" l="0" r="0" t="0"/>
          <a:stretch/>
        </p:blipFill>
        <p:spPr>
          <a:xfrm>
            <a:off x="3545320" y="3425519"/>
            <a:ext cx="4010025" cy="2875762"/>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35"/>
          <p:cNvSpPr txBox="1"/>
          <p:nvPr>
            <p:ph type="title"/>
          </p:nvPr>
        </p:nvSpPr>
        <p:spPr>
          <a:xfrm>
            <a:off x="838200" y="365125"/>
            <a:ext cx="10515600" cy="568325"/>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20000"/>
              </a:lnSpc>
              <a:spcBef>
                <a:spcPts val="0"/>
              </a:spcBef>
              <a:spcAft>
                <a:spcPts val="0"/>
              </a:spcAft>
              <a:buClr>
                <a:srgbClr val="00CB8A"/>
              </a:buClr>
              <a:buSzPct val="100000"/>
              <a:buFont typeface="Arial"/>
              <a:buNone/>
            </a:pPr>
            <a:r>
              <a:rPr lang="en-US"/>
              <a:t>Nguyên nhân</a:t>
            </a:r>
            <a:endParaRPr/>
          </a:p>
        </p:txBody>
      </p:sp>
      <p:sp>
        <p:nvSpPr>
          <p:cNvPr id="386" name="Google Shape;386;p35"/>
          <p:cNvSpPr txBox="1"/>
          <p:nvPr>
            <p:ph idx="1" type="body"/>
          </p:nvPr>
        </p:nvSpPr>
        <p:spPr>
          <a:xfrm>
            <a:off x="838200" y="1130300"/>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130000"/>
              </a:lnSpc>
              <a:spcBef>
                <a:spcPts val="0"/>
              </a:spcBef>
              <a:spcAft>
                <a:spcPts val="0"/>
              </a:spcAft>
              <a:buClr>
                <a:schemeClr val="dk1"/>
              </a:buClr>
              <a:buSzPts val="2000"/>
              <a:buChar char="•"/>
            </a:pPr>
            <a:r>
              <a:rPr lang="en-US"/>
              <a:t>Bật chế độ debug khi phát hành.</a:t>
            </a:r>
            <a:endParaRPr/>
          </a:p>
          <a:p>
            <a:pPr indent="-101600" lvl="0" marL="228600" rtl="0" algn="just">
              <a:lnSpc>
                <a:spcPct val="130000"/>
              </a:lnSpc>
              <a:spcBef>
                <a:spcPts val="600"/>
              </a:spcBef>
              <a:spcAft>
                <a:spcPts val="0"/>
              </a:spcAft>
              <a:buClr>
                <a:schemeClr val="dk1"/>
              </a:buClr>
              <a:buSzPts val="2000"/>
              <a:buNone/>
            </a:pPr>
            <a:r>
              <a:t/>
            </a:r>
            <a:endParaRPr/>
          </a:p>
          <a:p>
            <a:pPr indent="-101600" lvl="0" marL="228600" rtl="0" algn="just">
              <a:lnSpc>
                <a:spcPct val="130000"/>
              </a:lnSpc>
              <a:spcBef>
                <a:spcPts val="600"/>
              </a:spcBef>
              <a:spcAft>
                <a:spcPts val="0"/>
              </a:spcAft>
              <a:buClr>
                <a:schemeClr val="dk1"/>
              </a:buClr>
              <a:buSzPts val="2000"/>
              <a:buNone/>
            </a:pPr>
            <a:r>
              <a:t/>
            </a:r>
            <a:endParaRPr/>
          </a:p>
          <a:p>
            <a:pPr indent="-101600" lvl="0" marL="228600" rtl="0" algn="just">
              <a:lnSpc>
                <a:spcPct val="130000"/>
              </a:lnSpc>
              <a:spcBef>
                <a:spcPts val="600"/>
              </a:spcBef>
              <a:spcAft>
                <a:spcPts val="0"/>
              </a:spcAft>
              <a:buClr>
                <a:schemeClr val="dk1"/>
              </a:buClr>
              <a:buSzPts val="2000"/>
              <a:buNone/>
            </a:pPr>
            <a:r>
              <a:t/>
            </a:r>
            <a:endParaRPr/>
          </a:p>
          <a:p>
            <a:pPr indent="-228600" lvl="0" marL="228600" rtl="0" algn="just">
              <a:lnSpc>
                <a:spcPct val="130000"/>
              </a:lnSpc>
              <a:spcBef>
                <a:spcPts val="600"/>
              </a:spcBef>
              <a:spcAft>
                <a:spcPts val="0"/>
              </a:spcAft>
              <a:buClr>
                <a:schemeClr val="dk1"/>
              </a:buClr>
              <a:buSzPts val="2000"/>
              <a:buChar char="•"/>
            </a:pPr>
            <a:r>
              <a:rPr lang="en-US"/>
              <a:t>Không xử lý exception.</a:t>
            </a:r>
            <a:endParaRPr/>
          </a:p>
          <a:p>
            <a:pPr indent="-228600" lvl="0" marL="228600" rtl="0" algn="just">
              <a:lnSpc>
                <a:spcPct val="130000"/>
              </a:lnSpc>
              <a:spcBef>
                <a:spcPts val="600"/>
              </a:spcBef>
              <a:spcAft>
                <a:spcPts val="0"/>
              </a:spcAft>
              <a:buClr>
                <a:schemeClr val="dk1"/>
              </a:buClr>
              <a:buSzPts val="2000"/>
              <a:buChar char="•"/>
            </a:pPr>
            <a:r>
              <a:rPr lang="en-US"/>
              <a:t>Dữ liệu trả về thừa thông tin hoặc chứa thông tin nhạy cảm.</a:t>
            </a:r>
            <a:endParaRPr/>
          </a:p>
          <a:p>
            <a:pPr indent="-228600" lvl="0" marL="228600" rtl="0" algn="just">
              <a:lnSpc>
                <a:spcPct val="130000"/>
              </a:lnSpc>
              <a:spcBef>
                <a:spcPts val="600"/>
              </a:spcBef>
              <a:spcAft>
                <a:spcPts val="0"/>
              </a:spcAft>
              <a:buClr>
                <a:schemeClr val="dk1"/>
              </a:buClr>
              <a:buSzPts val="2000"/>
              <a:buChar char="•"/>
            </a:pPr>
            <a:r>
              <a:rPr lang="en-US"/>
              <a:t>Lưu dữ liệu test hoặc key trong code</a:t>
            </a:r>
            <a:endParaRPr/>
          </a:p>
        </p:txBody>
      </p:sp>
      <p:pic>
        <p:nvPicPr>
          <p:cNvPr descr="Sensitive Data Exposure/ information disclosure vulnerability in Website |  smimamhasan" id="387" name="Google Shape;387;p35"/>
          <p:cNvPicPr preferRelativeResize="0"/>
          <p:nvPr/>
        </p:nvPicPr>
        <p:blipFill rotWithShape="1">
          <a:blip r:embed="rId3">
            <a:alphaModFix/>
          </a:blip>
          <a:srcRect b="0" l="0" r="0" t="0"/>
          <a:stretch/>
        </p:blipFill>
        <p:spPr>
          <a:xfrm>
            <a:off x="5865091" y="1130300"/>
            <a:ext cx="4720648" cy="1875327"/>
          </a:xfrm>
          <a:prstGeom prst="rect">
            <a:avLst/>
          </a:prstGeom>
          <a:noFill/>
          <a:ln>
            <a:noFill/>
          </a:ln>
        </p:spPr>
      </p:pic>
      <p:pic>
        <p:nvPicPr>
          <p:cNvPr descr="Millions of SMS text Messages &amp;amp; TrueDialog Private Data Leaked Online" id="388" name="Google Shape;388;p35"/>
          <p:cNvPicPr preferRelativeResize="0"/>
          <p:nvPr/>
        </p:nvPicPr>
        <p:blipFill rotWithShape="1">
          <a:blip r:embed="rId4">
            <a:alphaModFix/>
          </a:blip>
          <a:srcRect b="0" l="0" r="0" t="0"/>
          <a:stretch/>
        </p:blipFill>
        <p:spPr>
          <a:xfrm>
            <a:off x="5601999" y="4015073"/>
            <a:ext cx="5066001" cy="2177907"/>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36"/>
          <p:cNvSpPr txBox="1"/>
          <p:nvPr>
            <p:ph type="title"/>
          </p:nvPr>
        </p:nvSpPr>
        <p:spPr>
          <a:xfrm>
            <a:off x="838200" y="365125"/>
            <a:ext cx="10515600" cy="568325"/>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20000"/>
              </a:lnSpc>
              <a:spcBef>
                <a:spcPts val="0"/>
              </a:spcBef>
              <a:spcAft>
                <a:spcPts val="0"/>
              </a:spcAft>
              <a:buClr>
                <a:srgbClr val="00CB8A"/>
              </a:buClr>
              <a:buSzPct val="100000"/>
              <a:buFont typeface="Arial"/>
              <a:buNone/>
            </a:pPr>
            <a:r>
              <a:rPr lang="en-US"/>
              <a:t>Cách khắc phục</a:t>
            </a:r>
            <a:endParaRPr/>
          </a:p>
        </p:txBody>
      </p:sp>
      <p:sp>
        <p:nvSpPr>
          <p:cNvPr id="394" name="Google Shape;394;p36"/>
          <p:cNvSpPr txBox="1"/>
          <p:nvPr>
            <p:ph idx="1" type="body"/>
          </p:nvPr>
        </p:nvSpPr>
        <p:spPr>
          <a:xfrm>
            <a:off x="838200" y="1130300"/>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130000"/>
              </a:lnSpc>
              <a:spcBef>
                <a:spcPts val="0"/>
              </a:spcBef>
              <a:spcAft>
                <a:spcPts val="0"/>
              </a:spcAft>
              <a:buClr>
                <a:schemeClr val="dk1"/>
              </a:buClr>
              <a:buSzPts val="2000"/>
              <a:buChar char="•"/>
            </a:pPr>
            <a:r>
              <a:rPr lang="en-US"/>
              <a:t>Trả về các trang thông báo lỗi (404, 400 ) khi có exception </a:t>
            </a:r>
            <a:endParaRPr/>
          </a:p>
          <a:p>
            <a:pPr indent="0" lvl="0" marL="0" rtl="0" algn="just">
              <a:lnSpc>
                <a:spcPct val="130000"/>
              </a:lnSpc>
              <a:spcBef>
                <a:spcPts val="600"/>
              </a:spcBef>
              <a:spcAft>
                <a:spcPts val="0"/>
              </a:spcAft>
              <a:buClr>
                <a:schemeClr val="dk1"/>
              </a:buClr>
              <a:buSzPts val="2000"/>
              <a:buNone/>
            </a:pPr>
            <a:r>
              <a:rPr lang="en-US"/>
              <a:t>    hoặc request không hợp lệ</a:t>
            </a:r>
            <a:endParaRPr/>
          </a:p>
          <a:p>
            <a:pPr indent="-101600" lvl="0" marL="228600" rtl="0" algn="just">
              <a:lnSpc>
                <a:spcPct val="130000"/>
              </a:lnSpc>
              <a:spcBef>
                <a:spcPts val="600"/>
              </a:spcBef>
              <a:spcAft>
                <a:spcPts val="0"/>
              </a:spcAft>
              <a:buClr>
                <a:schemeClr val="dk1"/>
              </a:buClr>
              <a:buSzPts val="2000"/>
              <a:buNone/>
            </a:pPr>
            <a:r>
              <a:t/>
            </a:r>
            <a:endParaRPr/>
          </a:p>
          <a:p>
            <a:pPr indent="-101600" lvl="0" marL="228600" rtl="0" algn="just">
              <a:lnSpc>
                <a:spcPct val="130000"/>
              </a:lnSpc>
              <a:spcBef>
                <a:spcPts val="600"/>
              </a:spcBef>
              <a:spcAft>
                <a:spcPts val="0"/>
              </a:spcAft>
              <a:buClr>
                <a:schemeClr val="dk1"/>
              </a:buClr>
              <a:buSzPts val="2000"/>
              <a:buNone/>
            </a:pPr>
            <a:r>
              <a:t/>
            </a:r>
            <a:endParaRPr/>
          </a:p>
          <a:p>
            <a:pPr indent="0" lvl="0" marL="0" rtl="0" algn="just">
              <a:lnSpc>
                <a:spcPct val="130000"/>
              </a:lnSpc>
              <a:spcBef>
                <a:spcPts val="600"/>
              </a:spcBef>
              <a:spcAft>
                <a:spcPts val="0"/>
              </a:spcAft>
              <a:buClr>
                <a:schemeClr val="dk1"/>
              </a:buClr>
              <a:buSzPts val="2000"/>
              <a:buNone/>
            </a:pPr>
            <a:r>
              <a:t/>
            </a:r>
            <a:endParaRPr/>
          </a:p>
          <a:p>
            <a:pPr indent="-228600" lvl="0" marL="228600" rtl="0" algn="just">
              <a:lnSpc>
                <a:spcPct val="130000"/>
              </a:lnSpc>
              <a:spcBef>
                <a:spcPts val="600"/>
              </a:spcBef>
              <a:spcAft>
                <a:spcPts val="0"/>
              </a:spcAft>
              <a:buClr>
                <a:schemeClr val="dk1"/>
              </a:buClr>
              <a:buSzPts val="2000"/>
              <a:buChar char="•"/>
            </a:pPr>
            <a:r>
              <a:rPr lang="en-US"/>
              <a:t>Không trả về các thông tin nhạy cảm của người dùng nếu không cần thiết.</a:t>
            </a:r>
            <a:endParaRPr/>
          </a:p>
          <a:p>
            <a:pPr indent="-228600" lvl="0" marL="228600" rtl="0" algn="just">
              <a:lnSpc>
                <a:spcPct val="130000"/>
              </a:lnSpc>
              <a:spcBef>
                <a:spcPts val="600"/>
              </a:spcBef>
              <a:spcAft>
                <a:spcPts val="0"/>
              </a:spcAft>
              <a:buClr>
                <a:schemeClr val="dk1"/>
              </a:buClr>
              <a:buSzPts val="2000"/>
              <a:buChar char="•"/>
            </a:pPr>
            <a:r>
              <a:rPr lang="en-US"/>
              <a:t>Yêu cầu trước khi phát hành sản phẩm thì cần loại bỏ các dữ liệu ở môi trường test </a:t>
            </a:r>
            <a:endParaRPr/>
          </a:p>
        </p:txBody>
      </p:sp>
      <p:pic>
        <p:nvPicPr>
          <p:cNvPr descr="Lỗi 404 not found là gì, nguyên nhân và cách khắc phục, sửa lỗi hiệu quả?" id="395" name="Google Shape;395;p36"/>
          <p:cNvPicPr preferRelativeResize="0"/>
          <p:nvPr/>
        </p:nvPicPr>
        <p:blipFill rotWithShape="1">
          <a:blip r:embed="rId3">
            <a:alphaModFix/>
          </a:blip>
          <a:srcRect b="0" l="0" r="0" t="0"/>
          <a:stretch/>
        </p:blipFill>
        <p:spPr>
          <a:xfrm>
            <a:off x="7721600" y="1014773"/>
            <a:ext cx="4073236" cy="2291196"/>
          </a:xfrm>
          <a:prstGeom prst="rect">
            <a:avLst/>
          </a:prstGeom>
          <a:noFill/>
          <a:ln>
            <a:noFill/>
          </a:ln>
          <a:effectLst>
            <a:outerShdw blurRad="184150" sx="110000" algn="ctr" dir="11520000" dist="241300" sy="110000">
              <a:srgbClr val="000000">
                <a:alpha val="17647"/>
              </a:srgbClr>
            </a:outerShdw>
          </a:effectLst>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37"/>
          <p:cNvSpPr txBox="1"/>
          <p:nvPr>
            <p:ph type="title"/>
          </p:nvPr>
        </p:nvSpPr>
        <p:spPr>
          <a:xfrm>
            <a:off x="838200" y="365125"/>
            <a:ext cx="10515600" cy="568325"/>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20000"/>
              </a:lnSpc>
              <a:spcBef>
                <a:spcPts val="0"/>
              </a:spcBef>
              <a:spcAft>
                <a:spcPts val="0"/>
              </a:spcAft>
              <a:buClr>
                <a:srgbClr val="2E75B5"/>
              </a:buClr>
              <a:buSzPct val="100000"/>
              <a:buFont typeface="Arial"/>
              <a:buNone/>
            </a:pPr>
            <a:r>
              <a:rPr lang="en-US">
                <a:solidFill>
                  <a:srgbClr val="2E75B5"/>
                </a:solidFill>
              </a:rPr>
              <a:t>Ngoài ra</a:t>
            </a:r>
            <a:br>
              <a:rPr lang="en-US">
                <a:solidFill>
                  <a:srgbClr val="2E75B5"/>
                </a:solidFill>
              </a:rPr>
            </a:br>
            <a:endParaRPr/>
          </a:p>
        </p:txBody>
      </p:sp>
      <p:sp>
        <p:nvSpPr>
          <p:cNvPr id="401" name="Google Shape;401;p37"/>
          <p:cNvSpPr txBox="1"/>
          <p:nvPr>
            <p:ph idx="1" type="body"/>
          </p:nvPr>
        </p:nvSpPr>
        <p:spPr>
          <a:xfrm>
            <a:off x="838200" y="1130300"/>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just">
              <a:lnSpc>
                <a:spcPct val="130000"/>
              </a:lnSpc>
              <a:spcBef>
                <a:spcPts val="0"/>
              </a:spcBef>
              <a:spcAft>
                <a:spcPts val="0"/>
              </a:spcAft>
              <a:buClr>
                <a:srgbClr val="2F5496"/>
              </a:buClr>
              <a:buSzPct val="100000"/>
              <a:buChar char="•"/>
            </a:pPr>
            <a:r>
              <a:rPr lang="en-US">
                <a:solidFill>
                  <a:srgbClr val="2F5496"/>
                </a:solidFill>
              </a:rPr>
              <a:t> Using Components with known Vulnerabilities hay sử dụng thành phần hỗ trợ bên thứ 3 có chứa lỗ hổng</a:t>
            </a:r>
            <a:endParaRPr>
              <a:solidFill>
                <a:srgbClr val="2F5496"/>
              </a:solidFill>
            </a:endParaRPr>
          </a:p>
          <a:p>
            <a:pPr indent="-111125" lvl="0" marL="228600" rtl="0" algn="just">
              <a:lnSpc>
                <a:spcPct val="130000"/>
              </a:lnSpc>
              <a:spcBef>
                <a:spcPts val="600"/>
              </a:spcBef>
              <a:spcAft>
                <a:spcPts val="0"/>
              </a:spcAft>
              <a:buClr>
                <a:schemeClr val="dk1"/>
              </a:buClr>
              <a:buSzPct val="100000"/>
              <a:buNone/>
            </a:pPr>
            <a:r>
              <a:t/>
            </a:r>
            <a:endParaRPr>
              <a:solidFill>
                <a:srgbClr val="2F5496"/>
              </a:solidFill>
            </a:endParaRPr>
          </a:p>
          <a:p>
            <a:pPr indent="-111125" lvl="0" marL="228600" rtl="0" algn="just">
              <a:lnSpc>
                <a:spcPct val="130000"/>
              </a:lnSpc>
              <a:spcBef>
                <a:spcPts val="600"/>
              </a:spcBef>
              <a:spcAft>
                <a:spcPts val="0"/>
              </a:spcAft>
              <a:buClr>
                <a:schemeClr val="dk1"/>
              </a:buClr>
              <a:buSzPct val="100000"/>
              <a:buNone/>
            </a:pPr>
            <a:r>
              <a:t/>
            </a:r>
            <a:endParaRPr>
              <a:solidFill>
                <a:srgbClr val="2F5496"/>
              </a:solidFill>
            </a:endParaRPr>
          </a:p>
          <a:p>
            <a:pPr indent="-111125" lvl="0" marL="228600" rtl="0" algn="just">
              <a:lnSpc>
                <a:spcPct val="130000"/>
              </a:lnSpc>
              <a:spcBef>
                <a:spcPts val="600"/>
              </a:spcBef>
              <a:spcAft>
                <a:spcPts val="0"/>
              </a:spcAft>
              <a:buClr>
                <a:schemeClr val="dk1"/>
              </a:buClr>
              <a:buSzPct val="100000"/>
              <a:buNone/>
            </a:pPr>
            <a:r>
              <a:t/>
            </a:r>
            <a:endParaRPr>
              <a:solidFill>
                <a:srgbClr val="2F5496"/>
              </a:solidFill>
            </a:endParaRPr>
          </a:p>
          <a:p>
            <a:pPr indent="-111125" lvl="0" marL="228600" rtl="0" algn="just">
              <a:lnSpc>
                <a:spcPct val="130000"/>
              </a:lnSpc>
              <a:spcBef>
                <a:spcPts val="600"/>
              </a:spcBef>
              <a:spcAft>
                <a:spcPts val="0"/>
              </a:spcAft>
              <a:buClr>
                <a:schemeClr val="dk1"/>
              </a:buClr>
              <a:buSzPct val="100000"/>
              <a:buNone/>
            </a:pPr>
            <a:r>
              <a:t/>
            </a:r>
            <a:endParaRPr>
              <a:solidFill>
                <a:srgbClr val="2F5496"/>
              </a:solidFill>
            </a:endParaRPr>
          </a:p>
          <a:p>
            <a:pPr indent="-111125" lvl="0" marL="228600" rtl="0" algn="just">
              <a:lnSpc>
                <a:spcPct val="130000"/>
              </a:lnSpc>
              <a:spcBef>
                <a:spcPts val="600"/>
              </a:spcBef>
              <a:spcAft>
                <a:spcPts val="0"/>
              </a:spcAft>
              <a:buClr>
                <a:schemeClr val="dk1"/>
              </a:buClr>
              <a:buSzPct val="100000"/>
              <a:buNone/>
            </a:pPr>
            <a:r>
              <a:t/>
            </a:r>
            <a:endParaRPr>
              <a:solidFill>
                <a:srgbClr val="2F5496"/>
              </a:solidFill>
            </a:endParaRPr>
          </a:p>
          <a:p>
            <a:pPr indent="-228600" lvl="0" marL="228600" rtl="0" algn="just">
              <a:lnSpc>
                <a:spcPct val="130000"/>
              </a:lnSpc>
              <a:spcBef>
                <a:spcPts val="600"/>
              </a:spcBef>
              <a:spcAft>
                <a:spcPts val="0"/>
              </a:spcAft>
              <a:buClr>
                <a:srgbClr val="2F5496"/>
              </a:buClr>
              <a:buSzPct val="100000"/>
              <a:buChar char="•"/>
            </a:pPr>
            <a:r>
              <a:rPr lang="en-US">
                <a:solidFill>
                  <a:srgbClr val="2F5496"/>
                </a:solidFill>
              </a:rPr>
              <a:t>Business logic là lỗ hổng liên quan đến logic/flow code</a:t>
            </a:r>
            <a:endParaRPr/>
          </a:p>
          <a:p>
            <a:pPr indent="-228600" lvl="1" marL="685800" rtl="0" algn="just">
              <a:lnSpc>
                <a:spcPct val="130000"/>
              </a:lnSpc>
              <a:spcBef>
                <a:spcPts val="600"/>
              </a:spcBef>
              <a:spcAft>
                <a:spcPts val="0"/>
              </a:spcAft>
              <a:buClr>
                <a:srgbClr val="2F5496"/>
              </a:buClr>
              <a:buSzPct val="100000"/>
              <a:buChar char="•"/>
            </a:pPr>
            <a:r>
              <a:rPr lang="en-US">
                <a:solidFill>
                  <a:srgbClr val="2F5496"/>
                </a:solidFill>
              </a:rPr>
              <a:t>Mua sản phẩm không mất tiền do xử lý ở phía client</a:t>
            </a:r>
            <a:endParaRPr/>
          </a:p>
          <a:p>
            <a:pPr indent="-228600" lvl="1" marL="685800" rtl="0" algn="just">
              <a:lnSpc>
                <a:spcPct val="130000"/>
              </a:lnSpc>
              <a:spcBef>
                <a:spcPts val="600"/>
              </a:spcBef>
              <a:spcAft>
                <a:spcPts val="0"/>
              </a:spcAft>
              <a:buClr>
                <a:srgbClr val="2F5496"/>
              </a:buClr>
              <a:buSzPct val="100000"/>
              <a:buChar char="•"/>
            </a:pPr>
            <a:r>
              <a:rPr lang="en-US">
                <a:solidFill>
                  <a:srgbClr val="2F5496"/>
                </a:solidFill>
              </a:rPr>
              <a:t>Bufferover flow</a:t>
            </a:r>
            <a:endParaRPr/>
          </a:p>
          <a:p>
            <a:pPr indent="-228600" lvl="1" marL="685800" rtl="0" algn="just">
              <a:lnSpc>
                <a:spcPct val="130000"/>
              </a:lnSpc>
              <a:spcBef>
                <a:spcPts val="600"/>
              </a:spcBef>
              <a:spcAft>
                <a:spcPts val="0"/>
              </a:spcAft>
              <a:buClr>
                <a:srgbClr val="2F5496"/>
              </a:buClr>
              <a:buSzPct val="100000"/>
              <a:buChar char="•"/>
            </a:pPr>
            <a:r>
              <a:rPr lang="en-US">
                <a:solidFill>
                  <a:srgbClr val="2F5496"/>
                </a:solidFill>
              </a:rPr>
              <a:t>Race condition</a:t>
            </a:r>
            <a:endParaRPr/>
          </a:p>
        </p:txBody>
      </p:sp>
      <p:pic>
        <p:nvPicPr>
          <p:cNvPr descr="Loại bỏ lỗ hổng an ninh mạng Telerik UI khỏi hệ thống phần mềm tại EVNCPC" id="402" name="Google Shape;402;p37"/>
          <p:cNvPicPr preferRelativeResize="0"/>
          <p:nvPr/>
        </p:nvPicPr>
        <p:blipFill rotWithShape="1">
          <a:blip r:embed="rId3">
            <a:alphaModFix/>
          </a:blip>
          <a:srcRect b="0" l="0" r="0" t="0"/>
          <a:stretch/>
        </p:blipFill>
        <p:spPr>
          <a:xfrm>
            <a:off x="4281343" y="1642224"/>
            <a:ext cx="3629314" cy="2037601"/>
          </a:xfrm>
          <a:prstGeom prst="rect">
            <a:avLst/>
          </a:prstGeom>
          <a:noFill/>
          <a:ln>
            <a:noFill/>
          </a:ln>
          <a:effectLst>
            <a:outerShdw blurRad="149987" algn="ctr" dir="8460000" dist="250190">
              <a:srgbClr val="000000">
                <a:alpha val="27843"/>
              </a:srgbClr>
            </a:outerShdw>
          </a:effectLst>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38"/>
          <p:cNvSpPr txBox="1"/>
          <p:nvPr>
            <p:ph type="ctrTitle"/>
          </p:nvPr>
        </p:nvSpPr>
        <p:spPr>
          <a:xfrm>
            <a:off x="1457498" y="2185165"/>
            <a:ext cx="9144000" cy="896937"/>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30000"/>
              </a:lnSpc>
              <a:spcBef>
                <a:spcPts val="0"/>
              </a:spcBef>
              <a:spcAft>
                <a:spcPts val="0"/>
              </a:spcAft>
              <a:buClr>
                <a:schemeClr val="lt1"/>
              </a:buClr>
              <a:buSzPct val="100000"/>
              <a:buFont typeface="Arial"/>
              <a:buNone/>
            </a:pPr>
            <a:r>
              <a:rPr lang="en-US"/>
              <a:t>Conlusion</a:t>
            </a:r>
            <a:endParaRPr/>
          </a:p>
        </p:txBody>
      </p:sp>
      <p:pic>
        <p:nvPicPr>
          <p:cNvPr id="408" name="Google Shape;408;p38"/>
          <p:cNvPicPr preferRelativeResize="0"/>
          <p:nvPr/>
        </p:nvPicPr>
        <p:blipFill rotWithShape="1">
          <a:blip r:embed="rId3">
            <a:alphaModFix/>
          </a:blip>
          <a:srcRect b="0" l="0" r="0" t="0"/>
          <a:stretch/>
        </p:blipFill>
        <p:spPr>
          <a:xfrm>
            <a:off x="3734260" y="-8313"/>
            <a:ext cx="4590476" cy="107619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39"/>
          <p:cNvSpPr txBox="1"/>
          <p:nvPr>
            <p:ph type="title"/>
          </p:nvPr>
        </p:nvSpPr>
        <p:spPr>
          <a:xfrm>
            <a:off x="838200" y="365125"/>
            <a:ext cx="10515600" cy="568325"/>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20000"/>
              </a:lnSpc>
              <a:spcBef>
                <a:spcPts val="0"/>
              </a:spcBef>
              <a:spcAft>
                <a:spcPts val="0"/>
              </a:spcAft>
              <a:buClr>
                <a:srgbClr val="00CB8A"/>
              </a:buClr>
              <a:buSzPct val="100000"/>
              <a:buFont typeface="Arial"/>
              <a:buNone/>
            </a:pPr>
            <a:r>
              <a:rPr lang="en-US"/>
              <a:t>Lập trình an toàn</a:t>
            </a:r>
            <a:endParaRPr/>
          </a:p>
        </p:txBody>
      </p:sp>
      <p:sp>
        <p:nvSpPr>
          <p:cNvPr id="414" name="Google Shape;414;p39"/>
          <p:cNvSpPr txBox="1"/>
          <p:nvPr>
            <p:ph idx="1" type="body"/>
          </p:nvPr>
        </p:nvSpPr>
        <p:spPr>
          <a:xfrm>
            <a:off x="838200" y="1130300"/>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130000"/>
              </a:lnSpc>
              <a:spcBef>
                <a:spcPts val="0"/>
              </a:spcBef>
              <a:spcAft>
                <a:spcPts val="0"/>
              </a:spcAft>
              <a:buClr>
                <a:schemeClr val="dk1"/>
              </a:buClr>
              <a:buSzPts val="2000"/>
              <a:buChar char="•"/>
            </a:pPr>
            <a:r>
              <a:rPr lang="en-US"/>
              <a:t>Kiểm soát dữ liệu ra vào</a:t>
            </a:r>
            <a:endParaRPr/>
          </a:p>
          <a:p>
            <a:pPr indent="-228600" lvl="0" marL="228600" rtl="0" algn="just">
              <a:lnSpc>
                <a:spcPct val="130000"/>
              </a:lnSpc>
              <a:spcBef>
                <a:spcPts val="600"/>
              </a:spcBef>
              <a:spcAft>
                <a:spcPts val="0"/>
              </a:spcAft>
              <a:buClr>
                <a:schemeClr val="dk1"/>
              </a:buClr>
              <a:buSzPts val="2000"/>
              <a:buChar char="•"/>
            </a:pPr>
            <a:r>
              <a:rPr lang="en-US"/>
              <a:t>Tuân thủ nguyên tắc đặc quyền tối thiểu</a:t>
            </a:r>
            <a:endParaRPr/>
          </a:p>
          <a:p>
            <a:pPr indent="-228600" lvl="0" marL="228600" rtl="0" algn="just">
              <a:lnSpc>
                <a:spcPct val="130000"/>
              </a:lnSpc>
              <a:spcBef>
                <a:spcPts val="600"/>
              </a:spcBef>
              <a:spcAft>
                <a:spcPts val="0"/>
              </a:spcAft>
              <a:buClr>
                <a:schemeClr val="dk1"/>
              </a:buClr>
              <a:buSzPts val="2000"/>
              <a:buChar char="•"/>
            </a:pPr>
            <a:r>
              <a:rPr lang="en-US"/>
              <a:t>Kiểm soát truy cập chặt chẽ</a:t>
            </a:r>
            <a:endParaRPr/>
          </a:p>
          <a:p>
            <a:pPr indent="-101600" lvl="0" marL="228600" rtl="0" algn="just">
              <a:lnSpc>
                <a:spcPct val="130000"/>
              </a:lnSpc>
              <a:spcBef>
                <a:spcPts val="600"/>
              </a:spcBef>
              <a:spcAft>
                <a:spcPts val="0"/>
              </a:spcAft>
              <a:buClr>
                <a:schemeClr val="dk1"/>
              </a:buClr>
              <a:buSzPts val="2000"/>
              <a:buNone/>
            </a:pPr>
            <a:r>
              <a:t/>
            </a:r>
            <a:endParaRPr/>
          </a:p>
        </p:txBody>
      </p:sp>
      <p:pic>
        <p:nvPicPr>
          <p:cNvPr descr="Tips to Secure Programming in .NET | .Net Developers" id="415" name="Google Shape;415;p39"/>
          <p:cNvPicPr preferRelativeResize="0"/>
          <p:nvPr/>
        </p:nvPicPr>
        <p:blipFill rotWithShape="1">
          <a:blip r:embed="rId3">
            <a:alphaModFix/>
          </a:blip>
          <a:srcRect b="0" l="0" r="0" t="0"/>
          <a:stretch/>
        </p:blipFill>
        <p:spPr>
          <a:xfrm>
            <a:off x="7296802" y="1130300"/>
            <a:ext cx="3979847" cy="2238664"/>
          </a:xfrm>
          <a:prstGeom prst="rect">
            <a:avLst/>
          </a:prstGeom>
          <a:noFill/>
          <a:ln>
            <a:noFill/>
          </a:ln>
          <a:effectLst>
            <a:reflection blurRad="0" dir="5400000" dist="50800" endA="300" endPos="38500" kx="0" rotWithShape="0" algn="bl" stA="50000" stPos="0" sy="-100000" ky="0"/>
          </a:effectLst>
        </p:spPr>
      </p:pic>
      <p:pic>
        <p:nvPicPr>
          <p:cNvPr descr="Back to Basics: Programming Security for Beginners - Privacy Canada" id="416" name="Google Shape;416;p39"/>
          <p:cNvPicPr preferRelativeResize="0"/>
          <p:nvPr/>
        </p:nvPicPr>
        <p:blipFill rotWithShape="1">
          <a:blip r:embed="rId4">
            <a:alphaModFix/>
          </a:blip>
          <a:srcRect b="0" l="0" r="0" t="0"/>
          <a:stretch/>
        </p:blipFill>
        <p:spPr>
          <a:xfrm>
            <a:off x="838200" y="3277032"/>
            <a:ext cx="4114960" cy="2401456"/>
          </a:xfrm>
          <a:prstGeom prst="rect">
            <a:avLst/>
          </a:prstGeom>
          <a:noFill/>
          <a:ln>
            <a:noFill/>
          </a:ln>
        </p:spPr>
      </p:pic>
      <p:sp>
        <p:nvSpPr>
          <p:cNvPr id="417" name="Google Shape;417;p39"/>
          <p:cNvSpPr txBox="1"/>
          <p:nvPr/>
        </p:nvSpPr>
        <p:spPr>
          <a:xfrm>
            <a:off x="5708073" y="4390956"/>
            <a:ext cx="5568576" cy="1287532"/>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Nắm rõ các kiến thức về lỗ hổng (top 10 OWASP)</a:t>
            </a:r>
            <a:endParaRPr/>
          </a:p>
          <a:p>
            <a:pPr indent="-285750" lvl="0" marL="285750" marR="0" rtl="0" algn="l">
              <a:lnSpc>
                <a:spcPct val="150000"/>
              </a:lnSpc>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Sử dụng các công cụ, chức năng an toàn, tin cậy</a:t>
            </a:r>
            <a:endParaRPr sz="1800">
              <a:solidFill>
                <a:schemeClr val="dk1"/>
              </a:solidFill>
              <a:latin typeface="Arial"/>
              <a:ea typeface="Arial"/>
              <a:cs typeface="Arial"/>
              <a:sym typeface="Arial"/>
            </a:endParaRPr>
          </a:p>
          <a:p>
            <a:pPr indent="-171450" lvl="0" marL="285750" marR="0" rtl="0" algn="l">
              <a:lnSpc>
                <a:spcPct val="150000"/>
              </a:lnSpc>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40"/>
          <p:cNvSpPr txBox="1"/>
          <p:nvPr>
            <p:ph type="title"/>
          </p:nvPr>
        </p:nvSpPr>
        <p:spPr>
          <a:xfrm>
            <a:off x="838200" y="365125"/>
            <a:ext cx="10515600" cy="568325"/>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20000"/>
              </a:lnSpc>
              <a:spcBef>
                <a:spcPts val="0"/>
              </a:spcBef>
              <a:spcAft>
                <a:spcPts val="0"/>
              </a:spcAft>
              <a:buClr>
                <a:srgbClr val="00CB8A"/>
              </a:buClr>
              <a:buSzPct val="100000"/>
              <a:buFont typeface="Arial"/>
              <a:buNone/>
            </a:pPr>
            <a:r>
              <a:rPr lang="en-US"/>
              <a:t>Tham khảo tài liệu</a:t>
            </a:r>
            <a:endParaRPr/>
          </a:p>
        </p:txBody>
      </p:sp>
      <p:sp>
        <p:nvSpPr>
          <p:cNvPr id="423" name="Google Shape;423;p40"/>
          <p:cNvSpPr txBox="1"/>
          <p:nvPr>
            <p:ph idx="1" type="body"/>
          </p:nvPr>
        </p:nvSpPr>
        <p:spPr>
          <a:xfrm>
            <a:off x="838200" y="1130300"/>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130000"/>
              </a:lnSpc>
              <a:spcBef>
                <a:spcPts val="0"/>
              </a:spcBef>
              <a:spcAft>
                <a:spcPts val="0"/>
              </a:spcAft>
              <a:buClr>
                <a:schemeClr val="dk1"/>
              </a:buClr>
              <a:buSzPts val="2000"/>
              <a:buChar char="•"/>
            </a:pPr>
            <a:r>
              <a:rPr lang="en-US" u="sng">
                <a:solidFill>
                  <a:schemeClr val="hlink"/>
                </a:solidFill>
                <a:hlinkClick r:id="rId3"/>
              </a:rPr>
              <a:t>Anti-Request Forgery</a:t>
            </a:r>
            <a:r>
              <a:rPr lang="en-US"/>
              <a:t> - Prevent Cross-Site Request Forgery (XSRF/CSRF) attacks.</a:t>
            </a:r>
            <a:endParaRPr/>
          </a:p>
          <a:p>
            <a:pPr indent="-228600" lvl="0" marL="228600" rtl="0" algn="just">
              <a:lnSpc>
                <a:spcPct val="130000"/>
              </a:lnSpc>
              <a:spcBef>
                <a:spcPts val="600"/>
              </a:spcBef>
              <a:spcAft>
                <a:spcPts val="0"/>
              </a:spcAft>
              <a:buClr>
                <a:schemeClr val="dk1"/>
              </a:buClr>
              <a:buSzPts val="2000"/>
              <a:buChar char="•"/>
            </a:pPr>
            <a:r>
              <a:rPr lang="en-US" u="sng">
                <a:solidFill>
                  <a:schemeClr val="hlink"/>
                </a:solidFill>
                <a:hlinkClick r:id="rId4"/>
              </a:rPr>
              <a:t>Prevent Cross-Site Scripting</a:t>
            </a:r>
            <a:r>
              <a:rPr lang="en-US"/>
              <a:t> - Prevent Cross-Site Scripting (XSS).</a:t>
            </a:r>
            <a:endParaRPr/>
          </a:p>
          <a:p>
            <a:pPr indent="-228600" lvl="0" marL="228600" rtl="0" algn="just">
              <a:lnSpc>
                <a:spcPct val="130000"/>
              </a:lnSpc>
              <a:spcBef>
                <a:spcPts val="600"/>
              </a:spcBef>
              <a:spcAft>
                <a:spcPts val="0"/>
              </a:spcAft>
              <a:buClr>
                <a:schemeClr val="dk1"/>
              </a:buClr>
              <a:buSzPts val="2000"/>
              <a:buChar char="•"/>
            </a:pPr>
            <a:r>
              <a:rPr lang="en-US" u="sng">
                <a:solidFill>
                  <a:schemeClr val="hlink"/>
                </a:solidFill>
                <a:hlinkClick r:id="rId5"/>
              </a:rPr>
              <a:t>Protect Secrets in Development</a:t>
            </a:r>
            <a:r>
              <a:rPr lang="en-US"/>
              <a:t> - Safe storage of app secrets in development</a:t>
            </a:r>
            <a:endParaRPr/>
          </a:p>
          <a:p>
            <a:pPr indent="-228600" lvl="0" marL="228600" rtl="0" algn="just">
              <a:lnSpc>
                <a:spcPct val="130000"/>
              </a:lnSpc>
              <a:spcBef>
                <a:spcPts val="600"/>
              </a:spcBef>
              <a:spcAft>
                <a:spcPts val="0"/>
              </a:spcAft>
              <a:buClr>
                <a:schemeClr val="dk1"/>
              </a:buClr>
              <a:buSzPts val="2000"/>
              <a:buChar char="•"/>
            </a:pPr>
            <a:r>
              <a:rPr lang="en-US" u="sng">
                <a:solidFill>
                  <a:schemeClr val="hlink"/>
                </a:solidFill>
                <a:hlinkClick r:id="rId6"/>
              </a:rPr>
              <a:t>.NET Security Cheat Sheet</a:t>
            </a:r>
            <a:r>
              <a:rPr lang="en-US"/>
              <a:t> - Quick, basic .NET security tips for developers.</a:t>
            </a:r>
            <a:endParaRPr/>
          </a:p>
          <a:p>
            <a:pPr indent="-228600" lvl="0" marL="228600" rtl="0" algn="just">
              <a:lnSpc>
                <a:spcPct val="130000"/>
              </a:lnSpc>
              <a:spcBef>
                <a:spcPts val="600"/>
              </a:spcBef>
              <a:spcAft>
                <a:spcPts val="0"/>
              </a:spcAft>
              <a:buClr>
                <a:schemeClr val="dk1"/>
              </a:buClr>
              <a:buSzPts val="2000"/>
              <a:buChar char="•"/>
            </a:pPr>
            <a:r>
              <a:rPr lang="en-US" u="sng">
                <a:solidFill>
                  <a:schemeClr val="hlink"/>
                </a:solidFill>
                <a:hlinkClick r:id="rId7"/>
              </a:rPr>
              <a:t>Hardening the security of your ASP.NET core apps</a:t>
            </a:r>
            <a:r>
              <a:rPr lang="en-US"/>
              <a:t> - Lessons learned after a third-party penetration test.</a:t>
            </a:r>
            <a:endParaRPr/>
          </a:p>
          <a:p>
            <a:pPr indent="-228600" lvl="0" marL="228600" rtl="0" algn="just">
              <a:lnSpc>
                <a:spcPct val="130000"/>
              </a:lnSpc>
              <a:spcBef>
                <a:spcPts val="600"/>
              </a:spcBef>
              <a:spcAft>
                <a:spcPts val="0"/>
              </a:spcAft>
              <a:buClr>
                <a:schemeClr val="dk1"/>
              </a:buClr>
              <a:buSzPts val="2000"/>
              <a:buChar char="•"/>
            </a:pPr>
            <a:r>
              <a:rPr lang="en-US" u="sng">
                <a:solidFill>
                  <a:schemeClr val="hlink"/>
                </a:solidFill>
                <a:hlinkClick r:id="rId8"/>
              </a:rPr>
              <a:t>Secure Coding Guidelines</a:t>
            </a:r>
            <a:r>
              <a:rPr lang="en-US"/>
              <a:t> - Microsoft's take on secure coding guidelines.</a:t>
            </a:r>
            <a:endParaRPr/>
          </a:p>
          <a:p>
            <a:pPr indent="-228600" lvl="0" marL="228600" rtl="0" algn="just">
              <a:lnSpc>
                <a:spcPct val="130000"/>
              </a:lnSpc>
              <a:spcBef>
                <a:spcPts val="600"/>
              </a:spcBef>
              <a:spcAft>
                <a:spcPts val="0"/>
              </a:spcAft>
              <a:buClr>
                <a:schemeClr val="dk1"/>
              </a:buClr>
              <a:buSzPts val="2000"/>
              <a:buChar char="•"/>
            </a:pPr>
            <a:r>
              <a:rPr lang="en-US" u="sng">
                <a:solidFill>
                  <a:schemeClr val="hlink"/>
                </a:solidFill>
                <a:hlinkClick r:id="rId9"/>
              </a:rPr>
              <a:t>Security Headers</a:t>
            </a:r>
            <a:r>
              <a:rPr lang="en-US"/>
              <a:t> - Adding Default Security Headers in .NET Core.</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41"/>
          <p:cNvSpPr txBox="1"/>
          <p:nvPr>
            <p:ph type="ctrTitle"/>
          </p:nvPr>
        </p:nvSpPr>
        <p:spPr>
          <a:xfrm>
            <a:off x="1723505" y="2816932"/>
            <a:ext cx="9144000" cy="896937"/>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30000"/>
              </a:lnSpc>
              <a:spcBef>
                <a:spcPts val="0"/>
              </a:spcBef>
              <a:spcAft>
                <a:spcPts val="0"/>
              </a:spcAft>
              <a:buClr>
                <a:schemeClr val="lt1"/>
              </a:buClr>
              <a:buSzPct val="100000"/>
              <a:buFont typeface="Arial"/>
              <a:buNone/>
            </a:pPr>
            <a:r>
              <a:rPr lang="en-US"/>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2021-06-15T09:42:00Z</dcterms:created>
  <dc:creator>Tuan Bui</dc:creator>
</cp:coreProperties>
</file>