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_rels/presentation.xml.rels" ContentType="application/vnd.openxmlformats-package.relationships+xml"/>
  <Override PartName="/ppt/media/image1.jpeg" ContentType="image/jpeg"/>
  <Override PartName="/ppt/media/image5.png" ContentType="image/png"/>
  <Override PartName="/ppt/media/image10.png" ContentType="image/png"/>
  <Override PartName="/ppt/media/image2.jpeg" ContentType="image/jpeg"/>
  <Override PartName="/ppt/media/image3.png" ContentType="image/png"/>
  <Override PartName="/ppt/media/image4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9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>
            <a:noAutofit/>
          </a:bodyPr>
          <a:p>
            <a:pPr algn="r"/>
            <a:fld id="{1B244BE3-F6F2-4FF0-A330-124C79DAE30F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Ngoài ra có thể tích hợp Vulnerability Assessment với SOAR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5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42D8EBCE-0B4C-444C-917A-C1A753ABA9F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3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Ngoài ra có thể tích hợp Vulnerability Assessment với SOAR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8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CF6013C-51DD-4D63-807F-3BF4B0C02A5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</p:spPr>
        <p:txBody>
          <a:bodyPr>
            <a:noAutofit/>
          </a:bodyPr>
          <a:p>
            <a:pPr marL="216000" indent="-216000">
              <a:lnSpc>
                <a:spcPct val="100000"/>
              </a:lnSpc>
            </a:pPr>
            <a:r>
              <a:rPr b="0" lang="en-US" sz="2000" spc="-1" strike="noStrike">
                <a:latin typeface="Arial"/>
              </a:rPr>
              <a:t>Ngoài ra có thể tích hợp Vulnerability Assessment với SOAR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1" name="TextShape 3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</a:pPr>
            <a:fld id="{1D018C54-A48E-456C-8E59-B78BE418582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735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229040"/>
            <a:ext cx="10515240" cy="4947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735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229040"/>
            <a:ext cx="10515240" cy="494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735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229040"/>
            <a:ext cx="5131080" cy="494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229040"/>
            <a:ext cx="5131080" cy="494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735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3412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735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229040"/>
            <a:ext cx="513108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229040"/>
            <a:ext cx="5131080" cy="494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3813480"/>
            <a:ext cx="513108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735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229040"/>
            <a:ext cx="5131080" cy="494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229040"/>
            <a:ext cx="513108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3813480"/>
            <a:ext cx="513108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735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229040"/>
            <a:ext cx="513108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229040"/>
            <a:ext cx="513108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3813480"/>
            <a:ext cx="1051524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735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229040"/>
            <a:ext cx="1051524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3813480"/>
            <a:ext cx="1051524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735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229040"/>
            <a:ext cx="513108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229040"/>
            <a:ext cx="513108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3813480"/>
            <a:ext cx="513108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3813480"/>
            <a:ext cx="513108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735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229040"/>
            <a:ext cx="338580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229040"/>
            <a:ext cx="338580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229040"/>
            <a:ext cx="338580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3813480"/>
            <a:ext cx="338580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3813480"/>
            <a:ext cx="338580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3813480"/>
            <a:ext cx="338580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735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229040"/>
            <a:ext cx="10515240" cy="49474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735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229040"/>
            <a:ext cx="10515240" cy="494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735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229040"/>
            <a:ext cx="5131080" cy="494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229040"/>
            <a:ext cx="5131080" cy="494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735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3412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735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229040"/>
            <a:ext cx="513108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229040"/>
            <a:ext cx="5131080" cy="494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3813480"/>
            <a:ext cx="513108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735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229040"/>
            <a:ext cx="5131080" cy="4947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229040"/>
            <a:ext cx="513108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3813480"/>
            <a:ext cx="513108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735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229040"/>
            <a:ext cx="513108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229040"/>
            <a:ext cx="513108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3813480"/>
            <a:ext cx="1051524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735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229040"/>
            <a:ext cx="1051524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3813480"/>
            <a:ext cx="1051524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735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229040"/>
            <a:ext cx="513108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229040"/>
            <a:ext cx="513108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3813480"/>
            <a:ext cx="513108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3813480"/>
            <a:ext cx="513108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735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229040"/>
            <a:ext cx="338580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229040"/>
            <a:ext cx="338580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229040"/>
            <a:ext cx="338580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3813480"/>
            <a:ext cx="338580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3813480"/>
            <a:ext cx="338580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3813480"/>
            <a:ext cx="3385800" cy="23598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836720"/>
          </a:xfrm>
          <a:prstGeom prst="rect">
            <a:avLst/>
          </a:prstGeom>
        </p:spPr>
        <p:txBody>
          <a:bodyPr anchor="ctr">
            <a:noAutofit/>
          </a:bodyPr>
          <a:p>
            <a:pPr algn="ctr">
              <a:lnSpc>
                <a:spcPct val="120000"/>
              </a:lnSpc>
            </a:pPr>
            <a:r>
              <a:rPr b="0" lang="en-US" sz="5400" spc="-1" strike="noStrike">
                <a:solidFill>
                  <a:srgbClr val="ffffff"/>
                </a:solidFill>
                <a:latin typeface="Calibri"/>
              </a:rPr>
              <a:t>Click to edit Master title style</a:t>
            </a:r>
            <a:endParaRPr b="0" lang="en-US" sz="5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86878F2E-3C2B-4FAA-BCE5-4B08F7B8BFBC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5/31/22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EF6EFBB0-180A-43B2-90D8-971530C9B4A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735840"/>
          </a:xfrm>
          <a:prstGeom prst="rect">
            <a:avLst/>
          </a:prstGeom>
        </p:spPr>
        <p:txBody>
          <a:bodyPr anchor="ctr">
            <a:normAutofit/>
          </a:bodyPr>
          <a:p>
            <a:pPr algn="ctr">
              <a:lnSpc>
                <a:spcPct val="120000"/>
              </a:lnSpc>
            </a:pPr>
            <a:r>
              <a:rPr b="1" lang="en-US" sz="3200" spc="-1" strike="noStrike">
                <a:solidFill>
                  <a:srgbClr val="0066ff"/>
                </a:solidFill>
                <a:latin typeface="Calibri"/>
              </a:rPr>
              <a:t>Click to edit Master title style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229040"/>
            <a:ext cx="10515240" cy="4947480"/>
          </a:xfrm>
          <a:prstGeom prst="rect">
            <a:avLst/>
          </a:prstGeom>
        </p:spPr>
        <p:txBody>
          <a:bodyPr>
            <a:normAutofit/>
          </a:bodyPr>
          <a:p>
            <a:pPr marL="228600" indent="-22824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16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DB5E27C7-4745-48E2-A3A2-3CD61E8B6582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5/31/22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289D5F5E-2D23-41CE-95C4-41879AEE792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1523880" y="1122480"/>
            <a:ext cx="10125360" cy="19634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 algn="ctr">
              <a:lnSpc>
                <a:spcPct val="120000"/>
              </a:lnSpc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Calibri"/>
              </a:rPr>
              <a:t>SECURITY OPERATION CENTER</a:t>
            </a:r>
            <a:endParaRPr b="0" lang="en-US" sz="5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1523880" y="2959560"/>
            <a:ext cx="9143640" cy="100908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 algn="ctr">
              <a:lnSpc>
                <a:spcPct val="12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Arial"/>
              </a:rPr>
              <a:t>XÂY DỰNG SIEM TRÊN MISAONLINE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838080" y="365040"/>
            <a:ext cx="10515240" cy="7358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3200" spc="-1" strike="noStrike">
                <a:solidFill>
                  <a:srgbClr val="0066ff"/>
                </a:solidFill>
                <a:latin typeface="Arial"/>
              </a:rPr>
              <a:t>BÀI TOÁN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838080" y="1229040"/>
            <a:ext cx="10515240" cy="49474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-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Xây dựng và Triển khai 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hệ thống giám sát nhật kí và sự kiện an ninh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tập trung bằng 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WAZUH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cho </a:t>
            </a:r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1500 server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(~ 1500 agent).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-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ĐẢM BẢO HOẠT ĐỘNG ỔN ĐỊNH,HIỆU QUẢ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-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ĐẢM BẢO TÍNH SẴN SÀNG CAO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-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ĐẢM BẢO TOÀN VẸN DỮ LIỆU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-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ĐẢM BẢO BẢO MẬT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838080" y="365040"/>
            <a:ext cx="10515240" cy="7358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3200" spc="-1" strike="noStrike">
                <a:solidFill>
                  <a:srgbClr val="0066ff"/>
                </a:solidFill>
                <a:latin typeface="Arial"/>
              </a:rPr>
              <a:t>WAZUH 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TextShape 2"/>
          <p:cNvSpPr txBox="1"/>
          <p:nvPr/>
        </p:nvSpPr>
        <p:spPr>
          <a:xfrm>
            <a:off x="1005840" y="1361880"/>
            <a:ext cx="10515240" cy="494748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-"/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Wazuh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is a free and open source security platform that unifies XDR and SIEM capabilities. It protects workloads across on-premises, virtualized, containerized, and cloud-based environments.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</a:pP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4" name="Picture 4" descr=""/>
          <p:cNvPicPr/>
          <p:nvPr/>
        </p:nvPicPr>
        <p:blipFill>
          <a:blip r:embed="rId1"/>
          <a:stretch/>
        </p:blipFill>
        <p:spPr>
          <a:xfrm>
            <a:off x="821160" y="2702520"/>
            <a:ext cx="10549440" cy="28897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Shape 1"/>
          <p:cNvSpPr txBox="1"/>
          <p:nvPr/>
        </p:nvSpPr>
        <p:spPr>
          <a:xfrm>
            <a:off x="838080" y="365040"/>
            <a:ext cx="10515240" cy="7358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3200" spc="-1" strike="noStrike">
                <a:solidFill>
                  <a:srgbClr val="0066ff"/>
                </a:solidFill>
                <a:latin typeface="Arial"/>
              </a:rPr>
              <a:t>WAZUH v4.3 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6" name="Picture 2" descr="https://documentation.wazuh.com/current/_images/data-flow1.png"/>
          <p:cNvPicPr/>
          <p:nvPr/>
        </p:nvPicPr>
        <p:blipFill>
          <a:blip r:embed="rId1"/>
          <a:stretch/>
        </p:blipFill>
        <p:spPr>
          <a:xfrm>
            <a:off x="838080" y="1101240"/>
            <a:ext cx="10610640" cy="4789080"/>
          </a:xfrm>
          <a:prstGeom prst="rect">
            <a:avLst/>
          </a:prstGeom>
          <a:ln>
            <a:noFill/>
          </a:ln>
        </p:spPr>
      </p:pic>
      <p:pic>
        <p:nvPicPr>
          <p:cNvPr id="97" name="Picture 4" descr="Wazuh 4.1部署及使用"/>
          <p:cNvPicPr/>
          <p:nvPr/>
        </p:nvPicPr>
        <p:blipFill>
          <a:blip r:embed="rId2"/>
          <a:stretch/>
        </p:blipFill>
        <p:spPr>
          <a:xfrm>
            <a:off x="742680" y="1006920"/>
            <a:ext cx="10484640" cy="48834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xit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Shape 1"/>
          <p:cNvSpPr txBox="1"/>
          <p:nvPr/>
        </p:nvSpPr>
        <p:spPr>
          <a:xfrm>
            <a:off x="838080" y="365040"/>
            <a:ext cx="10515240" cy="7358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3200" spc="-1" strike="noStrike">
                <a:solidFill>
                  <a:srgbClr val="0066ff"/>
                </a:solidFill>
                <a:latin typeface="Calibri"/>
              </a:rPr>
              <a:t>Architecture (Distributed deployment)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9" name="Picture 2" descr="https://documentation.wazuh.com/current/_images/deployment1.png"/>
          <p:cNvPicPr/>
          <p:nvPr/>
        </p:nvPicPr>
        <p:blipFill>
          <a:blip r:embed="rId1"/>
          <a:stretch/>
        </p:blipFill>
        <p:spPr>
          <a:xfrm>
            <a:off x="1463040" y="1178640"/>
            <a:ext cx="9408960" cy="49478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Shape 1"/>
          <p:cNvSpPr txBox="1"/>
          <p:nvPr/>
        </p:nvSpPr>
        <p:spPr>
          <a:xfrm>
            <a:off x="838080" y="365040"/>
            <a:ext cx="10515240" cy="7358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spcBef>
                <a:spcPts val="1191"/>
              </a:spcBef>
              <a:spcAft>
                <a:spcPts val="989"/>
              </a:spcAft>
            </a:pPr>
            <a:r>
              <a:rPr b="1" lang="en-US" sz="3200" spc="-1" strike="noStrike">
                <a:solidFill>
                  <a:srgbClr val="0066ff"/>
                </a:solidFill>
                <a:latin typeface="Calibri"/>
                <a:ea typeface="Arial"/>
              </a:rPr>
              <a:t>Requirements</a:t>
            </a:r>
            <a:endParaRPr b="1" lang="en-US" sz="3200" spc="-1" strike="noStrike">
              <a:latin typeface="Arial"/>
              <a:ea typeface="Arial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822960" y="1463040"/>
            <a:ext cx="6310080" cy="1666080"/>
          </a:xfrm>
          <a:prstGeom prst="rect">
            <a:avLst/>
          </a:prstGeom>
          <a:ln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823680" y="3129120"/>
            <a:ext cx="6310080" cy="551880"/>
          </a:xfrm>
          <a:prstGeom prst="rect">
            <a:avLst/>
          </a:prstGeom>
          <a:ln>
            <a:noFill/>
          </a:ln>
        </p:spPr>
      </p:pic>
      <p:pic>
        <p:nvPicPr>
          <p:cNvPr id="103" name="" descr=""/>
          <p:cNvPicPr/>
          <p:nvPr/>
        </p:nvPicPr>
        <p:blipFill>
          <a:blip r:embed="rId3"/>
          <a:srcRect l="0" t="0" r="183" b="0"/>
          <a:stretch/>
        </p:blipFill>
        <p:spPr>
          <a:xfrm>
            <a:off x="823680" y="3707640"/>
            <a:ext cx="6309360" cy="590040"/>
          </a:xfrm>
          <a:prstGeom prst="rect">
            <a:avLst/>
          </a:prstGeom>
          <a:ln>
            <a:noFill/>
          </a:ln>
        </p:spPr>
      </p:pic>
      <p:pic>
        <p:nvPicPr>
          <p:cNvPr id="104" name="" descr=""/>
          <p:cNvPicPr/>
          <p:nvPr/>
        </p:nvPicPr>
        <p:blipFill>
          <a:blip r:embed="rId4"/>
          <a:stretch/>
        </p:blipFill>
        <p:spPr>
          <a:xfrm>
            <a:off x="640080" y="4846320"/>
            <a:ext cx="11323440" cy="1152000"/>
          </a:xfrm>
          <a:prstGeom prst="rect">
            <a:avLst/>
          </a:prstGeom>
          <a:ln>
            <a:noFill/>
          </a:ln>
        </p:spPr>
      </p:pic>
      <p:sp>
        <p:nvSpPr>
          <p:cNvPr id="105" name="TextShape 2"/>
          <p:cNvSpPr txBox="1"/>
          <p:nvPr/>
        </p:nvSpPr>
        <p:spPr>
          <a:xfrm>
            <a:off x="623880" y="4480560"/>
            <a:ext cx="2667960" cy="6804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US" sz="1200" spc="-1" strike="noStrike">
                <a:latin typeface="Arial"/>
              </a:rPr>
              <a:t>Recommended operating systems</a:t>
            </a:r>
            <a:endParaRPr b="1" lang="en-US" sz="1200" spc="-1" strike="noStrike">
              <a:latin typeface="Arial"/>
            </a:endParaRPr>
          </a:p>
          <a:p>
            <a:endParaRPr b="0" lang="en-US" sz="1200" spc="-1" strike="noStrike">
              <a:latin typeface="Arial"/>
            </a:endParaRPr>
          </a:p>
        </p:txBody>
      </p:sp>
      <p:sp>
        <p:nvSpPr>
          <p:cNvPr id="106" name="TextShape 3"/>
          <p:cNvSpPr txBox="1"/>
          <p:nvPr/>
        </p:nvSpPr>
        <p:spPr>
          <a:xfrm>
            <a:off x="581400" y="1056960"/>
            <a:ext cx="1887480" cy="6804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US" sz="1200" spc="-1" strike="noStrike">
                <a:latin typeface="Arial"/>
              </a:rPr>
              <a:t>Hardware requirements</a:t>
            </a:r>
            <a:endParaRPr b="1" lang="en-US" sz="1200" spc="-1" strike="noStrike">
              <a:latin typeface="Arial"/>
            </a:endParaRPr>
          </a:p>
          <a:p>
            <a:endParaRPr b="0" lang="en-US" sz="1200" spc="-1" strike="noStrike">
              <a:latin typeface="Arial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5"/>
          <a:stretch/>
        </p:blipFill>
        <p:spPr>
          <a:xfrm>
            <a:off x="7539120" y="1492560"/>
            <a:ext cx="4256640" cy="22564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838080" y="365040"/>
            <a:ext cx="10515240" cy="7358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3200" spc="-1" strike="noStrike">
                <a:solidFill>
                  <a:srgbClr val="0066ff"/>
                </a:solidFill>
                <a:latin typeface="Calibri"/>
              </a:rPr>
              <a:t>Wazuh cluster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457200" y="1173960"/>
            <a:ext cx="8321040" cy="4769640"/>
          </a:xfrm>
          <a:prstGeom prst="rect">
            <a:avLst/>
          </a:prstGeom>
          <a:ln>
            <a:noFill/>
          </a:ln>
        </p:spPr>
      </p:pic>
      <p:sp>
        <p:nvSpPr>
          <p:cNvPr id="110" name="TextShape 2"/>
          <p:cNvSpPr txBox="1"/>
          <p:nvPr/>
        </p:nvSpPr>
        <p:spPr>
          <a:xfrm>
            <a:off x="8869680" y="1188720"/>
            <a:ext cx="3108960" cy="234108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US" sz="1100" spc="-1" strike="noStrike">
                <a:latin typeface="Arial"/>
              </a:rPr>
              <a:t>Master</a:t>
            </a:r>
            <a:endParaRPr b="0" lang="en-US" sz="11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- Receive and manage agent registration requests.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- Creating shared configuration groups.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- Updating custom rules, decoders and CDB lists.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- Synchronizing all this information to the workers.</a:t>
            </a:r>
            <a:endParaRPr b="0" lang="en-US" sz="1000" spc="-1" strike="noStrike">
              <a:latin typeface="Arial"/>
            </a:endParaRPr>
          </a:p>
          <a:p>
            <a:endParaRPr b="0" lang="en-US" sz="1000" spc="-1" strike="noStrike">
              <a:latin typeface="Arial"/>
            </a:endParaRPr>
          </a:p>
        </p:txBody>
      </p:sp>
      <p:sp>
        <p:nvSpPr>
          <p:cNvPr id="111" name="TextShape 3"/>
          <p:cNvSpPr txBox="1"/>
          <p:nvPr/>
        </p:nvSpPr>
        <p:spPr>
          <a:xfrm>
            <a:off x="8778240" y="3657600"/>
            <a:ext cx="3291840" cy="228600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US" sz="1100" spc="-1" strike="noStrike">
                <a:latin typeface="Arial"/>
              </a:rPr>
              <a:t>Worker</a:t>
            </a:r>
            <a:endParaRPr b="0" lang="en-US" sz="11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- Redirecting agent registration requests to the master.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- Receiving updates from the master.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- Receiving and processing events from agents.</a:t>
            </a:r>
            <a:endParaRPr b="0" lang="en-US" sz="1000" spc="-1" strike="noStrike">
              <a:latin typeface="Arial"/>
            </a:endParaRPr>
          </a:p>
          <a:p>
            <a:r>
              <a:rPr b="0" lang="en-US" sz="1000" spc="-1" strike="noStrike">
                <a:latin typeface="Arial"/>
              </a:rPr>
              <a:t>- Sending the master last keepalives from agents and remoted's group assignments.</a:t>
            </a:r>
            <a:endParaRPr b="0" lang="en-US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Shape 1"/>
          <p:cNvSpPr txBox="1"/>
          <p:nvPr/>
        </p:nvSpPr>
        <p:spPr>
          <a:xfrm>
            <a:off x="838080" y="365040"/>
            <a:ext cx="10515240" cy="73584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 algn="ctr">
              <a:lnSpc>
                <a:spcPct val="120000"/>
              </a:lnSpc>
            </a:pPr>
            <a:r>
              <a:rPr b="1" lang="en-US" sz="3200" spc="-1" strike="noStrike">
                <a:solidFill>
                  <a:srgbClr val="0066ff"/>
                </a:solidFill>
                <a:latin typeface="Calibri"/>
              </a:rPr>
              <a:t>PHÂN TÍCH VẤN ĐỀ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1278</TotalTime>
  <Application>LibreOffice/6.4.7.2$Linux_X86_64 LibreOffice_project/40$Build-2</Application>
  <Words>107</Words>
  <Paragraphs>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2022-01-17T08:45:16Z</dcterms:created>
  <dc:creator>Tuan Bui</dc:creator>
  <dc:description/>
  <dc:language>en-US</dc:language>
  <cp:lastModifiedBy/>
  <dcterms:modified xsi:type="dcterms:W3CDTF">2022-05-31T10:55:29Z</dcterms:modified>
  <cp:revision>62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6</vt:i4>
  </property>
</Properties>
</file>